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54" d="100"/>
          <a:sy n="54" d="100"/>
        </p:scale>
        <p:origin x="2056" y="1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0A3B31-D471-5A47-BC87-621EE19B907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8BEE4-E7CF-E649-88F6-D1CBBF52A0D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9696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7B7BC8-77FD-874C-9FA0-3CFD3DBEDCD8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3049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543BC-5AF1-BAE4-2BBF-F8EE75E0E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39B839-9D53-1C76-1DCF-FB5BBD2F2C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2DFD4-BBDA-C48A-4A09-B889BE3CC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E84010-50B7-5D68-2D6E-E4369875F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5C269-0A21-00D3-B229-87F665ED0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643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45FA0-48DC-16BC-AF86-0AD1A602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84D8E1-D221-70EB-F49C-5199601EC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B3652F-ABCC-1F63-76A3-B4EE6AF62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7EB656-EC84-9802-25AC-5EA897C56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B19396-2651-8E3F-B6F5-8B3B79F0F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4316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6A1AA-4DD6-8528-F397-A83048058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44507-5613-4756-E750-FD2244900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3827D3-E252-E377-A1A1-5AC9EC8DE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4AD21E-FAC9-0020-0E94-2AF868C80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2A7665-FAC2-1346-1872-1433CA31F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3928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921E1-AF17-EA7A-D765-8C68F08C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B5F8F-DBEE-6267-5F46-E571C7AD47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416F1-8C51-1E7F-F28A-3CAE01515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E8C1A-BBD0-2E8B-5EF2-8AA99EEF4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4DAF9D-1EA5-944D-49A5-CE5BBA07E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190157-5DE5-8339-50A5-8D6868D4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4485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842FA-FCFC-C9B0-833B-6842212A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EFF61-D0B8-C779-B5EF-832B4F588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2A62E-F545-38AD-0B4B-E001B3710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40FE8D-CCC8-721C-B4DA-1DB898E21F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2F8B3-E5AA-B8D0-FA69-889797B76F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EE4278-5CD6-7D2A-BEC1-316F7A7B9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0ED55C-9885-0528-13B1-E563EBC59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169CA0-3180-C791-12D4-FB05B600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758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5550B-77AA-0CA4-87F2-A3DA3967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BF9AF1-E5E2-F14F-7B9E-DEE4853EF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1F4BF7-EA4C-FB72-C1F2-E130CAA26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E0FBEC-1278-9367-2050-4FD68818C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294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087469-6757-C069-C0ED-4D2E35DB1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D18777-F589-8114-A8D5-DA49AA0A6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74DF7-190F-EF66-4DFE-CBD18530C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4113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E0651-782A-B292-C92C-EA2440D04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4C27A-D10B-A15A-5767-746B32834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87FE00-D6EA-1671-138B-5BA6885FF8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BF4EC6-DDA6-4E90-BFA0-B8D13B8AB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E3D7F4-BE3F-BCE4-6A19-C84105ED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F795-09ED-543C-9E1D-B9F2EC092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5425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D02E4-8625-C0D6-53EE-D68973F00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00AF2C-526A-04BC-B360-1C016C39FE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B521E6-34EC-8E89-9070-AC3290EE2E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4B7C8-A8D1-FD46-30B6-546CFCE26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8AC33-4336-D328-E828-989182CA0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2C0151-1E34-BC50-02AB-1E14DA23E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7285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199B4-828A-1863-2515-2C53FA512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E1F310-4EE7-48DC-DFD1-AC36E6AC5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549E4-E02E-AEFB-DB97-DAAB009ED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982C-0078-B15B-EDD8-DE66F5FE6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BA195-80C0-3139-D7C5-E01825596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214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E8ECAC-E6F1-3852-B15C-7F79DAD5FF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E30029-5DF8-67EA-E35E-4AE05FF0EC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6C9E-58C6-1D70-43AF-3CA7B55E7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4382F6-1E4E-9252-3D72-C33D24054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DD1E9-5099-A1C3-0E3B-E03E25AE5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2669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5652D8-28B1-2C93-00F0-079F4A22C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D71D6E-0C8E-6DD7-5468-FA696A575B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4BC4E3-A6C8-59F1-AFCE-66BF431282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BE32F3-6E7D-E743-81E1-37767E4B13F6}" type="datetimeFigureOut">
              <a:rPr lang="de-DE" smtClean="0"/>
              <a:t>07.10.26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C7B803-83C4-EE96-D6F9-C61CBF1F5E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D0854-DCF2-A4AB-7D9A-E7D4E7CC4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72BE86-BFC6-434D-886F-6AD0E97EA8E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0330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16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5">
            <a:extLst>
              <a:ext uri="{FF2B5EF4-FFF2-40B4-BE49-F238E27FC236}">
                <a16:creationId xmlns:a16="http://schemas.microsoft.com/office/drawing/2014/main" id="{F82B8761-1F10-C0F3-68CF-670E075D5EFE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4659217" cy="6713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b="1" dirty="0"/>
              <a:t>AI </a:t>
            </a:r>
            <a:r>
              <a:rPr lang="de-DE" b="1" dirty="0" err="1"/>
              <a:t>Readiness</a:t>
            </a:r>
            <a:endParaRPr lang="de-DE" b="1" dirty="0"/>
          </a:p>
        </p:txBody>
      </p:sp>
      <p:sp>
        <p:nvSpPr>
          <p:cNvPr id="157" name="Title 5">
            <a:extLst>
              <a:ext uri="{FF2B5EF4-FFF2-40B4-BE49-F238E27FC236}">
                <a16:creationId xmlns:a16="http://schemas.microsoft.com/office/drawing/2014/main" id="{9F35A2CE-803D-F5B3-93EA-141748410599}"/>
              </a:ext>
            </a:extLst>
          </p:cNvPr>
          <p:cNvSpPr txBox="1">
            <a:spLocks/>
          </p:cNvSpPr>
          <p:nvPr/>
        </p:nvSpPr>
        <p:spPr>
          <a:xfrm>
            <a:off x="840035" y="1036486"/>
            <a:ext cx="3979626" cy="287515"/>
          </a:xfrm>
          <a:prstGeom prst="rect">
            <a:avLst/>
          </a:prstGeom>
        </p:spPr>
        <p:txBody>
          <a:bodyPr vert="horz" lIns="91440" tIns="45720" rIns="91440" bIns="45720" rtlCol="0" anchor="b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1400" b="1" dirty="0"/>
              <a:t>Prüfdimensionen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753E5A2-6998-7B4F-7D1E-0F961016BC8F}"/>
              </a:ext>
            </a:extLst>
          </p:cNvPr>
          <p:cNvGrpSpPr/>
          <p:nvPr/>
        </p:nvGrpSpPr>
        <p:grpSpPr>
          <a:xfrm>
            <a:off x="836304" y="1493496"/>
            <a:ext cx="3720398" cy="584775"/>
            <a:chOff x="657764" y="1474454"/>
            <a:chExt cx="3720398" cy="58477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377EF49-496E-7833-2747-6C3F916759A6}"/>
                </a:ext>
              </a:extLst>
            </p:cNvPr>
            <p:cNvSpPr txBox="1"/>
            <p:nvPr/>
          </p:nvSpPr>
          <p:spPr>
            <a:xfrm>
              <a:off x="1159253" y="1474454"/>
              <a:ext cx="3218909" cy="58477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de-DE" sz="1200" b="1" dirty="0"/>
                <a:t>Fachliche Domänen und </a:t>
              </a:r>
              <a:r>
                <a:rPr lang="de-DE" sz="1200" b="1" dirty="0" err="1"/>
                <a:t>Capabilities</a:t>
              </a:r>
              <a:br>
                <a:rPr lang="de-DE" sz="1000" b="1" dirty="0"/>
              </a:b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Eindeutig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abgegrenzte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Business Capabilities und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Domänen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mit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dokumentierter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fachlicher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Ownership.</a:t>
              </a:r>
              <a:endParaRPr lang="de-DE" sz="1000" dirty="0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30918A3C-793F-FA5E-61F6-6C5B92AE9B40}"/>
                </a:ext>
              </a:extLst>
            </p:cNvPr>
            <p:cNvSpPr/>
            <p:nvPr/>
          </p:nvSpPr>
          <p:spPr>
            <a:xfrm>
              <a:off x="657764" y="1610761"/>
              <a:ext cx="300908" cy="3121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de-DE" dirty="0"/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B010F44-2F31-DAEC-6139-9C2765D96D67}"/>
              </a:ext>
            </a:extLst>
          </p:cNvPr>
          <p:cNvGrpSpPr/>
          <p:nvPr/>
        </p:nvGrpSpPr>
        <p:grpSpPr>
          <a:xfrm>
            <a:off x="836304" y="2321116"/>
            <a:ext cx="3720398" cy="584775"/>
            <a:chOff x="657764" y="1474454"/>
            <a:chExt cx="3720398" cy="5847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BB20B0-1EDF-57BF-F437-FCB52132B59D}"/>
                </a:ext>
              </a:extLst>
            </p:cNvPr>
            <p:cNvSpPr txBox="1"/>
            <p:nvPr/>
          </p:nvSpPr>
          <p:spPr>
            <a:xfrm>
              <a:off x="1159253" y="1474454"/>
              <a:ext cx="3218909" cy="58477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de-DE" sz="1200" b="1" dirty="0"/>
                <a:t>Daten und Semantik</a:t>
              </a:r>
              <a:br>
                <a:rPr lang="de-DE" sz="1000" b="1" dirty="0"/>
              </a:b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Formalisierte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Semantik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,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maschinenlesbare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Data Contracts und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kuratierte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Datenprodukte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.</a:t>
              </a:r>
              <a:endParaRPr lang="de-DE" sz="1000" dirty="0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68544A97-59B4-DEB4-3EA7-740C79B28B0A}"/>
                </a:ext>
              </a:extLst>
            </p:cNvPr>
            <p:cNvSpPr/>
            <p:nvPr/>
          </p:nvSpPr>
          <p:spPr>
            <a:xfrm>
              <a:off x="657764" y="1610761"/>
              <a:ext cx="300908" cy="3121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de-DE" dirty="0"/>
                <a:t>2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5749889-F0CA-3878-E6D6-49AC2DDEFE24}"/>
              </a:ext>
            </a:extLst>
          </p:cNvPr>
          <p:cNvGrpSpPr/>
          <p:nvPr/>
        </p:nvGrpSpPr>
        <p:grpSpPr>
          <a:xfrm>
            <a:off x="836304" y="3148736"/>
            <a:ext cx="3720398" cy="584775"/>
            <a:chOff x="657764" y="1474454"/>
            <a:chExt cx="3720398" cy="5847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BEB1EC9-1A6F-4A69-0184-3599EE23AD56}"/>
                </a:ext>
              </a:extLst>
            </p:cNvPr>
            <p:cNvSpPr txBox="1"/>
            <p:nvPr/>
          </p:nvSpPr>
          <p:spPr>
            <a:xfrm>
              <a:off x="1159253" y="1474454"/>
              <a:ext cx="3218909" cy="58477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de-DE" sz="1200" b="1" dirty="0"/>
                <a:t>Funktionen und Tools</a:t>
              </a:r>
              <a:br>
                <a:rPr lang="de-DE" sz="1000" b="1" dirty="0"/>
              </a:b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Idempotente</a:t>
              </a:r>
              <a:r>
                <a:rPr lang="en-GB" sz="1000" dirty="0"/>
                <a:t>, </a:t>
              </a:r>
              <a:r>
                <a:rPr lang="en-GB" sz="1000" dirty="0" err="1"/>
                <a:t>maschinenlesbare</a:t>
              </a:r>
              <a:r>
                <a:rPr lang="en-GB" sz="1000" dirty="0"/>
                <a:t> </a:t>
              </a:r>
              <a:r>
                <a:rPr lang="en-GB" sz="1000" dirty="0" err="1"/>
                <a:t>Schnittstellenverträge</a:t>
              </a:r>
              <a:r>
                <a:rPr lang="en-GB" sz="1000" dirty="0"/>
                <a:t> </a:t>
              </a:r>
              <a:r>
                <a:rPr lang="en-GB" sz="1000" dirty="0" err="1"/>
                <a:t>mit</a:t>
              </a:r>
              <a:r>
                <a:rPr lang="en-GB" sz="1000" dirty="0"/>
                <a:t> </a:t>
              </a:r>
              <a:r>
                <a:rPr lang="en-GB" sz="1000" dirty="0" err="1"/>
                <a:t>strikter</a:t>
              </a:r>
              <a:r>
                <a:rPr lang="en-GB" sz="1000" dirty="0"/>
                <a:t> </a:t>
              </a:r>
              <a:r>
                <a:rPr lang="en-GB" sz="1000" dirty="0" err="1"/>
                <a:t>Rechtebegrenzung</a:t>
              </a:r>
              <a:r>
                <a:rPr lang="en-GB" sz="1000" dirty="0"/>
                <a:t>.</a:t>
              </a:r>
              <a:endParaRPr lang="de-DE" sz="1000" dirty="0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793E1F09-1939-36C7-4FA3-38AA5AB2605E}"/>
                </a:ext>
              </a:extLst>
            </p:cNvPr>
            <p:cNvSpPr/>
            <p:nvPr/>
          </p:nvSpPr>
          <p:spPr>
            <a:xfrm>
              <a:off x="657764" y="1610761"/>
              <a:ext cx="300908" cy="3121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de-DE" dirty="0"/>
                <a:t>3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F241A11-D3A0-1666-E125-1BFC885EF1D8}"/>
              </a:ext>
            </a:extLst>
          </p:cNvPr>
          <p:cNvGrpSpPr/>
          <p:nvPr/>
        </p:nvGrpSpPr>
        <p:grpSpPr>
          <a:xfrm>
            <a:off x="836304" y="3976356"/>
            <a:ext cx="3720398" cy="584775"/>
            <a:chOff x="657764" y="1474454"/>
            <a:chExt cx="3720398" cy="58477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2188A91-852D-9170-58CC-31B6CB5AC7D9}"/>
                </a:ext>
              </a:extLst>
            </p:cNvPr>
            <p:cNvSpPr txBox="1"/>
            <p:nvPr/>
          </p:nvSpPr>
          <p:spPr>
            <a:xfrm>
              <a:off x="1159253" y="1474454"/>
              <a:ext cx="3218909" cy="58477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de-DE" sz="1200" b="1" dirty="0"/>
                <a:t>Abläufe und Kontrollschranken</a:t>
              </a:r>
              <a:br>
                <a:rPr lang="de-DE" sz="1000" b="1" dirty="0"/>
              </a:b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Deterministische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Kapselung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probabilistischer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Schritte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und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Absicherung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kritischer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Zustandsänderungen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.</a:t>
              </a:r>
              <a:endParaRPr lang="de-DE" sz="1000" dirty="0"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3949D4D9-9063-A6C7-2FF8-57CD73DDAC3F}"/>
                </a:ext>
              </a:extLst>
            </p:cNvPr>
            <p:cNvSpPr/>
            <p:nvPr/>
          </p:nvSpPr>
          <p:spPr>
            <a:xfrm>
              <a:off x="657764" y="1610761"/>
              <a:ext cx="300908" cy="3121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de-DE" dirty="0"/>
                <a:t>4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6F06AF6-2591-6A77-8003-F0F4F17B915F}"/>
              </a:ext>
            </a:extLst>
          </p:cNvPr>
          <p:cNvGrpSpPr/>
          <p:nvPr/>
        </p:nvGrpSpPr>
        <p:grpSpPr>
          <a:xfrm>
            <a:off x="836304" y="4803976"/>
            <a:ext cx="3720398" cy="584775"/>
            <a:chOff x="657764" y="1474454"/>
            <a:chExt cx="3720398" cy="584775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7466C38-95FF-51CB-C099-5715943F53AD}"/>
                </a:ext>
              </a:extLst>
            </p:cNvPr>
            <p:cNvSpPr txBox="1"/>
            <p:nvPr/>
          </p:nvSpPr>
          <p:spPr>
            <a:xfrm>
              <a:off x="1159253" y="1474454"/>
              <a:ext cx="3218909" cy="58477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de-DE" sz="1200" b="1" dirty="0"/>
                <a:t>Laufzeitüberwachung und Ausfallschutz</a:t>
              </a:r>
              <a:br>
                <a:rPr lang="de-DE" sz="1000" b="1" dirty="0"/>
              </a:b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Kontinuierliche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Überwachung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von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Inferenz</a:t>
              </a:r>
              <a:r>
                <a:rPr lang="en-GB" sz="1000" dirty="0"/>
                <a:t>, Drift und Kosten </a:t>
              </a:r>
              <a:r>
                <a:rPr lang="en-GB" sz="1000" dirty="0" err="1"/>
                <a:t>sowie</a:t>
              </a:r>
              <a:r>
                <a:rPr lang="en-GB" sz="1000" dirty="0"/>
                <a:t> </a:t>
              </a:r>
              <a:r>
                <a:rPr lang="en-GB" sz="1000" dirty="0" err="1"/>
                <a:t>erprobte</a:t>
              </a:r>
              <a:r>
                <a:rPr lang="en-GB" sz="1000" dirty="0"/>
                <a:t> </a:t>
              </a:r>
              <a:r>
                <a:rPr lang="en-GB" sz="1000" dirty="0" err="1"/>
                <a:t>Notabschaltungen</a:t>
              </a:r>
              <a:r>
                <a:rPr lang="en-GB" sz="1000" dirty="0"/>
                <a:t>.</a:t>
              </a:r>
              <a:endParaRPr lang="de-DE" sz="1000" dirty="0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67627F6B-D94D-F32F-8E6B-7F2DF5585F1D}"/>
                </a:ext>
              </a:extLst>
            </p:cNvPr>
            <p:cNvSpPr/>
            <p:nvPr/>
          </p:nvSpPr>
          <p:spPr>
            <a:xfrm>
              <a:off x="657764" y="1610761"/>
              <a:ext cx="300908" cy="3121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de-DE" dirty="0"/>
                <a:t>5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A3655B2-5FAD-0B30-3589-2095E9E2205F}"/>
              </a:ext>
            </a:extLst>
          </p:cNvPr>
          <p:cNvGrpSpPr/>
          <p:nvPr/>
        </p:nvGrpSpPr>
        <p:grpSpPr>
          <a:xfrm>
            <a:off x="836304" y="5631598"/>
            <a:ext cx="3720398" cy="738664"/>
            <a:chOff x="657764" y="1397510"/>
            <a:chExt cx="3720398" cy="738664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9DB7196-8D89-6991-A353-1956C3783558}"/>
                </a:ext>
              </a:extLst>
            </p:cNvPr>
            <p:cNvSpPr txBox="1"/>
            <p:nvPr/>
          </p:nvSpPr>
          <p:spPr>
            <a:xfrm>
              <a:off x="1159253" y="1397510"/>
              <a:ext cx="3218909" cy="73866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de-DE" sz="1200" b="1" dirty="0"/>
                <a:t>Regulatorik und Souveränität</a:t>
              </a:r>
              <a:br>
                <a:rPr lang="de-DE" sz="1000" b="1" dirty="0"/>
              </a:b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Lückenlose</a:t>
              </a:r>
              <a:r>
                <a:rPr lang="en-GB" sz="1000" b="0" i="0" dirty="0">
                  <a:solidFill>
                    <a:schemeClr val="tx1"/>
                  </a:solidFill>
                  <a:effectLst/>
                  <a:latin typeface="+mn-lt"/>
                </a:rPr>
                <a:t> Audit-Trails für </a:t>
              </a:r>
              <a:r>
                <a:rPr lang="en-GB" sz="1000" b="0" i="0" dirty="0" err="1">
                  <a:solidFill>
                    <a:schemeClr val="tx1"/>
                  </a:solidFill>
                  <a:effectLst/>
                  <a:latin typeface="+mn-lt"/>
                </a:rPr>
                <a:t>Modellentscheidungen</a:t>
              </a:r>
              <a:r>
                <a:rPr lang="en-GB" sz="1000" dirty="0"/>
                <a:t>, </a:t>
              </a:r>
              <a:r>
                <a:rPr lang="en-GB" sz="1000" dirty="0" err="1"/>
                <a:t>regulatorische</a:t>
              </a:r>
              <a:r>
                <a:rPr lang="en-GB" sz="1000" dirty="0"/>
                <a:t> </a:t>
              </a:r>
              <a:r>
                <a:rPr lang="en-GB" sz="1000" dirty="0" err="1"/>
                <a:t>Konformität</a:t>
              </a:r>
              <a:r>
                <a:rPr lang="en-GB" sz="1000" dirty="0"/>
                <a:t> und Schutz </a:t>
              </a:r>
              <a:r>
                <a:rPr lang="en-GB" sz="1000" dirty="0" err="1"/>
                <a:t>vor</a:t>
              </a:r>
              <a:r>
                <a:rPr lang="en-GB" sz="1000" dirty="0"/>
                <a:t> </a:t>
              </a:r>
              <a:r>
                <a:rPr lang="en-GB" sz="1000" dirty="0" err="1"/>
                <a:t>Plattformabhängigkeiten</a:t>
              </a:r>
              <a:r>
                <a:rPr lang="en-GB" sz="1000" dirty="0"/>
                <a:t>.</a:t>
              </a:r>
              <a:endParaRPr lang="de-DE" sz="1000" dirty="0"/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91CC3271-FA3A-D579-0B36-E362D89B3BA2}"/>
                </a:ext>
              </a:extLst>
            </p:cNvPr>
            <p:cNvSpPr/>
            <p:nvPr/>
          </p:nvSpPr>
          <p:spPr>
            <a:xfrm>
              <a:off x="657764" y="1610761"/>
              <a:ext cx="300908" cy="3121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de-DE" dirty="0"/>
                <a:t>6</a:t>
              </a:r>
            </a:p>
          </p:txBody>
        </p:sp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7EB54859-520D-9B16-EA17-BCA64E4FC0F1}"/>
              </a:ext>
            </a:extLst>
          </p:cNvPr>
          <p:cNvGrpSpPr/>
          <p:nvPr/>
        </p:nvGrpSpPr>
        <p:grpSpPr>
          <a:xfrm>
            <a:off x="5063204" y="1428723"/>
            <a:ext cx="5248650" cy="1128787"/>
            <a:chOff x="5953075" y="1293779"/>
            <a:chExt cx="5248650" cy="972767"/>
          </a:xfrm>
        </p:grpSpPr>
        <p:sp>
          <p:nvSpPr>
            <p:cNvPr id="169" name="Rounded Rectangle 168">
              <a:extLst>
                <a:ext uri="{FF2B5EF4-FFF2-40B4-BE49-F238E27FC236}">
                  <a16:creationId xmlns:a16="http://schemas.microsoft.com/office/drawing/2014/main" id="{483EE693-966A-7825-2790-6FD5FD55EA41}"/>
                </a:ext>
              </a:extLst>
            </p:cNvPr>
            <p:cNvSpPr/>
            <p:nvPr/>
          </p:nvSpPr>
          <p:spPr>
            <a:xfrm>
              <a:off x="5953075" y="1293780"/>
              <a:ext cx="5248650" cy="972766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0" name="Round Same-side Corner of Rectangle 169">
              <a:extLst>
                <a:ext uri="{FF2B5EF4-FFF2-40B4-BE49-F238E27FC236}">
                  <a16:creationId xmlns:a16="http://schemas.microsoft.com/office/drawing/2014/main" id="{2E97A3B0-40CB-0C7F-21DC-2BAC095675E5}"/>
                </a:ext>
              </a:extLst>
            </p:cNvPr>
            <p:cNvSpPr/>
            <p:nvPr/>
          </p:nvSpPr>
          <p:spPr>
            <a:xfrm rot="16200000">
              <a:off x="5623970" y="1622885"/>
              <a:ext cx="972766" cy="314554"/>
            </a:xfrm>
            <a:prstGeom prst="round2SameRect">
              <a:avLst>
                <a:gd name="adj1" fmla="val 50000"/>
                <a:gd name="adj2" fmla="val 0"/>
              </a:avLst>
            </a:prstGeom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noProof="0" dirty="0"/>
                <a:t>Governance</a:t>
              </a:r>
            </a:p>
          </p:txBody>
        </p: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CAF7913D-6CEA-5159-1A6F-FEC47FDFD4B4}"/>
              </a:ext>
            </a:extLst>
          </p:cNvPr>
          <p:cNvGrpSpPr/>
          <p:nvPr/>
        </p:nvGrpSpPr>
        <p:grpSpPr>
          <a:xfrm>
            <a:off x="5063203" y="5433289"/>
            <a:ext cx="5248649" cy="1128787"/>
            <a:chOff x="5953074" y="1293779"/>
            <a:chExt cx="5248649" cy="972767"/>
          </a:xfrm>
        </p:grpSpPr>
        <p:sp>
          <p:nvSpPr>
            <p:cNvPr id="172" name="Rounded Rectangle 171">
              <a:extLst>
                <a:ext uri="{FF2B5EF4-FFF2-40B4-BE49-F238E27FC236}">
                  <a16:creationId xmlns:a16="http://schemas.microsoft.com/office/drawing/2014/main" id="{DF59B96B-1F76-734E-6211-0EB7E77841DC}"/>
                </a:ext>
              </a:extLst>
            </p:cNvPr>
            <p:cNvSpPr/>
            <p:nvPr/>
          </p:nvSpPr>
          <p:spPr>
            <a:xfrm>
              <a:off x="5953074" y="1293780"/>
              <a:ext cx="5248649" cy="972766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3" name="Round Same-side Corner of Rectangle 172">
              <a:extLst>
                <a:ext uri="{FF2B5EF4-FFF2-40B4-BE49-F238E27FC236}">
                  <a16:creationId xmlns:a16="http://schemas.microsoft.com/office/drawing/2014/main" id="{2E73CA22-B60D-CE4D-65C1-8F51884B5105}"/>
                </a:ext>
              </a:extLst>
            </p:cNvPr>
            <p:cNvSpPr/>
            <p:nvPr/>
          </p:nvSpPr>
          <p:spPr>
            <a:xfrm rot="16200000">
              <a:off x="5623970" y="1622885"/>
              <a:ext cx="972766" cy="314554"/>
            </a:xfrm>
            <a:prstGeom prst="round2SameRect">
              <a:avLst>
                <a:gd name="adj1" fmla="val 50000"/>
                <a:gd name="adj2" fmla="val 0"/>
              </a:avLst>
            </a:prstGeom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noProof="0" dirty="0"/>
                <a:t>Foundation</a:t>
              </a:r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AB2170B8-3273-8A0A-99A8-6ED50371A571}"/>
              </a:ext>
            </a:extLst>
          </p:cNvPr>
          <p:cNvGrpSpPr/>
          <p:nvPr/>
        </p:nvGrpSpPr>
        <p:grpSpPr>
          <a:xfrm>
            <a:off x="10446179" y="1418132"/>
            <a:ext cx="1365538" cy="5133352"/>
            <a:chOff x="8916768" y="2942618"/>
            <a:chExt cx="1365538" cy="5133352"/>
          </a:xfrm>
        </p:grpSpPr>
        <p:sp>
          <p:nvSpPr>
            <p:cNvPr id="175" name="Rounded Rectangle 174">
              <a:extLst>
                <a:ext uri="{FF2B5EF4-FFF2-40B4-BE49-F238E27FC236}">
                  <a16:creationId xmlns:a16="http://schemas.microsoft.com/office/drawing/2014/main" id="{367D7BA3-A943-5A25-DE5B-BC46E2F11D3B}"/>
                </a:ext>
              </a:extLst>
            </p:cNvPr>
            <p:cNvSpPr/>
            <p:nvPr/>
          </p:nvSpPr>
          <p:spPr>
            <a:xfrm>
              <a:off x="8916768" y="2942618"/>
              <a:ext cx="1365538" cy="513335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6" name="Round Same-side Corner of Rectangle 175">
              <a:extLst>
                <a:ext uri="{FF2B5EF4-FFF2-40B4-BE49-F238E27FC236}">
                  <a16:creationId xmlns:a16="http://schemas.microsoft.com/office/drawing/2014/main" id="{9894382F-242A-5425-E952-3CC98F8CB9A5}"/>
                </a:ext>
              </a:extLst>
            </p:cNvPr>
            <p:cNvSpPr/>
            <p:nvPr/>
          </p:nvSpPr>
          <p:spPr>
            <a:xfrm>
              <a:off x="8916768" y="2942618"/>
              <a:ext cx="1365538" cy="314554"/>
            </a:xfrm>
            <a:prstGeom prst="round2SameRect">
              <a:avLst>
                <a:gd name="adj1" fmla="val 50000"/>
                <a:gd name="adj2" fmla="val 0"/>
              </a:avLst>
            </a:prstGeom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b="1" noProof="0" dirty="0"/>
                <a:t>Guiding Principles</a:t>
              </a:r>
            </a:p>
          </p:txBody>
        </p:sp>
      </p:grpSp>
      <p:sp>
        <p:nvSpPr>
          <p:cNvPr id="177" name="Round Same-side Corner of Rectangle 176">
            <a:extLst>
              <a:ext uri="{FF2B5EF4-FFF2-40B4-BE49-F238E27FC236}">
                <a16:creationId xmlns:a16="http://schemas.microsoft.com/office/drawing/2014/main" id="{A54BAD15-208E-C8F4-42BB-E1F53608A925}"/>
              </a:ext>
            </a:extLst>
          </p:cNvPr>
          <p:cNvSpPr/>
          <p:nvPr/>
        </p:nvSpPr>
        <p:spPr>
          <a:xfrm rot="16200000">
            <a:off x="4596019" y="4520790"/>
            <a:ext cx="1220220" cy="314554"/>
          </a:xfrm>
          <a:prstGeom prst="round2SameRect">
            <a:avLst>
              <a:gd name="adj1" fmla="val 50000"/>
              <a:gd name="adj2" fmla="val 0"/>
            </a:avLst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noProof="0" dirty="0"/>
              <a:t>System Layer</a:t>
            </a:r>
          </a:p>
        </p:txBody>
      </p:sp>
      <p:sp>
        <p:nvSpPr>
          <p:cNvPr id="178" name="Round Same-side Corner of Rectangle 177">
            <a:extLst>
              <a:ext uri="{FF2B5EF4-FFF2-40B4-BE49-F238E27FC236}">
                <a16:creationId xmlns:a16="http://schemas.microsoft.com/office/drawing/2014/main" id="{8244B2C5-7E5E-A807-D45A-C7DBA6BE3180}"/>
              </a:ext>
            </a:extLst>
          </p:cNvPr>
          <p:cNvSpPr/>
          <p:nvPr/>
        </p:nvSpPr>
        <p:spPr>
          <a:xfrm rot="16200000">
            <a:off x="4596019" y="3155457"/>
            <a:ext cx="1220220" cy="314554"/>
          </a:xfrm>
          <a:prstGeom prst="round2SameRect">
            <a:avLst>
              <a:gd name="adj1" fmla="val 50000"/>
              <a:gd name="adj2" fmla="val 0"/>
            </a:avLst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noProof="0" dirty="0"/>
              <a:t>Business Layer</a:t>
            </a:r>
          </a:p>
        </p:txBody>
      </p:sp>
      <p:sp>
        <p:nvSpPr>
          <p:cNvPr id="179" name="Round Same-side Corner of Rectangle 178">
            <a:extLst>
              <a:ext uri="{FF2B5EF4-FFF2-40B4-BE49-F238E27FC236}">
                <a16:creationId xmlns:a16="http://schemas.microsoft.com/office/drawing/2014/main" id="{5D0D4F31-66F3-FE59-80C1-BE8902178606}"/>
              </a:ext>
            </a:extLst>
          </p:cNvPr>
          <p:cNvSpPr/>
          <p:nvPr/>
        </p:nvSpPr>
        <p:spPr>
          <a:xfrm rot="5400000">
            <a:off x="8861800" y="3835153"/>
            <a:ext cx="2585554" cy="314554"/>
          </a:xfrm>
          <a:prstGeom prst="round2SameRect">
            <a:avLst>
              <a:gd name="adj1" fmla="val 50000"/>
              <a:gd name="adj2" fmla="val 0"/>
            </a:avLst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noProof="0" dirty="0"/>
              <a:t>Data Layer</a:t>
            </a:r>
          </a:p>
        </p:txBody>
      </p: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06B7264D-B206-B00D-6495-497431108BE6}"/>
              </a:ext>
            </a:extLst>
          </p:cNvPr>
          <p:cNvCxnSpPr>
            <a:cxnSpLocks/>
          </p:cNvCxnSpPr>
          <p:nvPr/>
        </p:nvCxnSpPr>
        <p:spPr>
          <a:xfrm>
            <a:off x="5452934" y="3984808"/>
            <a:ext cx="2551814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3CDDA031-CAEE-192F-3276-491C2223313E}"/>
              </a:ext>
            </a:extLst>
          </p:cNvPr>
          <p:cNvCxnSpPr>
            <a:cxnSpLocks/>
          </p:cNvCxnSpPr>
          <p:nvPr/>
        </p:nvCxnSpPr>
        <p:spPr>
          <a:xfrm flipV="1">
            <a:off x="8004748" y="2646540"/>
            <a:ext cx="1858227" cy="133826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B85AAF94-E787-0474-327F-5F0EB2169FAF}"/>
              </a:ext>
            </a:extLst>
          </p:cNvPr>
          <p:cNvCxnSpPr>
            <a:cxnSpLocks/>
          </p:cNvCxnSpPr>
          <p:nvPr/>
        </p:nvCxnSpPr>
        <p:spPr>
          <a:xfrm>
            <a:off x="8004747" y="3984808"/>
            <a:ext cx="1857600" cy="133826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3" name="Graphic 182" descr="Continuous Improvement with solid fill">
            <a:extLst>
              <a:ext uri="{FF2B5EF4-FFF2-40B4-BE49-F238E27FC236}">
                <a16:creationId xmlns:a16="http://schemas.microsoft.com/office/drawing/2014/main" id="{CF6A3FA5-4A8A-E7CA-1815-72E75FE0A5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31401" y="4565258"/>
            <a:ext cx="398413" cy="398413"/>
          </a:xfrm>
          <a:prstGeom prst="rect">
            <a:avLst/>
          </a:prstGeom>
        </p:spPr>
      </p:pic>
      <p:pic>
        <p:nvPicPr>
          <p:cNvPr id="184" name="Graphic 183" descr="Handshake with solid fill">
            <a:extLst>
              <a:ext uri="{FF2B5EF4-FFF2-40B4-BE49-F238E27FC236}">
                <a16:creationId xmlns:a16="http://schemas.microsoft.com/office/drawing/2014/main" id="{C762C23B-9993-E2B8-8156-1B44CBB44D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89915" y="3792792"/>
            <a:ext cx="398413" cy="398413"/>
          </a:xfrm>
          <a:prstGeom prst="rect">
            <a:avLst/>
          </a:prstGeom>
        </p:spPr>
      </p:pic>
      <p:pic>
        <p:nvPicPr>
          <p:cNvPr id="185" name="Graphic 184" descr="Atom with solid fill">
            <a:extLst>
              <a:ext uri="{FF2B5EF4-FFF2-40B4-BE49-F238E27FC236}">
                <a16:creationId xmlns:a16="http://schemas.microsoft.com/office/drawing/2014/main" id="{ECD77B54-0595-3866-A8AC-D16AE78A5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22161" y="5649413"/>
            <a:ext cx="403582" cy="403582"/>
          </a:xfrm>
          <a:prstGeom prst="rect">
            <a:avLst/>
          </a:prstGeom>
        </p:spPr>
      </p:pic>
      <p:pic>
        <p:nvPicPr>
          <p:cNvPr id="186" name="Graphic 185" descr="Binoculars with solid fill">
            <a:extLst>
              <a:ext uri="{FF2B5EF4-FFF2-40B4-BE49-F238E27FC236}">
                <a16:creationId xmlns:a16="http://schemas.microsoft.com/office/drawing/2014/main" id="{72D9DB17-882D-2E90-1056-C55F30F274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26886" y="5649413"/>
            <a:ext cx="403581" cy="403581"/>
          </a:xfrm>
          <a:prstGeom prst="rect">
            <a:avLst/>
          </a:prstGeom>
        </p:spPr>
      </p:pic>
      <p:pic>
        <p:nvPicPr>
          <p:cNvPr id="187" name="Graphic 186" descr="Blockchain with solid fill">
            <a:extLst>
              <a:ext uri="{FF2B5EF4-FFF2-40B4-BE49-F238E27FC236}">
                <a16:creationId xmlns:a16="http://schemas.microsoft.com/office/drawing/2014/main" id="{E36A6081-22E3-D06E-FEDC-F5DC112C2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28086" y="4730319"/>
            <a:ext cx="398978" cy="398978"/>
          </a:xfrm>
          <a:prstGeom prst="rect">
            <a:avLst/>
          </a:prstGeom>
        </p:spPr>
      </p:pic>
      <p:pic>
        <p:nvPicPr>
          <p:cNvPr id="188" name="Graphic 187" descr="Building Brick Wall with solid fill">
            <a:extLst>
              <a:ext uri="{FF2B5EF4-FFF2-40B4-BE49-F238E27FC236}">
                <a16:creationId xmlns:a16="http://schemas.microsoft.com/office/drawing/2014/main" id="{E59A72FE-2D61-10AD-7A35-9330633984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74056" y="5654289"/>
            <a:ext cx="398413" cy="398413"/>
          </a:xfrm>
          <a:prstGeom prst="rect">
            <a:avLst/>
          </a:prstGeom>
        </p:spPr>
      </p:pic>
      <p:pic>
        <p:nvPicPr>
          <p:cNvPr id="189" name="Graphic 188" descr="Bullseye with solid fill">
            <a:extLst>
              <a:ext uri="{FF2B5EF4-FFF2-40B4-BE49-F238E27FC236}">
                <a16:creationId xmlns:a16="http://schemas.microsoft.com/office/drawing/2014/main" id="{BE561216-B331-AC93-C219-4203475758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61756" y="1684720"/>
            <a:ext cx="398413" cy="398413"/>
          </a:xfrm>
          <a:prstGeom prst="rect">
            <a:avLst/>
          </a:prstGeom>
        </p:spPr>
      </p:pic>
      <p:pic>
        <p:nvPicPr>
          <p:cNvPr id="190" name="Graphic 189" descr="Care with solid fill">
            <a:extLst>
              <a:ext uri="{FF2B5EF4-FFF2-40B4-BE49-F238E27FC236}">
                <a16:creationId xmlns:a16="http://schemas.microsoft.com/office/drawing/2014/main" id="{A5276C4E-8B74-DE3D-D567-DF9B8988BB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89624" y="3106180"/>
            <a:ext cx="403691" cy="403691"/>
          </a:xfrm>
          <a:prstGeom prst="rect">
            <a:avLst/>
          </a:prstGeom>
        </p:spPr>
      </p:pic>
      <p:pic>
        <p:nvPicPr>
          <p:cNvPr id="191" name="Graphic 190" descr="Circles with arrows with solid fill">
            <a:extLst>
              <a:ext uri="{FF2B5EF4-FFF2-40B4-BE49-F238E27FC236}">
                <a16:creationId xmlns:a16="http://schemas.microsoft.com/office/drawing/2014/main" id="{3840B090-E544-61EA-2747-9B8F727B03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94902" y="4468809"/>
            <a:ext cx="398413" cy="398413"/>
          </a:xfrm>
          <a:prstGeom prst="rect">
            <a:avLst/>
          </a:prstGeom>
        </p:spPr>
      </p:pic>
      <p:pic>
        <p:nvPicPr>
          <p:cNvPr id="192" name="Graphic 191" descr="City with solid fill">
            <a:extLst>
              <a:ext uri="{FF2B5EF4-FFF2-40B4-BE49-F238E27FC236}">
                <a16:creationId xmlns:a16="http://schemas.microsoft.com/office/drawing/2014/main" id="{4E7A7EAE-B9B7-D73D-492E-7002CBFE03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816445" y="2871623"/>
            <a:ext cx="625009" cy="625009"/>
          </a:xfrm>
          <a:prstGeom prst="rect">
            <a:avLst/>
          </a:prstGeom>
        </p:spPr>
      </p:pic>
      <p:pic>
        <p:nvPicPr>
          <p:cNvPr id="193" name="Graphic 192" descr="Clipboard Badge with solid fill">
            <a:extLst>
              <a:ext uri="{FF2B5EF4-FFF2-40B4-BE49-F238E27FC236}">
                <a16:creationId xmlns:a16="http://schemas.microsoft.com/office/drawing/2014/main" id="{44A27DA3-A10B-326A-C40A-E4CF2AA60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30261" y="1684720"/>
            <a:ext cx="398413" cy="398413"/>
          </a:xfrm>
          <a:prstGeom prst="rect">
            <a:avLst/>
          </a:prstGeom>
        </p:spPr>
      </p:pic>
      <p:pic>
        <p:nvPicPr>
          <p:cNvPr id="194" name="Graphic 193" descr="Clipboard All Crosses with solid fill">
            <a:extLst>
              <a:ext uri="{FF2B5EF4-FFF2-40B4-BE49-F238E27FC236}">
                <a16:creationId xmlns:a16="http://schemas.microsoft.com/office/drawing/2014/main" id="{4011220E-67AD-62B1-0319-94A70F2248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308088" y="1684720"/>
            <a:ext cx="398413" cy="398413"/>
          </a:xfrm>
          <a:prstGeom prst="rect">
            <a:avLst/>
          </a:prstGeom>
        </p:spPr>
      </p:pic>
      <p:pic>
        <p:nvPicPr>
          <p:cNvPr id="195" name="Graphic 194" descr="Cloud Computing with solid fill">
            <a:extLst>
              <a:ext uri="{FF2B5EF4-FFF2-40B4-BE49-F238E27FC236}">
                <a16:creationId xmlns:a16="http://schemas.microsoft.com/office/drawing/2014/main" id="{E0FD4980-2E3F-25DA-7754-477EA103A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2273" y="5650047"/>
            <a:ext cx="398413" cy="398413"/>
          </a:xfrm>
          <a:prstGeom prst="rect">
            <a:avLst/>
          </a:prstGeom>
        </p:spPr>
      </p:pic>
      <p:pic>
        <p:nvPicPr>
          <p:cNvPr id="196" name="Graphic 195" descr="Connections with solid fill">
            <a:extLst>
              <a:ext uri="{FF2B5EF4-FFF2-40B4-BE49-F238E27FC236}">
                <a16:creationId xmlns:a16="http://schemas.microsoft.com/office/drawing/2014/main" id="{B9D3FCAF-09EF-8B3E-876D-676D3FF968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972885" y="1687675"/>
            <a:ext cx="398413" cy="398413"/>
          </a:xfrm>
          <a:prstGeom prst="rect">
            <a:avLst/>
          </a:prstGeom>
        </p:spPr>
      </p:pic>
      <p:pic>
        <p:nvPicPr>
          <p:cNvPr id="197" name="Graphic 196" descr="Cube with solid fill">
            <a:extLst>
              <a:ext uri="{FF2B5EF4-FFF2-40B4-BE49-F238E27FC236}">
                <a16:creationId xmlns:a16="http://schemas.microsoft.com/office/drawing/2014/main" id="{F427774A-8614-8A16-32A1-5C22F248AF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431402" y="3003214"/>
            <a:ext cx="398412" cy="398412"/>
          </a:xfrm>
          <a:prstGeom prst="rect">
            <a:avLst/>
          </a:prstGeom>
        </p:spPr>
      </p:pic>
      <p:pic>
        <p:nvPicPr>
          <p:cNvPr id="198" name="Graphic 197" descr="Database with solid fill">
            <a:extLst>
              <a:ext uri="{FF2B5EF4-FFF2-40B4-BE49-F238E27FC236}">
                <a16:creationId xmlns:a16="http://schemas.microsoft.com/office/drawing/2014/main" id="{4ED15DAF-E3B4-1B33-2250-8676B05E40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622606" y="5650046"/>
            <a:ext cx="398413" cy="398413"/>
          </a:xfrm>
          <a:prstGeom prst="rect">
            <a:avLst/>
          </a:prstGeom>
        </p:spPr>
      </p:pic>
      <p:sp>
        <p:nvSpPr>
          <p:cNvPr id="199" name="TextBox 198">
            <a:extLst>
              <a:ext uri="{FF2B5EF4-FFF2-40B4-BE49-F238E27FC236}">
                <a16:creationId xmlns:a16="http://schemas.microsoft.com/office/drawing/2014/main" id="{E0A09934-2049-F7E0-106D-E207CC58A9D4}"/>
              </a:ext>
            </a:extLst>
          </p:cNvPr>
          <p:cNvSpPr txBox="1"/>
          <p:nvPr/>
        </p:nvSpPr>
        <p:spPr>
          <a:xfrm>
            <a:off x="9357381" y="3459210"/>
            <a:ext cx="6030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noProof="0" dirty="0"/>
              <a:t>Domains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2B2E47D-EA6A-70CB-1E95-7C94D3DAF242}"/>
              </a:ext>
            </a:extLst>
          </p:cNvPr>
          <p:cNvSpPr txBox="1"/>
          <p:nvPr/>
        </p:nvSpPr>
        <p:spPr>
          <a:xfrm>
            <a:off x="9042586" y="4382589"/>
            <a:ext cx="830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noProof="0" dirty="0"/>
              <a:t>Dataproducts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DDE400AD-BCAE-2436-3858-01F8F65ADA10}"/>
              </a:ext>
            </a:extLst>
          </p:cNvPr>
          <p:cNvSpPr txBox="1"/>
          <p:nvPr/>
        </p:nvSpPr>
        <p:spPr>
          <a:xfrm>
            <a:off x="8687964" y="3915276"/>
            <a:ext cx="6303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noProof="0" dirty="0"/>
              <a:t>Semantic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F412E9B5-0423-24C7-7268-DAFF99C09097}"/>
              </a:ext>
            </a:extLst>
          </p:cNvPr>
          <p:cNvSpPr txBox="1"/>
          <p:nvPr/>
        </p:nvSpPr>
        <p:spPr>
          <a:xfrm>
            <a:off x="5478014" y="2148947"/>
            <a:ext cx="9658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noProof="0" dirty="0"/>
              <a:t>Strategy &amp; Roadmap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A6656FDC-1F73-BB57-0D81-463A76E29AFE}"/>
              </a:ext>
            </a:extLst>
          </p:cNvPr>
          <p:cNvSpPr txBox="1"/>
          <p:nvPr/>
        </p:nvSpPr>
        <p:spPr>
          <a:xfrm>
            <a:off x="6734183" y="2155260"/>
            <a:ext cx="9658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noProof="0" dirty="0"/>
              <a:t>Roles &amp; Responsibilities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5193A86-14A6-E4AB-3554-FDF1F51FA6E7}"/>
              </a:ext>
            </a:extLst>
          </p:cNvPr>
          <p:cNvSpPr txBox="1"/>
          <p:nvPr/>
        </p:nvSpPr>
        <p:spPr>
          <a:xfrm>
            <a:off x="7990352" y="2150815"/>
            <a:ext cx="9658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noProof="0" dirty="0"/>
              <a:t>Standards &amp; Guidelines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D73A5D14-ECFD-98E5-4F1B-A2B40F895344}"/>
              </a:ext>
            </a:extLst>
          </p:cNvPr>
          <p:cNvSpPr txBox="1"/>
          <p:nvPr/>
        </p:nvSpPr>
        <p:spPr>
          <a:xfrm>
            <a:off x="9246520" y="2145835"/>
            <a:ext cx="9658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noProof="0" dirty="0"/>
              <a:t>Compliance &amp; </a:t>
            </a:r>
            <a:r>
              <a:rPr lang="en-US" sz="800" b="1" noProof="0" dirty="0" err="1"/>
              <a:t>Regulatorik</a:t>
            </a:r>
            <a:endParaRPr lang="en-US" sz="800" b="1" noProof="0" dirty="0"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390FFACA-52DB-701E-F04E-DD415FA2F0A1}"/>
              </a:ext>
            </a:extLst>
          </p:cNvPr>
          <p:cNvSpPr txBox="1"/>
          <p:nvPr/>
        </p:nvSpPr>
        <p:spPr>
          <a:xfrm>
            <a:off x="5472962" y="6147077"/>
            <a:ext cx="8386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noProof="0" dirty="0"/>
              <a:t>Platform &amp;</a:t>
            </a:r>
            <a:br>
              <a:rPr lang="en-US" sz="800" b="1" noProof="0" dirty="0"/>
            </a:br>
            <a:r>
              <a:rPr lang="en-US" sz="800" b="1" noProof="0" dirty="0"/>
              <a:t>Infrastructure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E176CF4-8DC2-148B-1E73-3AD5EF75FBE1}"/>
              </a:ext>
            </a:extLst>
          </p:cNvPr>
          <p:cNvSpPr txBox="1"/>
          <p:nvPr/>
        </p:nvSpPr>
        <p:spPr>
          <a:xfrm>
            <a:off x="6382430" y="6139777"/>
            <a:ext cx="878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noProof="0" dirty="0"/>
              <a:t>Data Storage &amp;</a:t>
            </a:r>
            <a:br>
              <a:rPr lang="en-US" sz="800" b="1" noProof="0" dirty="0"/>
            </a:br>
            <a:r>
              <a:rPr lang="en-US" sz="800" b="1" noProof="0" dirty="0"/>
              <a:t> Management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2670523D-8677-BA2B-6984-625711CF1CCA}"/>
              </a:ext>
            </a:extLst>
          </p:cNvPr>
          <p:cNvSpPr txBox="1"/>
          <p:nvPr/>
        </p:nvSpPr>
        <p:spPr>
          <a:xfrm>
            <a:off x="7331974" y="6139777"/>
            <a:ext cx="11753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noProof="0" dirty="0"/>
              <a:t>Analytics Platform &amp;</a:t>
            </a:r>
            <a:br>
              <a:rPr lang="en-US" sz="800" b="1" noProof="0" dirty="0"/>
            </a:br>
            <a:r>
              <a:rPr lang="en-US" sz="800" b="1" noProof="0" dirty="0"/>
              <a:t>Tooling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3BF71F3D-AC10-1474-E4C7-FA9651C377F2}"/>
              </a:ext>
            </a:extLst>
          </p:cNvPr>
          <p:cNvSpPr txBox="1"/>
          <p:nvPr/>
        </p:nvSpPr>
        <p:spPr>
          <a:xfrm>
            <a:off x="8578073" y="6139777"/>
            <a:ext cx="901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noProof="0" dirty="0"/>
              <a:t>Observability &amp;</a:t>
            </a:r>
            <a:br>
              <a:rPr lang="en-US" sz="800" b="1" noProof="0" dirty="0"/>
            </a:br>
            <a:r>
              <a:rPr lang="en-US" sz="800" b="1" noProof="0" dirty="0" err="1"/>
              <a:t>Resilienz</a:t>
            </a:r>
            <a:endParaRPr lang="en-US" sz="800" b="1" noProof="0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D5539CF8-DB48-F2DD-E145-F1EEA5E2F963}"/>
              </a:ext>
            </a:extLst>
          </p:cNvPr>
          <p:cNvSpPr txBox="1"/>
          <p:nvPr/>
        </p:nvSpPr>
        <p:spPr>
          <a:xfrm>
            <a:off x="9550056" y="6147077"/>
            <a:ext cx="6623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noProof="0" dirty="0"/>
              <a:t>Security &amp;</a:t>
            </a:r>
            <a:br>
              <a:rPr lang="en-US" sz="800" b="1" noProof="0" dirty="0"/>
            </a:br>
            <a:r>
              <a:rPr lang="en-US" sz="800" b="1" noProof="0" dirty="0"/>
              <a:t>Identity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CC5C0FB7-B55D-2A07-215B-E540A4FD4EB3}"/>
              </a:ext>
            </a:extLst>
          </p:cNvPr>
          <p:cNvSpPr txBox="1"/>
          <p:nvPr/>
        </p:nvSpPr>
        <p:spPr>
          <a:xfrm>
            <a:off x="8044493" y="4876154"/>
            <a:ext cx="69923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noProof="0" dirty="0"/>
              <a:t>Integration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B1660A4-6334-EA65-A554-0FF2B68F19EE}"/>
              </a:ext>
            </a:extLst>
          </p:cNvPr>
          <p:cNvSpPr txBox="1"/>
          <p:nvPr/>
        </p:nvSpPr>
        <p:spPr>
          <a:xfrm>
            <a:off x="8045035" y="2851828"/>
            <a:ext cx="7104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noProof="0" dirty="0"/>
              <a:t>Experience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293F98B9-C6F5-E3F1-0292-DE37E432C720}"/>
              </a:ext>
            </a:extLst>
          </p:cNvPr>
          <p:cNvSpPr txBox="1"/>
          <p:nvPr/>
        </p:nvSpPr>
        <p:spPr>
          <a:xfrm>
            <a:off x="6293306" y="3870337"/>
            <a:ext cx="745717" cy="246221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000" noProof="0" dirty="0"/>
              <a:t>Alignment</a:t>
            </a: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8E615E07-B076-A695-ED19-B02E3A5C45AB}"/>
              </a:ext>
            </a:extLst>
          </p:cNvPr>
          <p:cNvSpPr txBox="1"/>
          <p:nvPr/>
        </p:nvSpPr>
        <p:spPr>
          <a:xfrm>
            <a:off x="6052610" y="5123443"/>
            <a:ext cx="128913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noProof="0" dirty="0"/>
              <a:t>Services &amp; Applications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7C9D2E60-F492-C430-0848-F04FC06300AF}"/>
              </a:ext>
            </a:extLst>
          </p:cNvPr>
          <p:cNvSpPr txBox="1"/>
          <p:nvPr/>
        </p:nvSpPr>
        <p:spPr>
          <a:xfrm>
            <a:off x="5953434" y="4155242"/>
            <a:ext cx="14526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noProof="0" dirty="0"/>
              <a:t>Workflows &amp; Orchestration</a:t>
            </a:r>
          </a:p>
        </p:txBody>
      </p:sp>
      <p:sp>
        <p:nvSpPr>
          <p:cNvPr id="216" name="Pentagon 215">
            <a:extLst>
              <a:ext uri="{FF2B5EF4-FFF2-40B4-BE49-F238E27FC236}">
                <a16:creationId xmlns:a16="http://schemas.microsoft.com/office/drawing/2014/main" id="{6459879C-476B-34C3-1B81-2A696B744801}"/>
              </a:ext>
            </a:extLst>
          </p:cNvPr>
          <p:cNvSpPr/>
          <p:nvPr/>
        </p:nvSpPr>
        <p:spPr>
          <a:xfrm>
            <a:off x="5989274" y="2788575"/>
            <a:ext cx="285243" cy="263192"/>
          </a:xfrm>
          <a:prstGeom prst="homePlat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7" name="Chevron 216">
            <a:extLst>
              <a:ext uri="{FF2B5EF4-FFF2-40B4-BE49-F238E27FC236}">
                <a16:creationId xmlns:a16="http://schemas.microsoft.com/office/drawing/2014/main" id="{D6144F6F-597C-4BE9-59D0-F7BF86C24827}"/>
              </a:ext>
            </a:extLst>
          </p:cNvPr>
          <p:cNvSpPr/>
          <p:nvPr/>
        </p:nvSpPr>
        <p:spPr>
          <a:xfrm>
            <a:off x="6187489" y="2784541"/>
            <a:ext cx="387353" cy="26701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8" name="Chevron 217">
            <a:extLst>
              <a:ext uri="{FF2B5EF4-FFF2-40B4-BE49-F238E27FC236}">
                <a16:creationId xmlns:a16="http://schemas.microsoft.com/office/drawing/2014/main" id="{9E21D856-37F9-A383-6848-A71086FD1E77}"/>
              </a:ext>
            </a:extLst>
          </p:cNvPr>
          <p:cNvSpPr/>
          <p:nvPr/>
        </p:nvSpPr>
        <p:spPr>
          <a:xfrm>
            <a:off x="7089141" y="2784478"/>
            <a:ext cx="392859" cy="26701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9" name="Chevron 218">
            <a:extLst>
              <a:ext uri="{FF2B5EF4-FFF2-40B4-BE49-F238E27FC236}">
                <a16:creationId xmlns:a16="http://schemas.microsoft.com/office/drawing/2014/main" id="{DADC790E-F805-3928-38C4-6F50CB3D9754}"/>
              </a:ext>
            </a:extLst>
          </p:cNvPr>
          <p:cNvSpPr/>
          <p:nvPr/>
        </p:nvSpPr>
        <p:spPr>
          <a:xfrm>
            <a:off x="6487647" y="2784477"/>
            <a:ext cx="392859" cy="26701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B4319795-9B1F-F61F-668F-BD60C0567536}"/>
              </a:ext>
            </a:extLst>
          </p:cNvPr>
          <p:cNvSpPr/>
          <p:nvPr/>
        </p:nvSpPr>
        <p:spPr>
          <a:xfrm>
            <a:off x="5988471" y="3080200"/>
            <a:ext cx="265792" cy="4778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972FDF2D-5986-A6CA-58AD-CEBE7EBE29F5}"/>
              </a:ext>
            </a:extLst>
          </p:cNvPr>
          <p:cNvSpPr/>
          <p:nvPr/>
        </p:nvSpPr>
        <p:spPr>
          <a:xfrm>
            <a:off x="6291132" y="3082570"/>
            <a:ext cx="839098" cy="15002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2" name="Chevron 221">
            <a:extLst>
              <a:ext uri="{FF2B5EF4-FFF2-40B4-BE49-F238E27FC236}">
                <a16:creationId xmlns:a16="http://schemas.microsoft.com/office/drawing/2014/main" id="{7472FD23-F2D3-F7BB-EBD0-52EB20404A50}"/>
              </a:ext>
            </a:extLst>
          </p:cNvPr>
          <p:cNvSpPr/>
          <p:nvPr/>
        </p:nvSpPr>
        <p:spPr>
          <a:xfrm>
            <a:off x="6788394" y="2784478"/>
            <a:ext cx="392859" cy="267010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0AD31D26-46FE-6ED4-0AE0-DDC8CC88D062}"/>
              </a:ext>
            </a:extLst>
          </p:cNvPr>
          <p:cNvSpPr/>
          <p:nvPr/>
        </p:nvSpPr>
        <p:spPr>
          <a:xfrm>
            <a:off x="7172092" y="3083952"/>
            <a:ext cx="258535" cy="72044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C389CF1-A645-E025-E8CB-71CC16EC4240}"/>
              </a:ext>
            </a:extLst>
          </p:cNvPr>
          <p:cNvSpPr/>
          <p:nvPr/>
        </p:nvSpPr>
        <p:spPr>
          <a:xfrm>
            <a:off x="6291131" y="3259168"/>
            <a:ext cx="254453" cy="300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A98AC69-B204-0E10-381A-A27AB8D39127}"/>
              </a:ext>
            </a:extLst>
          </p:cNvPr>
          <p:cNvSpPr/>
          <p:nvPr/>
        </p:nvSpPr>
        <p:spPr>
          <a:xfrm>
            <a:off x="6582454" y="3259169"/>
            <a:ext cx="271506" cy="300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9069F3FB-EFAD-B79A-77E7-06FF4C60CBF5}"/>
              </a:ext>
            </a:extLst>
          </p:cNvPr>
          <p:cNvSpPr/>
          <p:nvPr/>
        </p:nvSpPr>
        <p:spPr>
          <a:xfrm>
            <a:off x="6897271" y="3259170"/>
            <a:ext cx="231510" cy="30053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69C35EF7-C9B1-1B83-55E9-AABA612EF221}"/>
              </a:ext>
            </a:extLst>
          </p:cNvPr>
          <p:cNvSpPr/>
          <p:nvPr/>
        </p:nvSpPr>
        <p:spPr>
          <a:xfrm>
            <a:off x="5989274" y="3593577"/>
            <a:ext cx="1140956" cy="2131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48347686-BA2C-20AD-F031-7E3F7F90C5A6}"/>
              </a:ext>
            </a:extLst>
          </p:cNvPr>
          <p:cNvSpPr txBox="1"/>
          <p:nvPr/>
        </p:nvSpPr>
        <p:spPr>
          <a:xfrm>
            <a:off x="6155813" y="3199766"/>
            <a:ext cx="1085801" cy="195814"/>
          </a:xfrm>
          <a:prstGeom prst="rect">
            <a:avLst/>
          </a:prstGeom>
          <a:solidFill>
            <a:schemeClr val="bg1">
              <a:alpha val="81000"/>
            </a:schemeClr>
          </a:solidFill>
        </p:spPr>
        <p:txBody>
          <a:bodyPr wrap="none" lIns="36000" tIns="36000" rIns="36000" bIns="36000" rtlCol="0">
            <a:spAutoFit/>
          </a:bodyPr>
          <a:lstStyle>
            <a:defPPr>
              <a:defRPr lang="en-DE"/>
            </a:defPPr>
            <a:lvl1pPr>
              <a:defRPr sz="800" b="1"/>
            </a:lvl1pPr>
          </a:lstStyle>
          <a:p>
            <a:pPr algn="ctr"/>
            <a:r>
              <a:rPr lang="en-US" dirty="0"/>
              <a:t>Business Capabilities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4CCF3729-4A17-7153-6438-9473ED385E70}"/>
              </a:ext>
            </a:extLst>
          </p:cNvPr>
          <p:cNvSpPr txBox="1"/>
          <p:nvPr/>
        </p:nvSpPr>
        <p:spPr>
          <a:xfrm>
            <a:off x="6091359" y="3491938"/>
            <a:ext cx="1201145" cy="195814"/>
          </a:xfrm>
          <a:prstGeom prst="rect">
            <a:avLst/>
          </a:prstGeom>
          <a:solidFill>
            <a:schemeClr val="bg1">
              <a:alpha val="81000"/>
            </a:schemeClr>
          </a:solidFill>
        </p:spPr>
        <p:txBody>
          <a:bodyPr wrap="square" lIns="36000" tIns="36000" rIns="36000" bIns="36000" rtlCol="0">
            <a:spAutoFit/>
          </a:bodyPr>
          <a:lstStyle>
            <a:defPPr>
              <a:defRPr lang="en-DE"/>
            </a:defPPr>
            <a:lvl1pPr>
              <a:defRPr sz="800" b="1"/>
            </a:lvl1pPr>
          </a:lstStyle>
          <a:p>
            <a:pPr algn="ctr"/>
            <a:r>
              <a:rPr lang="en-US" dirty="0"/>
              <a:t>Processes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5496173D-F87D-6535-E21D-5E83D09F0413}"/>
              </a:ext>
            </a:extLst>
          </p:cNvPr>
          <p:cNvSpPr txBox="1"/>
          <p:nvPr/>
        </p:nvSpPr>
        <p:spPr>
          <a:xfrm>
            <a:off x="6338647" y="2823560"/>
            <a:ext cx="701080" cy="195814"/>
          </a:xfrm>
          <a:prstGeom prst="rect">
            <a:avLst/>
          </a:prstGeom>
          <a:solidFill>
            <a:schemeClr val="bg1">
              <a:alpha val="81000"/>
            </a:schemeClr>
          </a:solidFill>
        </p:spPr>
        <p:txBody>
          <a:bodyPr wrap="none" lIns="36000" tIns="36000" rIns="36000" bIns="36000" rtlCol="0">
            <a:spAutoFit/>
          </a:bodyPr>
          <a:lstStyle/>
          <a:p>
            <a:pPr algn="ctr"/>
            <a:r>
              <a:rPr lang="en-US" sz="800" b="1" noProof="0" dirty="0"/>
              <a:t>Value Stream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EDDF7B06-298B-523F-6FCE-BCDFDE6F8998}"/>
              </a:ext>
            </a:extLst>
          </p:cNvPr>
          <p:cNvCxnSpPr>
            <a:cxnSpLocks/>
          </p:cNvCxnSpPr>
          <p:nvPr/>
        </p:nvCxnSpPr>
        <p:spPr>
          <a:xfrm>
            <a:off x="6168804" y="3530429"/>
            <a:ext cx="166009" cy="92052"/>
          </a:xfrm>
          <a:prstGeom prst="line">
            <a:avLst/>
          </a:prstGeom>
          <a:ln w="12700"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07307361-1FD1-1FCD-8027-228F2B788ECC}"/>
              </a:ext>
            </a:extLst>
          </p:cNvPr>
          <p:cNvCxnSpPr>
            <a:cxnSpLocks/>
          </p:cNvCxnSpPr>
          <p:nvPr/>
        </p:nvCxnSpPr>
        <p:spPr>
          <a:xfrm>
            <a:off x="6987578" y="3525290"/>
            <a:ext cx="231909" cy="120858"/>
          </a:xfrm>
          <a:prstGeom prst="line">
            <a:avLst/>
          </a:prstGeom>
          <a:ln w="12700"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66D23BDA-E232-E532-A99B-240E9E5F429B}"/>
              </a:ext>
            </a:extLst>
          </p:cNvPr>
          <p:cNvCxnSpPr>
            <a:cxnSpLocks/>
          </p:cNvCxnSpPr>
          <p:nvPr/>
        </p:nvCxnSpPr>
        <p:spPr>
          <a:xfrm flipV="1">
            <a:off x="6257860" y="3523606"/>
            <a:ext cx="129511" cy="50057"/>
          </a:xfrm>
          <a:prstGeom prst="line">
            <a:avLst/>
          </a:prstGeom>
          <a:ln w="12700">
            <a:headEnd type="none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A3B33A0E-518F-1452-390F-B51051113324}"/>
              </a:ext>
            </a:extLst>
          </p:cNvPr>
          <p:cNvCxnSpPr>
            <a:cxnSpLocks/>
          </p:cNvCxnSpPr>
          <p:nvPr/>
        </p:nvCxnSpPr>
        <p:spPr>
          <a:xfrm flipH="1">
            <a:off x="6996187" y="3598888"/>
            <a:ext cx="121917" cy="47187"/>
          </a:xfrm>
          <a:prstGeom prst="line">
            <a:avLst/>
          </a:prstGeom>
          <a:ln w="12700">
            <a:headEnd type="none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5" name="Graphic 234" descr="Internet Of Things with solid fill">
            <a:extLst>
              <a:ext uri="{FF2B5EF4-FFF2-40B4-BE49-F238E27FC236}">
                <a16:creationId xmlns:a16="http://schemas.microsoft.com/office/drawing/2014/main" id="{3CB14FCA-92F3-33A1-4397-56FE3117D5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816445" y="4665223"/>
            <a:ext cx="625008" cy="625008"/>
          </a:xfrm>
          <a:prstGeom prst="rect">
            <a:avLst/>
          </a:prstGeom>
        </p:spPr>
      </p:pic>
      <p:pic>
        <p:nvPicPr>
          <p:cNvPr id="236" name="Graphic 235" descr="Branching diagram with solid fill">
            <a:extLst>
              <a:ext uri="{FF2B5EF4-FFF2-40B4-BE49-F238E27FC236}">
                <a16:creationId xmlns:a16="http://schemas.microsoft.com/office/drawing/2014/main" id="{D9786E89-EAB5-F24D-6066-C91A8244EB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530547" y="4396041"/>
            <a:ext cx="396518" cy="396518"/>
          </a:xfrm>
          <a:prstGeom prst="rect">
            <a:avLst/>
          </a:prstGeom>
        </p:spPr>
      </p:pic>
      <p:sp>
        <p:nvSpPr>
          <p:cNvPr id="237" name="TextBox 236">
            <a:extLst>
              <a:ext uri="{FF2B5EF4-FFF2-40B4-BE49-F238E27FC236}">
                <a16:creationId xmlns:a16="http://schemas.microsoft.com/office/drawing/2014/main" id="{E5114952-DE6D-D798-42C4-40985AB0D323}"/>
              </a:ext>
            </a:extLst>
          </p:cNvPr>
          <p:cNvSpPr txBox="1"/>
          <p:nvPr/>
        </p:nvSpPr>
        <p:spPr>
          <a:xfrm>
            <a:off x="10832233" y="5643693"/>
            <a:ext cx="593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noProof="0" dirty="0"/>
              <a:t>Platform</a:t>
            </a:r>
            <a:br>
              <a:rPr lang="en-US" sz="800" b="1" noProof="0" dirty="0"/>
            </a:br>
            <a:r>
              <a:rPr lang="en-US" sz="800" b="1" noProof="0" dirty="0"/>
              <a:t>&amp;</a:t>
            </a:r>
            <a:br>
              <a:rPr lang="en-US" sz="800" b="1" noProof="0" dirty="0"/>
            </a:br>
            <a:r>
              <a:rPr lang="en-US" sz="800" b="1" noProof="0" dirty="0"/>
              <a:t>Security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0803844-2C61-DF69-A865-12081FFE6318}"/>
              </a:ext>
            </a:extLst>
          </p:cNvPr>
          <p:cNvSpPr txBox="1"/>
          <p:nvPr/>
        </p:nvSpPr>
        <p:spPr>
          <a:xfrm>
            <a:off x="10767311" y="3850095"/>
            <a:ext cx="723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noProof="0" dirty="0"/>
              <a:t>Application</a:t>
            </a:r>
            <a:br>
              <a:rPr lang="en-US" sz="800" b="1" noProof="0" dirty="0"/>
            </a:br>
            <a:r>
              <a:rPr lang="en-US" sz="800" b="1" noProof="0" dirty="0"/>
              <a:t>&amp;</a:t>
            </a:r>
            <a:br>
              <a:rPr lang="en-US" sz="800" b="1" noProof="0" dirty="0"/>
            </a:br>
            <a:r>
              <a:rPr lang="en-US" sz="800" b="1" noProof="0" dirty="0"/>
              <a:t>Data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D4A2BF96-FBB1-389B-AB1B-04E142CA50E9}"/>
              </a:ext>
            </a:extLst>
          </p:cNvPr>
          <p:cNvSpPr txBox="1"/>
          <p:nvPr/>
        </p:nvSpPr>
        <p:spPr>
          <a:xfrm>
            <a:off x="10738456" y="2056495"/>
            <a:ext cx="780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noProof="0" dirty="0"/>
              <a:t>Business</a:t>
            </a:r>
            <a:br>
              <a:rPr lang="en-US" sz="800" b="1" noProof="0" dirty="0"/>
            </a:br>
            <a:r>
              <a:rPr lang="en-US" sz="800" b="1" noProof="0" dirty="0"/>
              <a:t>&amp;</a:t>
            </a:r>
            <a:br>
              <a:rPr lang="en-US" sz="800" b="1" noProof="0" dirty="0"/>
            </a:br>
            <a:r>
              <a:rPr lang="en-US" sz="800" b="1" noProof="0" dirty="0"/>
              <a:t>Organization</a:t>
            </a:r>
          </a:p>
        </p:txBody>
      </p:sp>
    </p:spTree>
    <p:extLst>
      <p:ext uri="{BB962C8B-B14F-4D97-AF65-F5344CB8AC3E}">
        <p14:creationId xmlns:p14="http://schemas.microsoft.com/office/powerpoint/2010/main" val="11846534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174</Words>
  <Application>Microsoft Macintosh PowerPoint</Application>
  <PresentationFormat>Widescreen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Senner, Julia</dc:creator>
  <cp:lastModifiedBy>Senner, Julia</cp:lastModifiedBy>
  <cp:revision>1</cp:revision>
  <dcterms:created xsi:type="dcterms:W3CDTF">2026-10-06T23:42:05Z</dcterms:created>
  <dcterms:modified xsi:type="dcterms:W3CDTF">2026-10-06T23:52:17Z</dcterms:modified>
</cp:coreProperties>
</file>