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>
        <p:scale>
          <a:sx n="68" d="100"/>
          <a:sy n="68" d="100"/>
        </p:scale>
        <p:origin x="237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A3B31-D471-5A47-BC87-621EE19B907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BEE4-E7CF-E649-88F6-D1CBBF52A0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969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B7BC8-77FD-874C-9FA0-3CFD3DBEDCD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04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43BC-5AF1-BAE4-2BBF-F8EE75E0E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9B839-9D53-1C76-1DCF-FB5BBD2F2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2DFD4-BBDA-C48A-4A09-B889BE3C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84010-50B7-5D68-2D6E-E4369875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5C269-0A21-00D3-B229-87F665ED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643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5FA0-48DC-16BC-AF86-0AD1A602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4D8E1-D221-70EB-F49C-5199601EC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3652F-ABCC-1F63-76A3-B4EE6AF62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EB656-EC84-9802-25AC-5EA897C5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19396-2651-8E3F-B6F5-8B3B79F0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31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A1AA-4DD6-8528-F397-A8304805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44507-5613-4756-E750-FD2244900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827D3-E252-E377-A1A1-5AC9EC8D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AD21E-FAC9-0020-0E94-2AF868C8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A7665-FAC2-1346-1872-1433CA31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92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21E1-AF17-EA7A-D765-8C68F08C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5F8F-DBEE-6267-5F46-E571C7AD4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16F1-8C51-1E7F-F28A-3CAE01515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E8C1A-BBD0-2E8B-5EF2-8AA99EEF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DAF9D-1EA5-944D-49A5-CE5BBA07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90157-5DE5-8339-50A5-8D6868D4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448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42FA-FCFC-C9B0-833B-6842212A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EFF61-D0B8-C779-B5EF-832B4F58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2A62E-F545-38AD-0B4B-E001B3710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0FE8D-CCC8-721C-B4DA-1DB898E21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2F8B3-E5AA-B8D0-FA69-889797B76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EE4278-5CD6-7D2A-BEC1-316F7A7B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ED55C-9885-0528-13B1-E563EBC5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69CA0-3180-C791-12D4-FB05B600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550B-77AA-0CA4-87F2-A3DA3967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F9AF1-E5E2-F14F-7B9E-DEE4853E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F4BF7-EA4C-FB72-C1F2-E130CAA2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0FBEC-1278-9367-2050-4FD68818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87469-6757-C069-C0ED-4D2E35DB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18777-F589-8114-A8D5-DA49AA0A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74DF7-190F-EF66-4DFE-CBD18530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411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0651-782A-B292-C92C-EA2440D0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4C27A-D10B-A15A-5767-746B3283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7FE00-D6EA-1671-138B-5BA6885FF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F4EC6-DDA6-4E90-BFA0-B8D13B8A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3D7F4-BE3F-BCE4-6A19-C84105ED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0F795-09ED-543C-9E1D-B9F2EC09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42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02E4-8625-C0D6-53EE-D68973F0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0AF2C-526A-04BC-B360-1C016C39F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521E6-34EC-8E89-9070-AC3290EE2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4B7C8-A8D1-FD46-30B6-546CFCE2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8AC33-4336-D328-E828-989182CA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C0151-1E34-BC50-02AB-1E14DA23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28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99B4-828A-1863-2515-2C53FA51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1F310-4EE7-48DC-DFD1-AC36E6AC5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549E4-E02E-AEFB-DB97-DAAB009E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982C-0078-B15B-EDD8-DE66F5FE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BA195-80C0-3139-D7C5-E0182559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21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E8ECAC-E6F1-3852-B15C-7F79DAD5F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30029-5DF8-67EA-E35E-4AE05FF0E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6C9E-58C6-1D70-43AF-3CA7B55E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382F6-1E4E-9252-3D72-C33D24054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DD1E9-5099-A1C3-0E3B-E03E25AE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266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652D8-28B1-2C93-00F0-079F4A22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71D6E-0C8E-6DD7-5468-FA696A575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BC4E3-A6C8-59F1-AFCE-66BF43128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E32F3-6E7D-E743-81E1-37767E4B13F6}" type="datetimeFigureOut">
              <a:rPr lang="de-DE" smtClean="0"/>
              <a:t>23.10.26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7B803-83C4-EE96-D6F9-C61CBF1F5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D0854-DCF2-A4AB-7D9A-E7D4E7CC4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2BE86-BFC6-434D-886F-6AD0E97EA8E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33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F82B8761-1F10-C0F3-68CF-670E075D5EF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4659217" cy="671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dirty="0"/>
              <a:t>AI </a:t>
            </a:r>
            <a:r>
              <a:rPr lang="de-DE" b="1" dirty="0" err="1"/>
              <a:t>Readiness</a:t>
            </a:r>
            <a:endParaRPr lang="de-DE" b="1" dirty="0"/>
          </a:p>
        </p:txBody>
      </p:sp>
      <p:sp>
        <p:nvSpPr>
          <p:cNvPr id="157" name="Title 5">
            <a:extLst>
              <a:ext uri="{FF2B5EF4-FFF2-40B4-BE49-F238E27FC236}">
                <a16:creationId xmlns:a16="http://schemas.microsoft.com/office/drawing/2014/main" id="{9F35A2CE-803D-F5B3-93EA-141748410599}"/>
              </a:ext>
            </a:extLst>
          </p:cNvPr>
          <p:cNvSpPr txBox="1">
            <a:spLocks/>
          </p:cNvSpPr>
          <p:nvPr/>
        </p:nvSpPr>
        <p:spPr>
          <a:xfrm>
            <a:off x="840035" y="1036486"/>
            <a:ext cx="3979626" cy="28751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/>
              <a:t>Prüfdimensionen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53E5A2-6998-7B4F-7D1E-0F961016BC8F}"/>
              </a:ext>
            </a:extLst>
          </p:cNvPr>
          <p:cNvGrpSpPr/>
          <p:nvPr/>
        </p:nvGrpSpPr>
        <p:grpSpPr>
          <a:xfrm>
            <a:off x="836304" y="1493496"/>
            <a:ext cx="3720398" cy="584775"/>
            <a:chOff x="657764" y="1474454"/>
            <a:chExt cx="3720398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77EF49-496E-7833-2747-6C3F916759A6}"/>
                </a:ext>
              </a:extLst>
            </p:cNvPr>
            <p:cNvSpPr txBox="1"/>
            <p:nvPr/>
          </p:nvSpPr>
          <p:spPr>
            <a:xfrm>
              <a:off x="1159253" y="1474454"/>
              <a:ext cx="3218909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de-DE" sz="1200" b="1" dirty="0"/>
                <a:t>Fachliche Domänen und </a:t>
              </a:r>
              <a:r>
                <a:rPr lang="de-DE" sz="1200" b="1" dirty="0" err="1"/>
                <a:t>Capabilities</a:t>
              </a:r>
              <a:br>
                <a:rPr lang="de-DE" sz="1000" b="1" dirty="0"/>
              </a:b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Eindeutig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abgegrenzte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Business Capabilities und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Domänen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mit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dokumentierter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fachlicher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Ownership.</a:t>
              </a:r>
              <a:endParaRPr lang="de-DE" sz="1000" dirty="0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30918A3C-793F-FA5E-61F6-6C5B92AE9B40}"/>
                </a:ext>
              </a:extLst>
            </p:cNvPr>
            <p:cNvSpPr/>
            <p:nvPr/>
          </p:nvSpPr>
          <p:spPr>
            <a:xfrm>
              <a:off x="657764" y="1610761"/>
              <a:ext cx="300908" cy="312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de-DE" dirty="0"/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B010F44-2F31-DAEC-6139-9C2765D96D67}"/>
              </a:ext>
            </a:extLst>
          </p:cNvPr>
          <p:cNvGrpSpPr/>
          <p:nvPr/>
        </p:nvGrpSpPr>
        <p:grpSpPr>
          <a:xfrm>
            <a:off x="836304" y="2321116"/>
            <a:ext cx="3720398" cy="584775"/>
            <a:chOff x="657764" y="1474454"/>
            <a:chExt cx="3720398" cy="5847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BB20B0-1EDF-57BF-F437-FCB52132B59D}"/>
                </a:ext>
              </a:extLst>
            </p:cNvPr>
            <p:cNvSpPr txBox="1"/>
            <p:nvPr/>
          </p:nvSpPr>
          <p:spPr>
            <a:xfrm>
              <a:off x="1159253" y="1474454"/>
              <a:ext cx="3218909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de-DE" sz="1200" b="1" dirty="0"/>
                <a:t>Daten und Semantik</a:t>
              </a:r>
              <a:br>
                <a:rPr lang="de-DE" sz="1000" b="1" dirty="0"/>
              </a:b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Formalisierte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Semantik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,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maschinenlesbare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Data Contracts und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kuratierte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Datenprodukte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.</a:t>
              </a:r>
              <a:endParaRPr lang="de-DE" sz="1000" dirty="0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8544A97-59B4-DEB4-3EA7-740C79B28B0A}"/>
                </a:ext>
              </a:extLst>
            </p:cNvPr>
            <p:cNvSpPr/>
            <p:nvPr/>
          </p:nvSpPr>
          <p:spPr>
            <a:xfrm>
              <a:off x="657764" y="1610761"/>
              <a:ext cx="300908" cy="312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de-DE" dirty="0"/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749889-F0CA-3878-E6D6-49AC2DDEFE24}"/>
              </a:ext>
            </a:extLst>
          </p:cNvPr>
          <p:cNvGrpSpPr/>
          <p:nvPr/>
        </p:nvGrpSpPr>
        <p:grpSpPr>
          <a:xfrm>
            <a:off x="836304" y="3148736"/>
            <a:ext cx="3720398" cy="584775"/>
            <a:chOff x="657764" y="1474454"/>
            <a:chExt cx="3720398" cy="584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EB1EC9-1A6F-4A69-0184-3599EE23AD56}"/>
                </a:ext>
              </a:extLst>
            </p:cNvPr>
            <p:cNvSpPr txBox="1"/>
            <p:nvPr/>
          </p:nvSpPr>
          <p:spPr>
            <a:xfrm>
              <a:off x="1159253" y="1474454"/>
              <a:ext cx="3218909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de-DE" sz="1200" b="1" dirty="0"/>
                <a:t>Funktionen und Tools</a:t>
              </a:r>
              <a:br>
                <a:rPr lang="de-DE" sz="1000" b="1" dirty="0"/>
              </a:b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Idempotente</a:t>
              </a:r>
              <a:r>
                <a:rPr lang="en-GB" sz="1000" dirty="0"/>
                <a:t>, </a:t>
              </a:r>
              <a:r>
                <a:rPr lang="en-GB" sz="1000" dirty="0" err="1"/>
                <a:t>maschinenlesbare</a:t>
              </a:r>
              <a:r>
                <a:rPr lang="en-GB" sz="1000" dirty="0"/>
                <a:t> </a:t>
              </a:r>
              <a:r>
                <a:rPr lang="en-GB" sz="1000" dirty="0" err="1"/>
                <a:t>Schnittstellenverträge</a:t>
              </a:r>
              <a:r>
                <a:rPr lang="en-GB" sz="1000" dirty="0"/>
                <a:t> </a:t>
              </a:r>
              <a:r>
                <a:rPr lang="en-GB" sz="1000" dirty="0" err="1"/>
                <a:t>mit</a:t>
              </a:r>
              <a:r>
                <a:rPr lang="en-GB" sz="1000" dirty="0"/>
                <a:t> </a:t>
              </a:r>
              <a:r>
                <a:rPr lang="en-GB" sz="1000" dirty="0" err="1"/>
                <a:t>strikter</a:t>
              </a:r>
              <a:r>
                <a:rPr lang="en-GB" sz="1000" dirty="0"/>
                <a:t> </a:t>
              </a:r>
              <a:r>
                <a:rPr lang="en-GB" sz="1000" dirty="0" err="1"/>
                <a:t>Rechtebegrenzung</a:t>
              </a:r>
              <a:r>
                <a:rPr lang="en-GB" sz="1000" dirty="0"/>
                <a:t>.</a:t>
              </a:r>
              <a:endParaRPr lang="de-DE" sz="1000" dirty="0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93E1F09-1939-36C7-4FA3-38AA5AB2605E}"/>
                </a:ext>
              </a:extLst>
            </p:cNvPr>
            <p:cNvSpPr/>
            <p:nvPr/>
          </p:nvSpPr>
          <p:spPr>
            <a:xfrm>
              <a:off x="657764" y="1610761"/>
              <a:ext cx="300908" cy="312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de-DE" dirty="0"/>
                <a:t>3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241A11-D3A0-1666-E125-1BFC885EF1D8}"/>
              </a:ext>
            </a:extLst>
          </p:cNvPr>
          <p:cNvGrpSpPr/>
          <p:nvPr/>
        </p:nvGrpSpPr>
        <p:grpSpPr>
          <a:xfrm>
            <a:off x="836304" y="3976356"/>
            <a:ext cx="3720398" cy="584775"/>
            <a:chOff x="657764" y="1474454"/>
            <a:chExt cx="3720398" cy="58477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2188A91-852D-9170-58CC-31B6CB5AC7D9}"/>
                </a:ext>
              </a:extLst>
            </p:cNvPr>
            <p:cNvSpPr txBox="1"/>
            <p:nvPr/>
          </p:nvSpPr>
          <p:spPr>
            <a:xfrm>
              <a:off x="1159253" y="1474454"/>
              <a:ext cx="3218909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de-DE" sz="1200" b="1" dirty="0"/>
                <a:t>Abläufe und Kontrollschranken</a:t>
              </a:r>
              <a:br>
                <a:rPr lang="de-DE" sz="1000" b="1" dirty="0"/>
              </a:b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Deterministische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Kapselung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probabilistischer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Schritte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und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Absicherung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kritischer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Zustandsänderungen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.</a:t>
              </a:r>
              <a:endParaRPr lang="de-DE" sz="1000" dirty="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3949D4D9-9063-A6C7-2FF8-57CD73DDAC3F}"/>
                </a:ext>
              </a:extLst>
            </p:cNvPr>
            <p:cNvSpPr/>
            <p:nvPr/>
          </p:nvSpPr>
          <p:spPr>
            <a:xfrm>
              <a:off x="657764" y="1610761"/>
              <a:ext cx="300908" cy="312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de-DE" dirty="0"/>
                <a:t>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F06AF6-2591-6A77-8003-F0F4F17B915F}"/>
              </a:ext>
            </a:extLst>
          </p:cNvPr>
          <p:cNvGrpSpPr/>
          <p:nvPr/>
        </p:nvGrpSpPr>
        <p:grpSpPr>
          <a:xfrm>
            <a:off x="836304" y="4803976"/>
            <a:ext cx="3720398" cy="584775"/>
            <a:chOff x="657764" y="1474454"/>
            <a:chExt cx="3720398" cy="58477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466C38-95FF-51CB-C099-5715943F53AD}"/>
                </a:ext>
              </a:extLst>
            </p:cNvPr>
            <p:cNvSpPr txBox="1"/>
            <p:nvPr/>
          </p:nvSpPr>
          <p:spPr>
            <a:xfrm>
              <a:off x="1159253" y="1474454"/>
              <a:ext cx="3218909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de-DE" sz="1200" b="1" dirty="0"/>
                <a:t>Laufzeitüberwachung und Ausfallschutz</a:t>
              </a:r>
              <a:br>
                <a:rPr lang="de-DE" sz="1000" b="1" dirty="0"/>
              </a:b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Kontinuierliche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Überwachung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von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Inferenz</a:t>
              </a:r>
              <a:r>
                <a:rPr lang="en-GB" sz="1000" dirty="0"/>
                <a:t>, Drift und Kosten </a:t>
              </a:r>
              <a:r>
                <a:rPr lang="en-GB" sz="1000" dirty="0" err="1"/>
                <a:t>sowie</a:t>
              </a:r>
              <a:r>
                <a:rPr lang="en-GB" sz="1000" dirty="0"/>
                <a:t> </a:t>
              </a:r>
              <a:r>
                <a:rPr lang="en-GB" sz="1000" dirty="0" err="1"/>
                <a:t>erprobte</a:t>
              </a:r>
              <a:r>
                <a:rPr lang="en-GB" sz="1000" dirty="0"/>
                <a:t> </a:t>
              </a:r>
              <a:r>
                <a:rPr lang="en-GB" sz="1000" dirty="0" err="1"/>
                <a:t>Notabschaltungen</a:t>
              </a:r>
              <a:r>
                <a:rPr lang="en-GB" sz="1000" dirty="0"/>
                <a:t>.</a:t>
              </a:r>
              <a:endParaRPr lang="de-DE" sz="10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7627F6B-D94D-F32F-8E6B-7F2DF5585F1D}"/>
                </a:ext>
              </a:extLst>
            </p:cNvPr>
            <p:cNvSpPr/>
            <p:nvPr/>
          </p:nvSpPr>
          <p:spPr>
            <a:xfrm>
              <a:off x="657764" y="1610761"/>
              <a:ext cx="300908" cy="312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de-DE" dirty="0"/>
                <a:t>5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3655B2-5FAD-0B30-3589-2095E9E2205F}"/>
              </a:ext>
            </a:extLst>
          </p:cNvPr>
          <p:cNvGrpSpPr/>
          <p:nvPr/>
        </p:nvGrpSpPr>
        <p:grpSpPr>
          <a:xfrm>
            <a:off x="836304" y="5631598"/>
            <a:ext cx="3720398" cy="738664"/>
            <a:chOff x="657764" y="1397510"/>
            <a:chExt cx="3720398" cy="73866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9DB7196-8D89-6991-A353-1956C3783558}"/>
                </a:ext>
              </a:extLst>
            </p:cNvPr>
            <p:cNvSpPr txBox="1"/>
            <p:nvPr/>
          </p:nvSpPr>
          <p:spPr>
            <a:xfrm>
              <a:off x="1159253" y="1397510"/>
              <a:ext cx="3218909" cy="7386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de-DE" sz="1200" b="1" dirty="0"/>
                <a:t>Regulatorik und Souveränität</a:t>
              </a:r>
              <a:br>
                <a:rPr lang="de-DE" sz="1000" b="1" dirty="0"/>
              </a:b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Lückenlose</a:t>
              </a:r>
              <a:r>
                <a:rPr lang="en-GB" sz="1000" b="0" i="0" dirty="0">
                  <a:solidFill>
                    <a:schemeClr val="tx1"/>
                  </a:solidFill>
                  <a:effectLst/>
                  <a:latin typeface="+mn-lt"/>
                </a:rPr>
                <a:t> Audit-Trails für </a:t>
              </a:r>
              <a:r>
                <a:rPr lang="en-GB" sz="1000" b="0" i="0" dirty="0" err="1">
                  <a:solidFill>
                    <a:schemeClr val="tx1"/>
                  </a:solidFill>
                  <a:effectLst/>
                  <a:latin typeface="+mn-lt"/>
                </a:rPr>
                <a:t>Modellentscheidungen</a:t>
              </a:r>
              <a:r>
                <a:rPr lang="en-GB" sz="1000" dirty="0"/>
                <a:t>, </a:t>
              </a:r>
              <a:r>
                <a:rPr lang="en-GB" sz="1000" dirty="0" err="1"/>
                <a:t>regulatorische</a:t>
              </a:r>
              <a:r>
                <a:rPr lang="en-GB" sz="1000" dirty="0"/>
                <a:t> </a:t>
              </a:r>
              <a:r>
                <a:rPr lang="en-GB" sz="1000" dirty="0" err="1"/>
                <a:t>Konformität</a:t>
              </a:r>
              <a:r>
                <a:rPr lang="en-GB" sz="1000" dirty="0"/>
                <a:t> und Schutz </a:t>
              </a:r>
              <a:r>
                <a:rPr lang="en-GB" sz="1000" dirty="0" err="1"/>
                <a:t>vor</a:t>
              </a:r>
              <a:r>
                <a:rPr lang="en-GB" sz="1000" dirty="0"/>
                <a:t> </a:t>
              </a:r>
              <a:r>
                <a:rPr lang="en-GB" sz="1000" dirty="0" err="1"/>
                <a:t>Plattformabhängigkeiten</a:t>
              </a:r>
              <a:r>
                <a:rPr lang="en-GB" sz="1000" dirty="0"/>
                <a:t>.</a:t>
              </a:r>
              <a:endParaRPr lang="de-DE" sz="1000" dirty="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91CC3271-FA3A-D579-0B36-E362D89B3BA2}"/>
                </a:ext>
              </a:extLst>
            </p:cNvPr>
            <p:cNvSpPr/>
            <p:nvPr/>
          </p:nvSpPr>
          <p:spPr>
            <a:xfrm>
              <a:off x="657764" y="1610761"/>
              <a:ext cx="300908" cy="312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de-DE" dirty="0"/>
                <a:t>6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61609E5-EB2F-D050-9918-11FF005E872D}"/>
              </a:ext>
            </a:extLst>
          </p:cNvPr>
          <p:cNvGrpSpPr/>
          <p:nvPr/>
        </p:nvGrpSpPr>
        <p:grpSpPr>
          <a:xfrm>
            <a:off x="5245516" y="1324001"/>
            <a:ext cx="6762865" cy="5143944"/>
            <a:chOff x="5150266" y="1036486"/>
            <a:chExt cx="6762865" cy="5143944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12983BA4-9879-6502-7F85-70C41FE3E854}"/>
                </a:ext>
              </a:extLst>
            </p:cNvPr>
            <p:cNvGrpSpPr/>
            <p:nvPr/>
          </p:nvGrpSpPr>
          <p:grpSpPr>
            <a:xfrm>
              <a:off x="5150266" y="1036486"/>
              <a:ext cx="6762865" cy="5143944"/>
              <a:chOff x="5150266" y="1036486"/>
              <a:chExt cx="6762865" cy="5143944"/>
            </a:xfrm>
          </p:grpSpPr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BE6E9668-8903-4D03-7BE1-FB5809E2E4D3}"/>
                  </a:ext>
                </a:extLst>
              </p:cNvPr>
              <p:cNvGrpSpPr/>
              <p:nvPr/>
            </p:nvGrpSpPr>
            <p:grpSpPr>
              <a:xfrm>
                <a:off x="5164618" y="1047077"/>
                <a:ext cx="5248650" cy="1128787"/>
                <a:chOff x="5953075" y="1293779"/>
                <a:chExt cx="5248650" cy="972767"/>
              </a:xfrm>
            </p:grpSpPr>
            <p:sp>
              <p:nvSpPr>
                <p:cNvPr id="316" name="Rounded Rectangle 315">
                  <a:extLst>
                    <a:ext uri="{FF2B5EF4-FFF2-40B4-BE49-F238E27FC236}">
                      <a16:creationId xmlns:a16="http://schemas.microsoft.com/office/drawing/2014/main" id="{A864278C-A386-25AB-29D5-68DA0820648B}"/>
                    </a:ext>
                  </a:extLst>
                </p:cNvPr>
                <p:cNvSpPr/>
                <p:nvPr/>
              </p:nvSpPr>
              <p:spPr>
                <a:xfrm>
                  <a:off x="5953075" y="1293780"/>
                  <a:ext cx="5248650" cy="972766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317" name="Round Same-side Corner of Rectangle 316">
                  <a:extLst>
                    <a:ext uri="{FF2B5EF4-FFF2-40B4-BE49-F238E27FC236}">
                      <a16:creationId xmlns:a16="http://schemas.microsoft.com/office/drawing/2014/main" id="{9683CE8A-7CB9-3CC7-FAC3-B84517FC8C8F}"/>
                    </a:ext>
                  </a:extLst>
                </p:cNvPr>
                <p:cNvSpPr/>
                <p:nvPr/>
              </p:nvSpPr>
              <p:spPr>
                <a:xfrm rot="16200000">
                  <a:off x="5623970" y="1622885"/>
                  <a:ext cx="972766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Guidance</a:t>
                  </a:r>
                </a:p>
              </p:txBody>
            </p:sp>
          </p:grpSp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861695BA-665F-6E6A-C8D4-84F42E08968F}"/>
                  </a:ext>
                </a:extLst>
              </p:cNvPr>
              <p:cNvGrpSpPr/>
              <p:nvPr/>
            </p:nvGrpSpPr>
            <p:grpSpPr>
              <a:xfrm>
                <a:off x="5164617" y="5051643"/>
                <a:ext cx="5248649" cy="1128787"/>
                <a:chOff x="5953074" y="1293779"/>
                <a:chExt cx="5248649" cy="972767"/>
              </a:xfrm>
            </p:grpSpPr>
            <p:sp>
              <p:nvSpPr>
                <p:cNvPr id="314" name="Rounded Rectangle 313">
                  <a:extLst>
                    <a:ext uri="{FF2B5EF4-FFF2-40B4-BE49-F238E27FC236}">
                      <a16:creationId xmlns:a16="http://schemas.microsoft.com/office/drawing/2014/main" id="{8CD9FC96-BEF8-DCF4-1E5B-0F250FA8201A}"/>
                    </a:ext>
                  </a:extLst>
                </p:cNvPr>
                <p:cNvSpPr/>
                <p:nvPr/>
              </p:nvSpPr>
              <p:spPr>
                <a:xfrm>
                  <a:off x="5953074" y="1293780"/>
                  <a:ext cx="5248649" cy="972766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315" name="Round Same-side Corner of Rectangle 314">
                  <a:extLst>
                    <a:ext uri="{FF2B5EF4-FFF2-40B4-BE49-F238E27FC236}">
                      <a16:creationId xmlns:a16="http://schemas.microsoft.com/office/drawing/2014/main" id="{BCB9B6CE-6CA7-F37D-04DD-7FD649B56010}"/>
                    </a:ext>
                  </a:extLst>
                </p:cNvPr>
                <p:cNvSpPr/>
                <p:nvPr/>
              </p:nvSpPr>
              <p:spPr>
                <a:xfrm rot="16200000">
                  <a:off x="5623970" y="1622885"/>
                  <a:ext cx="972766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Foundation</a:t>
                  </a:r>
                </a:p>
              </p:txBody>
            </p:sp>
          </p:grp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617301B6-A5BF-C58F-7CCE-0D63A5A35067}"/>
                  </a:ext>
                </a:extLst>
              </p:cNvPr>
              <p:cNvGrpSpPr/>
              <p:nvPr/>
            </p:nvGrpSpPr>
            <p:grpSpPr>
              <a:xfrm>
                <a:off x="10547593" y="1036486"/>
                <a:ext cx="1365538" cy="5133352"/>
                <a:chOff x="8916768" y="2942618"/>
                <a:chExt cx="1365538" cy="5133352"/>
              </a:xfrm>
            </p:grpSpPr>
            <p:sp>
              <p:nvSpPr>
                <p:cNvPr id="312" name="Rounded Rectangle 311">
                  <a:extLst>
                    <a:ext uri="{FF2B5EF4-FFF2-40B4-BE49-F238E27FC236}">
                      <a16:creationId xmlns:a16="http://schemas.microsoft.com/office/drawing/2014/main" id="{6E67EBFA-496E-0B80-99C0-4FA1A6F01FD8}"/>
                    </a:ext>
                  </a:extLst>
                </p:cNvPr>
                <p:cNvSpPr/>
                <p:nvPr/>
              </p:nvSpPr>
              <p:spPr>
                <a:xfrm>
                  <a:off x="8916768" y="2942618"/>
                  <a:ext cx="1365538" cy="5133352"/>
                </a:xfrm>
                <a:prstGeom prst="roundRect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sp>
              <p:nvSpPr>
                <p:cNvPr id="313" name="Round Same-side Corner of Rectangle 312">
                  <a:extLst>
                    <a:ext uri="{FF2B5EF4-FFF2-40B4-BE49-F238E27FC236}">
                      <a16:creationId xmlns:a16="http://schemas.microsoft.com/office/drawing/2014/main" id="{50B57108-7861-0E7E-DB54-1337CECA8ABC}"/>
                    </a:ext>
                  </a:extLst>
                </p:cNvPr>
                <p:cNvSpPr/>
                <p:nvPr/>
              </p:nvSpPr>
              <p:spPr>
                <a:xfrm>
                  <a:off x="8916768" y="2942618"/>
                  <a:ext cx="1365538" cy="31455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noProof="0" dirty="0"/>
                    <a:t>Guiding Principles</a:t>
                  </a:r>
                </a:p>
              </p:txBody>
            </p:sp>
          </p:grpSp>
          <p:sp>
            <p:nvSpPr>
              <p:cNvPr id="245" name="Round Same-side Corner of Rectangle 244">
                <a:extLst>
                  <a:ext uri="{FF2B5EF4-FFF2-40B4-BE49-F238E27FC236}">
                    <a16:creationId xmlns:a16="http://schemas.microsoft.com/office/drawing/2014/main" id="{E967F782-E506-244F-D269-675968607680}"/>
                  </a:ext>
                </a:extLst>
              </p:cNvPr>
              <p:cNvSpPr/>
              <p:nvPr/>
            </p:nvSpPr>
            <p:spPr>
              <a:xfrm rot="16200000">
                <a:off x="4697433" y="4139144"/>
                <a:ext cx="1220220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System Layer</a:t>
                </a:r>
              </a:p>
            </p:txBody>
          </p:sp>
          <p:sp>
            <p:nvSpPr>
              <p:cNvPr id="246" name="Round Same-side Corner of Rectangle 245">
                <a:extLst>
                  <a:ext uri="{FF2B5EF4-FFF2-40B4-BE49-F238E27FC236}">
                    <a16:creationId xmlns:a16="http://schemas.microsoft.com/office/drawing/2014/main" id="{01DC5979-03AA-DF63-2312-E0E59CD7A43F}"/>
                  </a:ext>
                </a:extLst>
              </p:cNvPr>
              <p:cNvSpPr/>
              <p:nvPr/>
            </p:nvSpPr>
            <p:spPr>
              <a:xfrm rot="16200000">
                <a:off x="4697433" y="2773811"/>
                <a:ext cx="1220220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Business Layer</a:t>
                </a:r>
              </a:p>
            </p:txBody>
          </p:sp>
          <p:sp>
            <p:nvSpPr>
              <p:cNvPr id="247" name="Round Same-side Corner of Rectangle 246">
                <a:extLst>
                  <a:ext uri="{FF2B5EF4-FFF2-40B4-BE49-F238E27FC236}">
                    <a16:creationId xmlns:a16="http://schemas.microsoft.com/office/drawing/2014/main" id="{A5692BCA-D079-3640-B717-7AB9E8627CD4}"/>
                  </a:ext>
                </a:extLst>
              </p:cNvPr>
              <p:cNvSpPr/>
              <p:nvPr/>
            </p:nvSpPr>
            <p:spPr>
              <a:xfrm rot="5400000">
                <a:off x="8963214" y="3453507"/>
                <a:ext cx="2585554" cy="31455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b="1" noProof="0" dirty="0"/>
                  <a:t>Data Layer</a:t>
                </a:r>
              </a:p>
            </p:txBody>
          </p:sp>
          <p:pic>
            <p:nvPicPr>
              <p:cNvPr id="248" name="Graphic 247" descr="Continuous Improvement with solid fill">
                <a:extLst>
                  <a:ext uri="{FF2B5EF4-FFF2-40B4-BE49-F238E27FC236}">
                    <a16:creationId xmlns:a16="http://schemas.microsoft.com/office/drawing/2014/main" id="{A0058662-3A41-2A5A-F1BD-6E6E6A1E5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484760" y="3427173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49" name="Graphic 248" descr="Handshake with solid fill">
                <a:extLst>
                  <a:ext uri="{FF2B5EF4-FFF2-40B4-BE49-F238E27FC236}">
                    <a16:creationId xmlns:a16="http://schemas.microsoft.com/office/drawing/2014/main" id="{C9DEC7B5-0331-19E1-D659-6C33951EB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65740" y="4119087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0" name="Graphic 249" descr="Atom with solid fill">
                <a:extLst>
                  <a:ext uri="{FF2B5EF4-FFF2-40B4-BE49-F238E27FC236}">
                    <a16:creationId xmlns:a16="http://schemas.microsoft.com/office/drawing/2014/main" id="{3ECF5171-B468-BED8-527D-3E3D177C40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23575" y="5267767"/>
                <a:ext cx="403582" cy="403582"/>
              </a:xfrm>
              <a:prstGeom prst="rect">
                <a:avLst/>
              </a:prstGeom>
            </p:spPr>
          </p:pic>
          <p:pic>
            <p:nvPicPr>
              <p:cNvPr id="251" name="Graphic 250" descr="Binoculars with solid fill">
                <a:extLst>
                  <a:ext uri="{FF2B5EF4-FFF2-40B4-BE49-F238E27FC236}">
                    <a16:creationId xmlns:a16="http://schemas.microsoft.com/office/drawing/2014/main" id="{0EB8B1F0-542B-279F-AC99-8ACA00B278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928300" y="5267767"/>
                <a:ext cx="403581" cy="403581"/>
              </a:xfrm>
              <a:prstGeom prst="rect">
                <a:avLst/>
              </a:prstGeom>
            </p:spPr>
          </p:pic>
          <p:pic>
            <p:nvPicPr>
              <p:cNvPr id="252" name="Graphic 251" descr="Blockchain with solid fill">
                <a:extLst>
                  <a:ext uri="{FF2B5EF4-FFF2-40B4-BE49-F238E27FC236}">
                    <a16:creationId xmlns:a16="http://schemas.microsoft.com/office/drawing/2014/main" id="{08D72250-9553-F45F-2C0C-6EB9BE688E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280817" y="4288997"/>
                <a:ext cx="398978" cy="398978"/>
              </a:xfrm>
              <a:prstGeom prst="rect">
                <a:avLst/>
              </a:prstGeom>
            </p:spPr>
          </p:pic>
          <p:pic>
            <p:nvPicPr>
              <p:cNvPr id="253" name="Graphic 252" descr="Building Brick Wall with solid fill">
                <a:extLst>
                  <a:ext uri="{FF2B5EF4-FFF2-40B4-BE49-F238E27FC236}">
                    <a16:creationId xmlns:a16="http://schemas.microsoft.com/office/drawing/2014/main" id="{98CFB5AE-77C4-E649-EFA2-79EBB057CA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775470" y="5272643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4" name="Graphic 253" descr="Bullseye with solid fill">
                <a:extLst>
                  <a:ext uri="{FF2B5EF4-FFF2-40B4-BE49-F238E27FC236}">
                    <a16:creationId xmlns:a16="http://schemas.microsoft.com/office/drawing/2014/main" id="{C8E4D1B7-6BB6-D7F4-DBB0-1F54D8299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863170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5" name="Graphic 254" descr="City with solid fill">
                <a:extLst>
                  <a:ext uri="{FF2B5EF4-FFF2-40B4-BE49-F238E27FC236}">
                    <a16:creationId xmlns:a16="http://schemas.microsoft.com/office/drawing/2014/main" id="{C5D037C4-DB95-40A4-EFD3-17F0059B2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917859" y="2489977"/>
                <a:ext cx="625009" cy="625009"/>
              </a:xfrm>
              <a:prstGeom prst="rect">
                <a:avLst/>
              </a:prstGeom>
            </p:spPr>
          </p:pic>
          <p:pic>
            <p:nvPicPr>
              <p:cNvPr id="256" name="Graphic 255" descr="Clipboard Badge with solid fill">
                <a:extLst>
                  <a:ext uri="{FF2B5EF4-FFF2-40B4-BE49-F238E27FC236}">
                    <a16:creationId xmlns:a16="http://schemas.microsoft.com/office/drawing/2014/main" id="{B2E0AEB5-BBCA-5106-92E9-BBD07B7BD2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631675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7" name="Graphic 256" descr="Clipboard All Crosses with solid fill">
                <a:extLst>
                  <a:ext uri="{FF2B5EF4-FFF2-40B4-BE49-F238E27FC236}">
                    <a16:creationId xmlns:a16="http://schemas.microsoft.com/office/drawing/2014/main" id="{C48AA22C-BDB5-6A94-50F3-DA17E8BB3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409502" y="1303074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8" name="Graphic 257" descr="Cloud Computing with solid fill">
                <a:extLst>
                  <a:ext uri="{FF2B5EF4-FFF2-40B4-BE49-F238E27FC236}">
                    <a16:creationId xmlns:a16="http://schemas.microsoft.com/office/drawing/2014/main" id="{81D486B6-2D8F-9F47-49AD-C80D8F0AF3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773687" y="5268401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59" name="Graphic 258" descr="Connections with solid fill">
                <a:extLst>
                  <a:ext uri="{FF2B5EF4-FFF2-40B4-BE49-F238E27FC236}">
                    <a16:creationId xmlns:a16="http://schemas.microsoft.com/office/drawing/2014/main" id="{83A0A79F-4FB0-F48A-6DB9-430AA55F2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074299" y="1306029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260" name="Graphic 259" descr="Cube with solid fill">
                <a:extLst>
                  <a:ext uri="{FF2B5EF4-FFF2-40B4-BE49-F238E27FC236}">
                    <a16:creationId xmlns:a16="http://schemas.microsoft.com/office/drawing/2014/main" id="{D78B821C-09BC-4B78-B99D-281916ED14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625630" y="3425139"/>
                <a:ext cx="398412" cy="398412"/>
              </a:xfrm>
              <a:prstGeom prst="rect">
                <a:avLst/>
              </a:prstGeom>
            </p:spPr>
          </p:pic>
          <p:pic>
            <p:nvPicPr>
              <p:cNvPr id="261" name="Graphic 260" descr="Database with solid fill">
                <a:extLst>
                  <a:ext uri="{FF2B5EF4-FFF2-40B4-BE49-F238E27FC236}">
                    <a16:creationId xmlns:a16="http://schemas.microsoft.com/office/drawing/2014/main" id="{527F25A7-10F5-1AA2-2634-857AFEBAF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724020" y="5268400"/>
                <a:ext cx="398413" cy="398413"/>
              </a:xfrm>
              <a:prstGeom prst="rect">
                <a:avLst/>
              </a:prstGeom>
            </p:spPr>
          </p:pic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42EC3669-9047-8730-3FE7-FDE320CAEBDE}"/>
                  </a:ext>
                </a:extLst>
              </p:cNvPr>
              <p:cNvSpPr txBox="1"/>
              <p:nvPr/>
            </p:nvSpPr>
            <p:spPr>
              <a:xfrm>
                <a:off x="7521326" y="3738865"/>
                <a:ext cx="6030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Domains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925105F1-F97B-847F-B510-179F37702ECC}"/>
                  </a:ext>
                </a:extLst>
              </p:cNvPr>
              <p:cNvSpPr txBox="1"/>
              <p:nvPr/>
            </p:nvSpPr>
            <p:spPr>
              <a:xfrm>
                <a:off x="8266029" y="3738865"/>
                <a:ext cx="8306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Dataproducts</a:t>
                </a: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20593C8C-36E1-5C19-2316-E1290B92914F}"/>
                  </a:ext>
                </a:extLst>
              </p:cNvPr>
              <p:cNvSpPr txBox="1"/>
              <p:nvPr/>
            </p:nvSpPr>
            <p:spPr>
              <a:xfrm>
                <a:off x="9326496" y="3027907"/>
                <a:ext cx="63030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Semantic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5250814-C7C9-407D-E100-144E9EA4DA99}"/>
                  </a:ext>
                </a:extLst>
              </p:cNvPr>
              <p:cNvSpPr txBox="1"/>
              <p:nvPr/>
            </p:nvSpPr>
            <p:spPr>
              <a:xfrm>
                <a:off x="5579428" y="1767301"/>
                <a:ext cx="965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dirty="0"/>
                  <a:t>Vision &amp; Strategy</a:t>
                </a:r>
                <a:endParaRPr lang="en-US" sz="800" b="1" noProof="0" dirty="0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5C4B771B-DC47-8EC1-2468-FD37D92395EA}"/>
                  </a:ext>
                </a:extLst>
              </p:cNvPr>
              <p:cNvSpPr txBox="1"/>
              <p:nvPr/>
            </p:nvSpPr>
            <p:spPr>
              <a:xfrm>
                <a:off x="6790289" y="1763164"/>
                <a:ext cx="9658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People, Culture &amp; Organization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D6F6FDA0-F0F1-4337-4CC1-B42A2E51FF28}"/>
                  </a:ext>
                </a:extLst>
              </p:cNvPr>
              <p:cNvSpPr txBox="1"/>
              <p:nvPr/>
            </p:nvSpPr>
            <p:spPr>
              <a:xfrm>
                <a:off x="8046740" y="1769398"/>
                <a:ext cx="11218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Policies, Guardrails &amp; Blueprints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42F04A98-60A9-0354-8453-7ADB7504B558}"/>
                  </a:ext>
                </a:extLst>
              </p:cNvPr>
              <p:cNvSpPr txBox="1"/>
              <p:nvPr/>
            </p:nvSpPr>
            <p:spPr>
              <a:xfrm>
                <a:off x="9347934" y="1764189"/>
                <a:ext cx="9658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b="1" noProof="0" dirty="0"/>
                  <a:t>Trust, Risk &amp; Compliance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123FEE82-310C-6A9F-A466-B8481B86CA5B}"/>
                  </a:ext>
                </a:extLst>
              </p:cNvPr>
              <p:cNvSpPr txBox="1"/>
              <p:nvPr/>
            </p:nvSpPr>
            <p:spPr>
              <a:xfrm>
                <a:off x="5574376" y="5765431"/>
                <a:ext cx="8386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Platform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Infrastructure</a:t>
                </a: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3A49ACDD-BAD0-92B3-E4E6-2E4EC3ECD1F8}"/>
                  </a:ext>
                </a:extLst>
              </p:cNvPr>
              <p:cNvSpPr txBox="1"/>
              <p:nvPr/>
            </p:nvSpPr>
            <p:spPr>
              <a:xfrm>
                <a:off x="6483844" y="5758131"/>
                <a:ext cx="8787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Data Storage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 Management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8F301C3-598E-E378-49CC-EEC2D51766D9}"/>
                  </a:ext>
                </a:extLst>
              </p:cNvPr>
              <p:cNvSpPr txBox="1"/>
              <p:nvPr/>
            </p:nvSpPr>
            <p:spPr>
              <a:xfrm>
                <a:off x="7433388" y="5758131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Analytics Platform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Tooling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E0FEB8A2-7A12-C639-8C48-BD5FD1F8E997}"/>
                  </a:ext>
                </a:extLst>
              </p:cNvPr>
              <p:cNvSpPr txBox="1"/>
              <p:nvPr/>
            </p:nvSpPr>
            <p:spPr>
              <a:xfrm>
                <a:off x="8679487" y="5758131"/>
                <a:ext cx="9012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Observability &amp;</a:t>
                </a:r>
                <a:br>
                  <a:rPr lang="en-US" sz="800" b="1" noProof="0" dirty="0"/>
                </a:br>
                <a:r>
                  <a:rPr lang="en-US" sz="800" b="1" noProof="0" dirty="0" err="1"/>
                  <a:t>Resilienz</a:t>
                </a:r>
                <a:endParaRPr lang="en-US" sz="800" b="1" noProof="0" dirty="0"/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B1823D73-AC60-7E80-BB78-FA48A073F48B}"/>
                  </a:ext>
                </a:extLst>
              </p:cNvPr>
              <p:cNvSpPr txBox="1"/>
              <p:nvPr/>
            </p:nvSpPr>
            <p:spPr>
              <a:xfrm>
                <a:off x="9651470" y="5765431"/>
                <a:ext cx="6623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Security 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Identity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08E9EAEE-9E81-E306-1241-FCEAD98237DB}"/>
                  </a:ext>
                </a:extLst>
              </p:cNvPr>
              <p:cNvSpPr txBox="1"/>
              <p:nvPr/>
            </p:nvSpPr>
            <p:spPr>
              <a:xfrm>
                <a:off x="8148802" y="2430229"/>
                <a:ext cx="71045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Experience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9909FDD0-3A69-C41B-6CEA-938DEE8E17EE}"/>
                  </a:ext>
                </a:extLst>
              </p:cNvPr>
              <p:cNvSpPr txBox="1"/>
              <p:nvPr/>
            </p:nvSpPr>
            <p:spPr>
              <a:xfrm>
                <a:off x="6188459" y="3502668"/>
                <a:ext cx="7088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Realization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45D26BDA-022A-B092-A63C-C5B271DEADD7}"/>
                  </a:ext>
                </a:extLst>
              </p:cNvPr>
              <p:cNvSpPr txBox="1"/>
              <p:nvPr/>
            </p:nvSpPr>
            <p:spPr>
              <a:xfrm>
                <a:off x="5854008" y="4715691"/>
                <a:ext cx="12891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Services &amp; Applications</a:t>
                </a: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7B97E630-9D66-A8E3-75CB-379EBA91DD3E}"/>
                  </a:ext>
                </a:extLst>
              </p:cNvPr>
              <p:cNvSpPr txBox="1"/>
              <p:nvPr/>
            </p:nvSpPr>
            <p:spPr>
              <a:xfrm>
                <a:off x="5768766" y="3741893"/>
                <a:ext cx="145264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Workflows &amp; Orchestration</a:t>
                </a:r>
              </a:p>
            </p:txBody>
          </p:sp>
          <p:sp>
            <p:nvSpPr>
              <p:cNvPr id="278" name="Pentagon 277">
                <a:extLst>
                  <a:ext uri="{FF2B5EF4-FFF2-40B4-BE49-F238E27FC236}">
                    <a16:creationId xmlns:a16="http://schemas.microsoft.com/office/drawing/2014/main" id="{77F1F4E5-DBAB-308C-AF21-8AE0EB5CBEDE}"/>
                  </a:ext>
                </a:extLst>
              </p:cNvPr>
              <p:cNvSpPr/>
              <p:nvPr/>
            </p:nvSpPr>
            <p:spPr>
              <a:xfrm>
                <a:off x="5781807" y="2430978"/>
                <a:ext cx="285243" cy="26319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9" name="Chevron 278">
                <a:extLst>
                  <a:ext uri="{FF2B5EF4-FFF2-40B4-BE49-F238E27FC236}">
                    <a16:creationId xmlns:a16="http://schemas.microsoft.com/office/drawing/2014/main" id="{9C940CED-432B-4912-B80D-3BA9AC52095A}"/>
                  </a:ext>
                </a:extLst>
              </p:cNvPr>
              <p:cNvSpPr/>
              <p:nvPr/>
            </p:nvSpPr>
            <p:spPr>
              <a:xfrm>
                <a:off x="5980022" y="2426944"/>
                <a:ext cx="387353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80" name="Chevron 279">
                <a:extLst>
                  <a:ext uri="{FF2B5EF4-FFF2-40B4-BE49-F238E27FC236}">
                    <a16:creationId xmlns:a16="http://schemas.microsoft.com/office/drawing/2014/main" id="{8C6FEF02-20AB-AE09-431C-E2690B5EF460}"/>
                  </a:ext>
                </a:extLst>
              </p:cNvPr>
              <p:cNvSpPr/>
              <p:nvPr/>
            </p:nvSpPr>
            <p:spPr>
              <a:xfrm>
                <a:off x="6881674" y="2426881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81" name="Chevron 280">
                <a:extLst>
                  <a:ext uri="{FF2B5EF4-FFF2-40B4-BE49-F238E27FC236}">
                    <a16:creationId xmlns:a16="http://schemas.microsoft.com/office/drawing/2014/main" id="{6F53E4B6-3D21-CE6F-075F-34B1E051CD22}"/>
                  </a:ext>
                </a:extLst>
              </p:cNvPr>
              <p:cNvSpPr/>
              <p:nvPr/>
            </p:nvSpPr>
            <p:spPr>
              <a:xfrm>
                <a:off x="6280180" y="2426880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CD38B01A-F29F-4B2C-C967-5C40BA738FE3}"/>
                  </a:ext>
                </a:extLst>
              </p:cNvPr>
              <p:cNvSpPr/>
              <p:nvPr/>
            </p:nvSpPr>
            <p:spPr>
              <a:xfrm>
                <a:off x="5781004" y="2722603"/>
                <a:ext cx="265792" cy="47787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D8B5172F-D778-51D1-5B17-563B60051A65}"/>
                  </a:ext>
                </a:extLst>
              </p:cNvPr>
              <p:cNvSpPr/>
              <p:nvPr/>
            </p:nvSpPr>
            <p:spPr>
              <a:xfrm>
                <a:off x="6084668" y="2727531"/>
                <a:ext cx="839098" cy="1500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4" name="Chevron 283">
                <a:extLst>
                  <a:ext uri="{FF2B5EF4-FFF2-40B4-BE49-F238E27FC236}">
                    <a16:creationId xmlns:a16="http://schemas.microsoft.com/office/drawing/2014/main" id="{9CBB9E3D-328F-DADD-7FB5-055370618BFA}"/>
                  </a:ext>
                </a:extLst>
              </p:cNvPr>
              <p:cNvSpPr/>
              <p:nvPr/>
            </p:nvSpPr>
            <p:spPr>
              <a:xfrm>
                <a:off x="6580927" y="2426881"/>
                <a:ext cx="392859" cy="26701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30425142-C6B8-5E10-28FC-730506A51A2D}"/>
                  </a:ext>
                </a:extLst>
              </p:cNvPr>
              <p:cNvSpPr/>
              <p:nvPr/>
            </p:nvSpPr>
            <p:spPr>
              <a:xfrm>
                <a:off x="6964625" y="2726355"/>
                <a:ext cx="258535" cy="72044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E05B52BD-6540-6040-7991-1066D367D4A0}"/>
                  </a:ext>
                </a:extLst>
              </p:cNvPr>
              <p:cNvSpPr/>
              <p:nvPr/>
            </p:nvSpPr>
            <p:spPr>
              <a:xfrm>
                <a:off x="6083664" y="2901571"/>
                <a:ext cx="254453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03D875CF-B30B-CFD0-A33D-8BA69BDF9062}"/>
                  </a:ext>
                </a:extLst>
              </p:cNvPr>
              <p:cNvSpPr/>
              <p:nvPr/>
            </p:nvSpPr>
            <p:spPr>
              <a:xfrm>
                <a:off x="6374987" y="2901572"/>
                <a:ext cx="271506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C28A8A0E-48B7-FC7B-C857-800DF581D36B}"/>
                  </a:ext>
                </a:extLst>
              </p:cNvPr>
              <p:cNvSpPr/>
              <p:nvPr/>
            </p:nvSpPr>
            <p:spPr>
              <a:xfrm>
                <a:off x="6689804" y="2901573"/>
                <a:ext cx="231510" cy="30053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725C001B-4C7A-846C-3461-F3C4B3DB051A}"/>
                  </a:ext>
                </a:extLst>
              </p:cNvPr>
              <p:cNvSpPr/>
              <p:nvPr/>
            </p:nvSpPr>
            <p:spPr>
              <a:xfrm>
                <a:off x="5781807" y="3235980"/>
                <a:ext cx="1140956" cy="21316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58523014-C7A4-D858-6DA0-2495D7DC9043}"/>
                  </a:ext>
                </a:extLst>
              </p:cNvPr>
              <p:cNvSpPr txBox="1"/>
              <p:nvPr/>
            </p:nvSpPr>
            <p:spPr>
              <a:xfrm>
                <a:off x="5948346" y="2842169"/>
                <a:ext cx="1085801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none" lIns="36000" tIns="36000" rIns="36000" bIns="36000" rtlCol="0">
                <a:spAutoFit/>
              </a:bodyPr>
              <a:lstStyle>
                <a:defPPr>
                  <a:defRPr lang="en-DE"/>
                </a:defPPr>
                <a:lvl1pPr>
                  <a:defRPr sz="800" b="1"/>
                </a:lvl1pPr>
              </a:lstStyle>
              <a:p>
                <a:pPr algn="ctr"/>
                <a:r>
                  <a:rPr lang="en-US" dirty="0"/>
                  <a:t>Business Capabilities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BDA7C3CB-DF8E-9849-39D8-BEDCF46E15A9}"/>
                  </a:ext>
                </a:extLst>
              </p:cNvPr>
              <p:cNvSpPr txBox="1"/>
              <p:nvPr/>
            </p:nvSpPr>
            <p:spPr>
              <a:xfrm>
                <a:off x="5883892" y="3134341"/>
                <a:ext cx="1201145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square" lIns="36000" tIns="36000" rIns="36000" bIns="36000" rtlCol="0">
                <a:spAutoFit/>
              </a:bodyPr>
              <a:lstStyle>
                <a:defPPr>
                  <a:defRPr lang="en-DE"/>
                </a:defPPr>
                <a:lvl1pPr>
                  <a:defRPr sz="800" b="1"/>
                </a:lvl1pPr>
              </a:lstStyle>
              <a:p>
                <a:pPr algn="ctr"/>
                <a:r>
                  <a:rPr lang="en-US" dirty="0"/>
                  <a:t>Processes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8937B7A2-B4C7-3C4D-F4F4-6964D4E41236}"/>
                  </a:ext>
                </a:extLst>
              </p:cNvPr>
              <p:cNvSpPr txBox="1"/>
              <p:nvPr/>
            </p:nvSpPr>
            <p:spPr>
              <a:xfrm>
                <a:off x="6131180" y="2465963"/>
                <a:ext cx="701080" cy="195814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en-US" sz="800" b="1" noProof="0" dirty="0"/>
                  <a:t>Value Stream</a:t>
                </a:r>
              </a:p>
            </p:txBody>
          </p: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838D1535-8690-72C0-D299-A510A1B0CC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1337" y="3172832"/>
                <a:ext cx="166009" cy="92052"/>
              </a:xfrm>
              <a:prstGeom prst="line">
                <a:avLst/>
              </a:prstGeom>
              <a:ln w="12700"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FEE6DFB4-BD64-7B24-40BA-D80E048A0F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0111" y="3167693"/>
                <a:ext cx="231909" cy="120858"/>
              </a:xfrm>
              <a:prstGeom prst="line">
                <a:avLst/>
              </a:prstGeom>
              <a:ln w="12700"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EA35D2D5-6FD3-1540-0CAE-64C60DC489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50393" y="3166009"/>
                <a:ext cx="129511" cy="50057"/>
              </a:xfrm>
              <a:prstGeom prst="line">
                <a:avLst/>
              </a:prstGeom>
              <a:ln w="12700">
                <a:headEnd type="none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4F1895E3-7010-D8BF-3EEA-E2F2F8598E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8720" y="3241291"/>
                <a:ext cx="121917" cy="47187"/>
              </a:xfrm>
              <a:prstGeom prst="line">
                <a:avLst/>
              </a:prstGeom>
              <a:ln w="12700">
                <a:headEnd type="none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97" name="Graphic 296" descr="Internet Of Things with solid fill">
                <a:extLst>
                  <a:ext uri="{FF2B5EF4-FFF2-40B4-BE49-F238E27FC236}">
                    <a16:creationId xmlns:a16="http://schemas.microsoft.com/office/drawing/2014/main" id="{864BC790-15F0-6362-66DF-84A3C05AE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917859" y="4283577"/>
                <a:ext cx="625008" cy="625008"/>
              </a:xfrm>
              <a:prstGeom prst="rect">
                <a:avLst/>
              </a:prstGeom>
            </p:spPr>
          </p:pic>
          <p:pic>
            <p:nvPicPr>
              <p:cNvPr id="298" name="Graphic 297" descr="Branching diagram with solid fill">
                <a:extLst>
                  <a:ext uri="{FF2B5EF4-FFF2-40B4-BE49-F238E27FC236}">
                    <a16:creationId xmlns:a16="http://schemas.microsoft.com/office/drawing/2014/main" id="{B43AA1DD-2B80-B825-CA72-AD977D6BD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283278" y="3954719"/>
                <a:ext cx="396518" cy="396518"/>
              </a:xfrm>
              <a:prstGeom prst="rect">
                <a:avLst/>
              </a:prstGeom>
            </p:spPr>
          </p:pic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35884D2D-9FF9-825C-49F9-0B34E51A03F1}"/>
                  </a:ext>
                </a:extLst>
              </p:cNvPr>
              <p:cNvSpPr txBox="1"/>
              <p:nvPr/>
            </p:nvSpPr>
            <p:spPr>
              <a:xfrm>
                <a:off x="10933647" y="5262047"/>
                <a:ext cx="593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Platform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Security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5E3B4569-58CC-3106-7AD5-C471A3603BD0}"/>
                  </a:ext>
                </a:extLst>
              </p:cNvPr>
              <p:cNvSpPr txBox="1"/>
              <p:nvPr/>
            </p:nvSpPr>
            <p:spPr>
              <a:xfrm>
                <a:off x="10868725" y="3468449"/>
                <a:ext cx="7232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Application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Data</a:t>
                </a: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D55623A3-CF8B-B76B-2D8D-0BD69D04BDD7}"/>
                  </a:ext>
                </a:extLst>
              </p:cNvPr>
              <p:cNvSpPr txBox="1"/>
              <p:nvPr/>
            </p:nvSpPr>
            <p:spPr>
              <a:xfrm>
                <a:off x="10839870" y="1674849"/>
                <a:ext cx="7809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Business</a:t>
                </a:r>
                <a:br>
                  <a:rPr lang="en-US" sz="800" b="1" noProof="0" dirty="0"/>
                </a:br>
                <a:r>
                  <a:rPr lang="en-US" sz="800" b="1" noProof="0" dirty="0"/>
                  <a:t>&amp;</a:t>
                </a:r>
                <a:br>
                  <a:rPr lang="en-US" sz="800" b="1" noProof="0" dirty="0"/>
                </a:br>
                <a:r>
                  <a:rPr lang="en-US" sz="800" b="1" noProof="0" dirty="0"/>
                  <a:t>Organization</a:t>
                </a:r>
              </a:p>
            </p:txBody>
          </p:sp>
          <p:pic>
            <p:nvPicPr>
              <p:cNvPr id="302" name="Graphic 301" descr="Care with solid fill">
                <a:extLst>
                  <a:ext uri="{FF2B5EF4-FFF2-40B4-BE49-F238E27FC236}">
                    <a16:creationId xmlns:a16="http://schemas.microsoft.com/office/drawing/2014/main" id="{3D1BB9E5-E45F-01E6-5FF0-7713F3BCE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665170" y="2614825"/>
                <a:ext cx="403691" cy="403691"/>
              </a:xfrm>
              <a:prstGeom prst="rect">
                <a:avLst/>
              </a:prstGeom>
            </p:spPr>
          </p:pic>
          <p:pic>
            <p:nvPicPr>
              <p:cNvPr id="303" name="Graphic 302" descr="Circles with arrows with solid fill">
                <a:extLst>
                  <a:ext uri="{FF2B5EF4-FFF2-40B4-BE49-F238E27FC236}">
                    <a16:creationId xmlns:a16="http://schemas.microsoft.com/office/drawing/2014/main" id="{80E5AF1D-A15C-585A-F015-F4F1EF9EC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8668108" y="4244489"/>
                <a:ext cx="398413" cy="398413"/>
              </a:xfrm>
              <a:prstGeom prst="rect">
                <a:avLst/>
              </a:prstGeom>
            </p:spPr>
          </p:pic>
          <p:pic>
            <p:nvPicPr>
              <p:cNvPr id="304" name="Graphic 303" descr="Scientific Thought with solid fill">
                <a:extLst>
                  <a:ext uri="{FF2B5EF4-FFF2-40B4-BE49-F238E27FC236}">
                    <a16:creationId xmlns:a16="http://schemas.microsoft.com/office/drawing/2014/main" id="{2A3FD9D8-F850-CE88-CC15-9F648F43D6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9471603" y="2683144"/>
                <a:ext cx="398413" cy="398413"/>
              </a:xfrm>
              <a:prstGeom prst="rect">
                <a:avLst/>
              </a:prstGeom>
            </p:spPr>
          </p:pic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D346AA3E-8C60-0245-067E-40B82AC7DAE1}"/>
                  </a:ext>
                </a:extLst>
              </p:cNvPr>
              <p:cNvSpPr txBox="1"/>
              <p:nvPr/>
            </p:nvSpPr>
            <p:spPr>
              <a:xfrm>
                <a:off x="9375012" y="3964178"/>
                <a:ext cx="6527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b="1" noProof="0" dirty="0"/>
                  <a:t>Contracts</a:t>
                </a: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9E231DC9-7AF5-3D28-C827-6E9339BB536C}"/>
                  </a:ext>
                </a:extLst>
              </p:cNvPr>
              <p:cNvSpPr txBox="1"/>
              <p:nvPr/>
            </p:nvSpPr>
            <p:spPr>
              <a:xfrm>
                <a:off x="8145151" y="4607969"/>
                <a:ext cx="6992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 noProof="0" dirty="0"/>
                  <a:t>Integration</a:t>
                </a:r>
              </a:p>
            </p:txBody>
          </p: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737EF8E9-5C06-2A7E-729C-452A7E00515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103663" y="3004682"/>
                <a:ext cx="503999" cy="36297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662D39E7-FAAC-D5B8-3D46-E3EF77CFED76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9113104" y="2277189"/>
                <a:ext cx="503999" cy="36297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143DD14D-78B1-C73F-E679-43F8BA051FFA}"/>
                  </a:ext>
                </a:extLst>
              </p:cNvPr>
              <p:cNvGrpSpPr/>
              <p:nvPr/>
            </p:nvGrpSpPr>
            <p:grpSpPr>
              <a:xfrm flipV="1">
                <a:off x="8104566" y="3890538"/>
                <a:ext cx="1513440" cy="1090466"/>
                <a:chOff x="8256063" y="2429589"/>
                <a:chExt cx="1513440" cy="1090466"/>
              </a:xfrm>
            </p:grpSpPr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67C21B69-DBBF-573D-08E1-AD977071B57A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V="1">
                  <a:off x="8256063" y="3157082"/>
                  <a:ext cx="503999" cy="36297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4F77F59F-52B6-87BE-4C9A-CC864E1714E7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V="1">
                  <a:off x="9265504" y="2429589"/>
                  <a:ext cx="503999" cy="36297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44554209-5329-AAF4-8967-1FB067C97394}"/>
                </a:ext>
              </a:extLst>
            </p:cNvPr>
            <p:cNvCxnSpPr>
              <a:cxnSpLocks/>
            </p:cNvCxnSpPr>
            <p:nvPr/>
          </p:nvCxnSpPr>
          <p:spPr>
            <a:xfrm>
              <a:off x="5556000" y="3606535"/>
              <a:ext cx="576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D0131FA-6303-86CD-5B10-FE35571C551E}"/>
                </a:ext>
              </a:extLst>
            </p:cNvPr>
            <p:cNvCxnSpPr>
              <a:cxnSpLocks/>
            </p:cNvCxnSpPr>
            <p:nvPr/>
          </p:nvCxnSpPr>
          <p:spPr>
            <a:xfrm>
              <a:off x="6950801" y="3605939"/>
              <a:ext cx="576000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465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181</Words>
  <Application>Microsoft Macintosh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Senner, Julia</dc:creator>
  <cp:lastModifiedBy>Senner, Julia</cp:lastModifiedBy>
  <cp:revision>2</cp:revision>
  <dcterms:created xsi:type="dcterms:W3CDTF">2026-10-06T23:42:05Z</dcterms:created>
  <dcterms:modified xsi:type="dcterms:W3CDTF">2026-10-23T01:05:59Z</dcterms:modified>
</cp:coreProperties>
</file>