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58"/>
    <p:restoredTop sz="94882"/>
  </p:normalViewPr>
  <p:slideViewPr>
    <p:cSldViewPr snapToGrid="0">
      <p:cViewPr>
        <p:scale>
          <a:sx n="48" d="100"/>
          <a:sy n="48" d="100"/>
        </p:scale>
        <p:origin x="2280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D549EE-776E-BA4B-BBDC-8B29B959F6FA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7B7BC8-77FD-874C-9FA0-3CFD3DBEDCD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1995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B7BC8-77FD-874C-9FA0-3CFD3DBEDCD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3049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50F4-ACD8-A3E0-6561-90F5DC603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FCB0F-393A-FDA5-3CA0-64FB69456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DBCE9-FF0D-1BFC-72C5-D5F30D7E8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F5D2B-50B8-7A7B-D241-8209160BB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B7BC8-77FD-874C-9FA0-3CFD3DBEDCD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275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BFBDB-0F78-38D4-2572-87B884DF12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C8D554-325C-E78E-F397-096E80A9B0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C5BDA-B215-11D1-A644-9CFB91542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1AE7F-0DA4-FF5D-CA1A-BE0FF6B37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1A2CE-F6D3-59AB-D3C4-9C50B416F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437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14A2-F5E7-B1EE-F12D-9F8E41EDA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62A9A-7294-25C3-FD03-1E7D12062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ACE7F-C5F8-461B-5BD7-CBD44E291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3C17D-4BCF-0444-3F7A-9BCEE700F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0FAB9-1BE5-3BD0-A8EC-7D788C044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2104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9CC3A-6806-D250-30A6-9A6516BE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DABE7-D44B-3D83-7CDC-93F5B2542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FBA59-E97C-9901-72AB-0E688C7B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FC256-A21E-5A54-06F0-E0AA55977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B4C28-A276-9BE3-C1D8-AA48EFD84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879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48D2D-E079-DB17-9341-64835CB44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5C76A-3DE6-F1FD-A248-2DD1A5C1E7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48A7D-CA52-DBB3-C165-ACCCF840D4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34ED8-DC77-8B05-6D77-0A656F1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F1571-41B9-CE7B-8A78-DBAF4E379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C49BF1-43C0-AAA1-E268-0C4807C29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8745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B9CE8-A66E-98F3-3DEF-7701A3A0F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FC349B-1E0B-280B-CE24-F750C965A7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5EF796-4A6D-5E0B-8C25-200348EFD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F43078-45B3-9576-D5D8-CA61A059E0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7F12F-380E-D30E-73CD-53879D9021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E59C5E-9802-E49A-245A-7EC4AAE97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3B196C-C1D5-B336-F4A3-EF509D322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BC5ADC-F3C4-0E0A-76FF-998D563A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2009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13DBA-C17D-C926-D2C0-CBD620B8B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2E2049-9E50-B37C-B713-5898CB2A8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80256-BDF1-85DD-57DA-A93923B91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EBE660-34E8-AD02-AB36-D89028B0B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9296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30E6E1-27FC-6459-0B86-1A9FE92D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B7EAC8-2267-063A-F209-59C13490B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CD199-294D-50AA-64DF-4DF32517E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273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C3DDA-1EEB-7421-31CD-76659246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93473-1F04-6A9D-7603-BF1F1CC80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6474F4-8058-331B-F686-C8B797C47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308CC8-B8CE-80BA-8C05-73E4B5648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7655E3-FAB1-5D48-4012-FD15B9944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F3605E-A994-6CDE-14F4-120FDEA79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8125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0DFF1-9D62-66B5-BE73-6EB1676AE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BC5431-670B-8753-F276-B0D089173B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29699-4AF9-31F1-F8A7-9F7D06DD0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75BCA-5A2A-49AA-A5E3-4AE7C01A3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9AC31-4434-3EB9-7367-B54323B34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991FD-8E09-D591-C0F4-5E397C04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6266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B50D2-3975-294C-832E-EC88DC22C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6EF0F6-6933-068F-166B-7A1238820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4F0EF-3485-EA12-8075-0723AE6E0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2F920-E8BB-D810-4CB7-9F06FA1F9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EA0E0-ACE0-F3EC-F739-B66FF3AC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966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0524A5-C07E-63B5-B47A-5EECAAF2DA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8142A-2ACD-70A7-7C1C-0C4CE9E8B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9D060-D0A0-4E3E-5F39-9FBE0F9AA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B71EA-D30C-91AC-5050-0E0C3250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A3F91-98F8-F291-C4A6-B61899813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7109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7BD678-75D4-D8E5-C7A3-841AD4AD2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F13644-E4EE-FBA0-00EB-83B24E980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189124-7C13-90AA-0BEF-55208A923D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E4BD98-D583-F44B-9086-A3B383D998D8}" type="datetimeFigureOut">
              <a:rPr lang="de-DE" smtClean="0"/>
              <a:t>09.10.26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F591F-C8AC-6135-C648-9B6C461A5D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C4A39-5547-423D-17B4-8A6F995F27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9A12DB-3DFD-4C44-95F7-0732D9DA08E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6695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sv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sv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56C5-91C8-787F-2F61-4CB85FD578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Enterprise Landscape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028C5-F0C4-08F7-8154-60EAA8DD7A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pragmatic</a:t>
            </a:r>
            <a:r>
              <a:rPr lang="de-DE" dirty="0"/>
              <a:t> </a:t>
            </a:r>
            <a:r>
              <a:rPr lang="de-DE" dirty="0" err="1"/>
              <a:t>formalization</a:t>
            </a:r>
            <a:r>
              <a:rPr lang="de-DE" dirty="0"/>
              <a:t> of EA-Know How</a:t>
            </a:r>
          </a:p>
        </p:txBody>
      </p:sp>
    </p:spTree>
    <p:extLst>
      <p:ext uri="{BB962C8B-B14F-4D97-AF65-F5344CB8AC3E}">
        <p14:creationId xmlns:p14="http://schemas.microsoft.com/office/powerpoint/2010/main" val="1405694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219DB3-DF6B-62BC-81DB-03F27C661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Davor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214294-D746-B6B0-6FF0-BFC13F0AB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800" dirty="0"/>
              <a:t>Um aus einer einzelnen Modellgrafik eine überzeugende Management- und Architektur-Storyline zu formen, empfiehlt sich ein klassischer Dreiklang: </a:t>
            </a:r>
            <a:r>
              <a:rPr lang="en-DE" sz="800" b="1" dirty="0"/>
              <a:t>Kontext &amp; Notwendigkeit (Davor) → Das Big Picture (Die vorliegende Folie) → Interaktion, Vertiefung &amp; Umsetzung (Danach)</a:t>
            </a:r>
            <a:r>
              <a:rPr lang="en-DE" sz="800" dirty="0"/>
              <a:t>.</a:t>
            </a:r>
          </a:p>
          <a:p>
            <a:r>
              <a:rPr lang="en-DE" sz="800" b="1" dirty="0"/>
              <a:t>A. Folien VOR der Visualisierung (Kontext &amp; Herleitung)</a:t>
            </a:r>
          </a:p>
          <a:p>
            <a:pPr lvl="0"/>
            <a:r>
              <a:rPr lang="en-DE" sz="800" b="1" dirty="0"/>
              <a:t>Folie 1: Ausgangslage &amp; Schmerzpunkte (Der Handlungsdruck)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Wachsende Komplexität gewachsener Systemlandschaften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Schafft das gemeinsame Problembewusstsein.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Typische Reibungsverluste: Enge Kopplung, unklare Datenhoheit, organisatorische Silos (Conway's Law als Bremse), fehlende Transparenz über Abhängigkeiten und Integrationswildwuchs.</a:t>
            </a:r>
          </a:p>
          <a:p>
            <a:pPr lvl="0"/>
            <a:r>
              <a:rPr lang="en-DE" sz="800" b="1" dirty="0"/>
              <a:t>Folie 2: Zielsetzung &amp; Funktion des Referenzmodells (Die drei Funktionen)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Ein Ordnungsrahmen für fundierte Architekturentscheidungen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Erklärt den methodischen Anspruch (gemäß EAM-Prinzipien).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</a:t>
            </a:r>
          </a:p>
          <a:p>
            <a:pPr lvl="2"/>
            <a:r>
              <a:rPr lang="en-DE" sz="800" i="1" dirty="0"/>
              <a:t>Normativ:</a:t>
            </a:r>
            <a:r>
              <a:rPr lang="en-DE" sz="800" dirty="0"/>
              <a:t> Definierte Schichten, Gateways und Entkopplungsregeln für die Zielarchitektur.</a:t>
            </a:r>
          </a:p>
          <a:p>
            <a:pPr lvl="2"/>
            <a:r>
              <a:rPr lang="en-DE" sz="800" i="1" dirty="0"/>
              <a:t>Diagnostisch:</a:t>
            </a:r>
            <a:r>
              <a:rPr lang="en-DE" sz="800" dirty="0"/>
              <a:t> Prüfraster für Reviews, um strukturelle Brüche und Legacy-Risiken objektiv aufzudecken.</a:t>
            </a:r>
          </a:p>
          <a:p>
            <a:pPr lvl="2"/>
            <a:r>
              <a:rPr lang="en-DE" sz="800" i="1" dirty="0"/>
              <a:t>Kommunikativ:</a:t>
            </a:r>
            <a:r>
              <a:rPr lang="en-DE" sz="800" dirty="0"/>
              <a:t> Gemeinsame Sprache zwischen Fachbereich, Enterprise Architecture und Engineering.</a:t>
            </a:r>
          </a:p>
          <a:p>
            <a:pPr lvl="0"/>
            <a:r>
              <a:rPr lang="en-DE" sz="800" b="1" dirty="0"/>
              <a:t>Folie 3: Leitidee &amp; Paradigmenwechsel (Der konzeptionelle Shift)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Die drei Paradigmen einer evolvierbaren Unternehmenslandschaft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Bereitet das Gehirn der Zuhörer auf das Modell vor, bevor das Bild gezeigt wird.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</a:t>
            </a:r>
          </a:p>
          <a:p>
            <a:pPr lvl="2"/>
            <a:r>
              <a:rPr lang="en-DE" sz="800" i="1" dirty="0"/>
              <a:t>Capability-First:</a:t>
            </a:r>
            <a:r>
              <a:rPr lang="en-DE" sz="800" dirty="0"/>
              <a:t> Software folgt stabilen Fähigkeiten, nicht temporären Organigrammen.</a:t>
            </a:r>
          </a:p>
          <a:p>
            <a:pPr lvl="2"/>
            <a:r>
              <a:rPr lang="en-DE" sz="800" i="1" dirty="0"/>
              <a:t>Data as a Product:</a:t>
            </a:r>
            <a:r>
              <a:rPr lang="en-DE" sz="800" dirty="0"/>
              <a:t> Daten als eigenständiges Wirtschaftsgut mit klarem Ownership, nicht als Abfallprodukt von Applikationen.</a:t>
            </a:r>
          </a:p>
          <a:p>
            <a:pPr lvl="2"/>
            <a:r>
              <a:rPr lang="en-DE" sz="800" i="1" dirty="0"/>
              <a:t>Gateway-Entkopplung:</a:t>
            </a:r>
            <a:r>
              <a:rPr lang="en-DE" sz="800" dirty="0"/>
              <a:t> Klare Isolierung des operativen Kerns nach außen.</a:t>
            </a:r>
          </a:p>
          <a:p>
            <a:endParaRPr lang="de-DE" sz="800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6829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8CFC110-A1F7-DB66-1E61-36CD0CDA4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59217" cy="671360"/>
          </a:xfrm>
        </p:spPr>
        <p:txBody>
          <a:bodyPr>
            <a:normAutofit/>
          </a:bodyPr>
          <a:lstStyle/>
          <a:p>
            <a:r>
              <a:rPr lang="de-DE" sz="3200" b="1" dirty="0"/>
              <a:t>Ausgangslage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981FE4E-25A5-74FE-F2DA-E13C9DAB8F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53228"/>
            <a:ext cx="4790162" cy="49396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b="1" dirty="0"/>
              <a:t>Typische Reibungsverluste</a:t>
            </a:r>
          </a:p>
          <a:p>
            <a:pPr marL="0" indent="0">
              <a:buNone/>
            </a:pPr>
            <a:r>
              <a:rPr lang="de-DE" sz="1200" dirty="0"/>
              <a:t>Enge Kopplung, unklare Datenhoheit, organisatorische Silos (</a:t>
            </a:r>
            <a:r>
              <a:rPr lang="de-DE" sz="1200" dirty="0" err="1"/>
              <a:t>Conway's</a:t>
            </a:r>
            <a:r>
              <a:rPr lang="de-DE" sz="1200" dirty="0"/>
              <a:t> Law als Bremse), fehlende Transparenz über Abhängigkeiten und Integrationswildwuchs.</a:t>
            </a:r>
          </a:p>
          <a:p>
            <a:pPr marL="0" indent="0">
              <a:buNone/>
            </a:pPr>
            <a:endParaRPr lang="de-DE" sz="1200" dirty="0"/>
          </a:p>
          <a:p>
            <a:pPr marL="0" indent="0">
              <a:buNone/>
            </a:pPr>
            <a:r>
              <a:rPr lang="de-DE" sz="1200" b="1" dirty="0"/>
              <a:t>Aktuelle Herausforderung</a:t>
            </a:r>
          </a:p>
          <a:p>
            <a:pPr marL="0" indent="0">
              <a:buNone/>
            </a:pPr>
            <a:r>
              <a:rPr lang="de-DE" sz="1200" dirty="0"/>
              <a:t>Schaffen eines gemeinsamen Problembewusstseins und Methoden für dessen Einordnung und Quantifizierung</a:t>
            </a:r>
          </a:p>
          <a:p>
            <a:pPr marL="0" indent="0">
              <a:buNone/>
            </a:pPr>
            <a:endParaRPr lang="de-DE" sz="1200" dirty="0"/>
          </a:p>
          <a:p>
            <a:pPr marL="0" indent="0">
              <a:buNone/>
            </a:pPr>
            <a:endParaRPr lang="de-DE" sz="1200" dirty="0"/>
          </a:p>
          <a:p>
            <a:pPr marL="0" indent="0">
              <a:buNone/>
            </a:pPr>
            <a:endParaRPr lang="de-DE" sz="1200" dirty="0"/>
          </a:p>
          <a:p>
            <a:pPr marL="0" indent="0">
              <a:buNone/>
            </a:pPr>
            <a:endParaRPr lang="de-DE" sz="1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6F84EBA-1A67-8696-F2A8-CDF0A46F4E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63638" y="1553228"/>
            <a:ext cx="4790162" cy="49396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b="1" dirty="0"/>
              <a:t>Ein Ordnungsrahmen für fundierte Architekturentscheidungen</a:t>
            </a:r>
          </a:p>
          <a:p>
            <a:r>
              <a:rPr lang="de-DE" sz="1200" b="1" dirty="0"/>
              <a:t>Normativ: </a:t>
            </a:r>
            <a:r>
              <a:rPr lang="de-DE" sz="1200" dirty="0"/>
              <a:t>Definierte Schichten, Gateways und Entkopplungsregeln für die Zielarchitektur.</a:t>
            </a:r>
          </a:p>
          <a:p>
            <a:r>
              <a:rPr lang="de-DE" sz="1200" b="1" dirty="0"/>
              <a:t>Diagnostisch: </a:t>
            </a:r>
            <a:r>
              <a:rPr lang="de-DE" sz="1200" dirty="0"/>
              <a:t>Prüfraster für Reviews, um strukturelle Brüche und Legacy-Risiken objektiv aufzudecken.</a:t>
            </a:r>
          </a:p>
          <a:p>
            <a:r>
              <a:rPr lang="de-DE" sz="1200" b="1" dirty="0"/>
              <a:t>Kommunikativ: </a:t>
            </a:r>
            <a:r>
              <a:rPr lang="de-DE" sz="1200" dirty="0"/>
              <a:t>Gemeinsame Sprache zwischen Fachbereich, Enterprise Architecture und Engineering.</a:t>
            </a:r>
          </a:p>
          <a:p>
            <a:endParaRPr lang="de-DE" sz="1200" dirty="0"/>
          </a:p>
          <a:p>
            <a:pPr marL="0" indent="0">
              <a:buNone/>
            </a:pPr>
            <a:r>
              <a:rPr lang="de-DE" sz="1200" b="1" dirty="0"/>
              <a:t>Leitidee &amp; Paradigmenwechsel</a:t>
            </a:r>
          </a:p>
          <a:p>
            <a:r>
              <a:rPr lang="de-DE" sz="1200" b="1" dirty="0" err="1"/>
              <a:t>Capability</a:t>
            </a:r>
            <a:r>
              <a:rPr lang="de-DE" sz="1200" b="1" dirty="0"/>
              <a:t>-First:</a:t>
            </a:r>
            <a:r>
              <a:rPr lang="de-DE" sz="1200" dirty="0"/>
              <a:t> Software folgt stabilen Fähigkeiten, nicht temporären Organigrammen oder Prozessen</a:t>
            </a:r>
          </a:p>
          <a:p>
            <a:r>
              <a:rPr lang="de-DE" sz="1200" b="1" dirty="0"/>
              <a:t>Data as a </a:t>
            </a:r>
            <a:r>
              <a:rPr lang="de-DE" sz="1200" b="1" dirty="0" err="1"/>
              <a:t>Product</a:t>
            </a:r>
            <a:r>
              <a:rPr lang="de-DE" sz="1200" b="1" dirty="0"/>
              <a:t>:</a:t>
            </a:r>
            <a:r>
              <a:rPr lang="de-DE" sz="1200" dirty="0"/>
              <a:t> Daten als eigenständiges Wirtschaftsgut mit klarem Ownership, nicht als Abfallprodukt von Applikationen.</a:t>
            </a:r>
          </a:p>
          <a:p>
            <a:r>
              <a:rPr lang="de-DE" sz="1200" b="1" dirty="0"/>
              <a:t>Gateway-Enkopplung:</a:t>
            </a:r>
            <a:r>
              <a:rPr lang="de-DE" sz="1200" dirty="0"/>
              <a:t> Klare Isolierung des operativen Kerns nach außen.</a:t>
            </a:r>
            <a:endParaRPr lang="de-DE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531268-4C31-6AE3-146E-EBF4A4648BC8}"/>
              </a:ext>
            </a:extLst>
          </p:cNvPr>
          <p:cNvSpPr txBox="1"/>
          <p:nvPr/>
        </p:nvSpPr>
        <p:spPr>
          <a:xfrm>
            <a:off x="989556" y="32943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C4E3DB5-4871-CA4F-A43B-B34B3694B16C}"/>
              </a:ext>
            </a:extLst>
          </p:cNvPr>
          <p:cNvSpPr txBox="1">
            <a:spLocks/>
          </p:cNvSpPr>
          <p:nvPr/>
        </p:nvSpPr>
        <p:spPr>
          <a:xfrm>
            <a:off x="6694585" y="365126"/>
            <a:ext cx="4659217" cy="671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de-DE" sz="3200" b="1" dirty="0"/>
              <a:t>Referenzmodell</a:t>
            </a:r>
          </a:p>
        </p:txBody>
      </p:sp>
    </p:spTree>
    <p:extLst>
      <p:ext uri="{BB962C8B-B14F-4D97-AF65-F5344CB8AC3E}">
        <p14:creationId xmlns:p14="http://schemas.microsoft.com/office/powerpoint/2010/main" val="4121345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5">
            <a:extLst>
              <a:ext uri="{FF2B5EF4-FFF2-40B4-BE49-F238E27FC236}">
                <a16:creationId xmlns:a16="http://schemas.microsoft.com/office/drawing/2014/main" id="{F82B8761-1F10-C0F3-68CF-670E075D5EFE}"/>
              </a:ext>
            </a:extLst>
          </p:cNvPr>
          <p:cNvSpPr txBox="1">
            <a:spLocks/>
          </p:cNvSpPr>
          <p:nvPr/>
        </p:nvSpPr>
        <p:spPr>
          <a:xfrm>
            <a:off x="786117" y="380012"/>
            <a:ext cx="4659217" cy="6713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b="1" dirty="0"/>
              <a:t>Reference Model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20690E24-0C27-3675-4850-5BFB6F0A3511}"/>
              </a:ext>
            </a:extLst>
          </p:cNvPr>
          <p:cNvSpPr txBox="1">
            <a:spLocks/>
          </p:cNvSpPr>
          <p:nvPr/>
        </p:nvSpPr>
        <p:spPr>
          <a:xfrm>
            <a:off x="838199" y="1553228"/>
            <a:ext cx="3921691" cy="49396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Das Referenzmodell verbindet Geschäftsstrategie, Wertschöpfung, Softwarelandschaft, Daten und Plattformbetrieb zu einem tragfähigen Gesamtsystem. Es dient als normatives Zielbild und diagnostisches Prüfraster für Reviews.</a:t>
            </a:r>
          </a:p>
          <a:p>
            <a:endParaRPr lang="de-DE" sz="1200" b="1" dirty="0"/>
          </a:p>
          <a:p>
            <a:pPr marL="228600" indent="-228600">
              <a:buAutoNum type="arabicPeriod"/>
            </a:pPr>
            <a:r>
              <a:rPr lang="de-DE" sz="1200" b="1" dirty="0"/>
              <a:t>Fach- und Systemausrichtung (Tier 2 &amp; 3)</a:t>
            </a:r>
            <a:br>
              <a:rPr lang="de-DE" sz="1200" b="1" dirty="0"/>
            </a:br>
            <a:r>
              <a:rPr lang="de-DE" sz="1200" dirty="0"/>
              <a:t>Stabile Business </a:t>
            </a:r>
            <a:r>
              <a:rPr lang="de-DE" sz="1200" dirty="0" err="1"/>
              <a:t>Capabilities</a:t>
            </a:r>
            <a:r>
              <a:rPr lang="de-DE" sz="1200" dirty="0"/>
              <a:t> und Geschäftsprozesse strukturieren modulare Services und kapseln gewachsene Bestandsmonolithen.</a:t>
            </a:r>
          </a:p>
          <a:p>
            <a:pPr marL="228600" indent="-228600">
              <a:buAutoNum type="arabicPeriod"/>
            </a:pPr>
            <a:r>
              <a:rPr lang="de-DE" sz="1200" b="1" dirty="0"/>
              <a:t>Domänenzentrierte Datenarchitektur (Tier 4)</a:t>
            </a:r>
            <a:br>
              <a:rPr lang="de-DE" sz="1200" b="1" dirty="0"/>
            </a:br>
            <a:r>
              <a:rPr lang="de-DE" sz="1200" dirty="0"/>
              <a:t>Klare </a:t>
            </a:r>
            <a:r>
              <a:rPr lang="de-DE" sz="1200" dirty="0" err="1"/>
              <a:t>Bounded</a:t>
            </a:r>
            <a:r>
              <a:rPr lang="de-DE" sz="1200" dirty="0"/>
              <a:t> </a:t>
            </a:r>
            <a:r>
              <a:rPr lang="de-DE" sz="1200" dirty="0" err="1"/>
              <a:t>Contexts</a:t>
            </a:r>
            <a:r>
              <a:rPr lang="de-DE" sz="1200" dirty="0"/>
              <a:t>, kontextbezogene Semantik und autonome Datenprodukte lösen intransparente Datenstrukturen auf.</a:t>
            </a:r>
          </a:p>
          <a:p>
            <a:pPr marL="228600" indent="-228600">
              <a:buAutoNum type="arabicPeriod"/>
            </a:pPr>
            <a:r>
              <a:rPr lang="de-DE" sz="1200" b="1" dirty="0"/>
              <a:t>Standardisiertes Plattformfundament (Tier 5)</a:t>
            </a:r>
            <a:br>
              <a:rPr lang="de-DE" sz="1200" b="1" dirty="0"/>
            </a:br>
            <a:r>
              <a:rPr lang="de-DE" sz="1200" dirty="0"/>
              <a:t>Einheitliche Basis für Betrieb, </a:t>
            </a:r>
            <a:r>
              <a:rPr lang="de-DE" sz="1200" dirty="0" err="1"/>
              <a:t>Observability</a:t>
            </a:r>
            <a:r>
              <a:rPr lang="de-DE" sz="1200" dirty="0"/>
              <a:t> und Zero Trust Security, organisiert als internes Plattformprodukt.</a:t>
            </a:r>
          </a:p>
          <a:p>
            <a:pPr marL="228600" indent="-228600">
              <a:buAutoNum type="arabicPeriod"/>
            </a:pPr>
            <a:r>
              <a:rPr lang="de-DE" sz="1200" b="1" dirty="0"/>
              <a:t>Entkopplungsgateways &amp; Leitplanken (Tier 1 &amp; Guiding </a:t>
            </a:r>
            <a:r>
              <a:rPr lang="de-DE" sz="1200" b="1" dirty="0" err="1"/>
              <a:t>Principles</a:t>
            </a:r>
            <a:r>
              <a:rPr lang="de-DE" sz="1200" b="1" dirty="0"/>
              <a:t>)</a:t>
            </a:r>
            <a:br>
              <a:rPr lang="de-DE" sz="1200" b="1" dirty="0"/>
            </a:br>
            <a:r>
              <a:rPr lang="de-DE" sz="1200" dirty="0"/>
              <a:t>Experience und Integration isolieren den operativen Kern von Kanal- und Partnerwechseln. Verbindliche Guiding </a:t>
            </a:r>
            <a:r>
              <a:rPr lang="de-DE" sz="1200" dirty="0" err="1"/>
              <a:t>Principles</a:t>
            </a:r>
            <a:r>
              <a:rPr lang="de-DE" sz="1200" dirty="0"/>
              <a:t> steuern Design und Sourcing.</a:t>
            </a:r>
          </a:p>
          <a:p>
            <a:endParaRPr lang="de-DE" sz="1200" dirty="0"/>
          </a:p>
          <a:p>
            <a:endParaRPr lang="de-DE" sz="1200" dirty="0"/>
          </a:p>
          <a:p>
            <a:endParaRPr lang="de-DE" sz="1200" dirty="0"/>
          </a:p>
        </p:txBody>
      </p:sp>
      <p:sp>
        <p:nvSpPr>
          <p:cNvPr id="157" name="Title 5">
            <a:extLst>
              <a:ext uri="{FF2B5EF4-FFF2-40B4-BE49-F238E27FC236}">
                <a16:creationId xmlns:a16="http://schemas.microsoft.com/office/drawing/2014/main" id="{9F35A2CE-803D-F5B3-93EA-141748410599}"/>
              </a:ext>
            </a:extLst>
          </p:cNvPr>
          <p:cNvSpPr txBox="1">
            <a:spLocks/>
          </p:cNvSpPr>
          <p:nvPr/>
        </p:nvSpPr>
        <p:spPr>
          <a:xfrm>
            <a:off x="840035" y="1036486"/>
            <a:ext cx="3979626" cy="287515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1400" b="1" dirty="0"/>
              <a:t>Enterprise Landscape Model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1CA1AC8-8E26-D902-4F24-42BBDCCCA4AE}"/>
              </a:ext>
            </a:extLst>
          </p:cNvPr>
          <p:cNvGrpSpPr/>
          <p:nvPr/>
        </p:nvGrpSpPr>
        <p:grpSpPr>
          <a:xfrm>
            <a:off x="5150266" y="1036486"/>
            <a:ext cx="6762865" cy="5143944"/>
            <a:chOff x="5294644" y="273247"/>
            <a:chExt cx="6762865" cy="514394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6029F64-4F16-2242-D859-B83DD0E49C76}"/>
                </a:ext>
              </a:extLst>
            </p:cNvPr>
            <p:cNvGrpSpPr/>
            <p:nvPr/>
          </p:nvGrpSpPr>
          <p:grpSpPr>
            <a:xfrm>
              <a:off x="5294644" y="273247"/>
              <a:ext cx="6762865" cy="5143944"/>
              <a:chOff x="5273704" y="978243"/>
              <a:chExt cx="6762865" cy="5143944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9734467-5D1F-DCD4-8424-A3551A26F630}"/>
                  </a:ext>
                </a:extLst>
              </p:cNvPr>
              <p:cNvGrpSpPr/>
              <p:nvPr/>
            </p:nvGrpSpPr>
            <p:grpSpPr>
              <a:xfrm>
                <a:off x="5273704" y="978243"/>
                <a:ext cx="6762865" cy="5143944"/>
                <a:chOff x="5273704" y="978243"/>
                <a:chExt cx="6762865" cy="5143944"/>
              </a:xfrm>
            </p:grpSpPr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02446D4-62E6-D69C-EA74-6228FF8F8E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26959" y="2206651"/>
                  <a:ext cx="1498740" cy="1079371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E72F389-0B9A-526E-95CD-00FFA1CE813B}"/>
                    </a:ext>
                  </a:extLst>
                </p:cNvPr>
                <p:cNvSpPr/>
                <p:nvPr/>
              </p:nvSpPr>
              <p:spPr>
                <a:xfrm rot="19440000">
                  <a:off x="8758486" y="2542468"/>
                  <a:ext cx="499814" cy="4839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10395932-9330-A2B5-1E27-1F3B31BC9956}"/>
                    </a:ext>
                  </a:extLst>
                </p:cNvPr>
                <p:cNvGrpSpPr/>
                <p:nvPr/>
              </p:nvGrpSpPr>
              <p:grpSpPr>
                <a:xfrm>
                  <a:off x="5288056" y="988834"/>
                  <a:ext cx="5248650" cy="1128787"/>
                  <a:chOff x="5953075" y="1293779"/>
                  <a:chExt cx="5248650" cy="972767"/>
                </a:xfrm>
              </p:grpSpPr>
              <p:sp>
                <p:nvSpPr>
                  <p:cNvPr id="13" name="Rounded Rectangle 12">
                    <a:extLst>
                      <a:ext uri="{FF2B5EF4-FFF2-40B4-BE49-F238E27FC236}">
                        <a16:creationId xmlns:a16="http://schemas.microsoft.com/office/drawing/2014/main" id="{84F8F51E-163F-0CB9-C24D-8E35B18B3DD3}"/>
                      </a:ext>
                    </a:extLst>
                  </p:cNvPr>
                  <p:cNvSpPr/>
                  <p:nvPr/>
                </p:nvSpPr>
                <p:spPr>
                  <a:xfrm>
                    <a:off x="5953075" y="1293780"/>
                    <a:ext cx="5248650" cy="972766"/>
                  </a:xfrm>
                  <a:prstGeom prst="roundRect">
                    <a:avLst/>
                  </a:prstGeom>
                  <a:noFill/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  <p:sp>
                <p:nvSpPr>
                  <p:cNvPr id="14" name="Round Same-side Corner of Rectangle 13">
                    <a:extLst>
                      <a:ext uri="{FF2B5EF4-FFF2-40B4-BE49-F238E27FC236}">
                        <a16:creationId xmlns:a16="http://schemas.microsoft.com/office/drawing/2014/main" id="{5371DA96-5413-7B1F-93CA-90E0D8A7125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623970" y="1622885"/>
                    <a:ext cx="972766" cy="3145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b="1" noProof="0" dirty="0"/>
                      <a:t>Governance</a:t>
                    </a: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695F6A48-2E1E-E0FB-EA6B-3E0399FECC04}"/>
                    </a:ext>
                  </a:extLst>
                </p:cNvPr>
                <p:cNvGrpSpPr/>
                <p:nvPr/>
              </p:nvGrpSpPr>
              <p:grpSpPr>
                <a:xfrm>
                  <a:off x="5288055" y="4993400"/>
                  <a:ext cx="5248649" cy="1128787"/>
                  <a:chOff x="5953074" y="1293779"/>
                  <a:chExt cx="5248649" cy="972767"/>
                </a:xfrm>
              </p:grpSpPr>
              <p:sp>
                <p:nvSpPr>
                  <p:cNvPr id="17" name="Rounded Rectangle 16">
                    <a:extLst>
                      <a:ext uri="{FF2B5EF4-FFF2-40B4-BE49-F238E27FC236}">
                        <a16:creationId xmlns:a16="http://schemas.microsoft.com/office/drawing/2014/main" id="{A5F5D80C-8091-5DE0-4844-D5515F734E67}"/>
                      </a:ext>
                    </a:extLst>
                  </p:cNvPr>
                  <p:cNvSpPr/>
                  <p:nvPr/>
                </p:nvSpPr>
                <p:spPr>
                  <a:xfrm>
                    <a:off x="5953074" y="1293780"/>
                    <a:ext cx="5248649" cy="972766"/>
                  </a:xfrm>
                  <a:prstGeom prst="roundRect">
                    <a:avLst/>
                  </a:prstGeom>
                  <a:noFill/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  <p:sp>
                <p:nvSpPr>
                  <p:cNvPr id="18" name="Round Same-side Corner of Rectangle 17">
                    <a:extLst>
                      <a:ext uri="{FF2B5EF4-FFF2-40B4-BE49-F238E27FC236}">
                        <a16:creationId xmlns:a16="http://schemas.microsoft.com/office/drawing/2014/main" id="{26A4CD1F-BF02-824A-5D24-C7F96FC2A31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623970" y="1622885"/>
                    <a:ext cx="972766" cy="3145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b="1" noProof="0" dirty="0"/>
                      <a:t>Foundation</a:t>
                    </a:r>
                  </a:p>
                </p:txBody>
              </p: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EE92B517-DBD6-4789-C3FB-45936E105B51}"/>
                    </a:ext>
                  </a:extLst>
                </p:cNvPr>
                <p:cNvGrpSpPr/>
                <p:nvPr/>
              </p:nvGrpSpPr>
              <p:grpSpPr>
                <a:xfrm>
                  <a:off x="10671031" y="978243"/>
                  <a:ext cx="1365538" cy="5133352"/>
                  <a:chOff x="8916768" y="2942618"/>
                  <a:chExt cx="1365538" cy="5133352"/>
                </a:xfrm>
              </p:grpSpPr>
              <p:sp>
                <p:nvSpPr>
                  <p:cNvPr id="20" name="Rounded Rectangle 19">
                    <a:extLst>
                      <a:ext uri="{FF2B5EF4-FFF2-40B4-BE49-F238E27FC236}">
                        <a16:creationId xmlns:a16="http://schemas.microsoft.com/office/drawing/2014/main" id="{D687D6D7-585A-962B-8DE7-C32DD07DEE47}"/>
                      </a:ext>
                    </a:extLst>
                  </p:cNvPr>
                  <p:cNvSpPr/>
                  <p:nvPr/>
                </p:nvSpPr>
                <p:spPr>
                  <a:xfrm>
                    <a:off x="8916768" y="2942618"/>
                    <a:ext cx="1365538" cy="5133352"/>
                  </a:xfrm>
                  <a:prstGeom prst="roundRect">
                    <a:avLst/>
                  </a:prstGeom>
                  <a:noFill/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  <p:sp>
                <p:nvSpPr>
                  <p:cNvPr id="21" name="Round Same-side Corner of Rectangle 20">
                    <a:extLst>
                      <a:ext uri="{FF2B5EF4-FFF2-40B4-BE49-F238E27FC236}">
                        <a16:creationId xmlns:a16="http://schemas.microsoft.com/office/drawing/2014/main" id="{F1C5A1BD-1C70-04C7-DCA4-98804612C2E5}"/>
                      </a:ext>
                    </a:extLst>
                  </p:cNvPr>
                  <p:cNvSpPr/>
                  <p:nvPr/>
                </p:nvSpPr>
                <p:spPr>
                  <a:xfrm>
                    <a:off x="8916768" y="2942618"/>
                    <a:ext cx="1365538" cy="3145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b="1" noProof="0" dirty="0"/>
                      <a:t>Guiding Principles</a:t>
                    </a:r>
                  </a:p>
                </p:txBody>
              </p:sp>
            </p:grpSp>
            <p:sp>
              <p:nvSpPr>
                <p:cNvPr id="23" name="Round Same-side Corner of Rectangle 22">
                  <a:extLst>
                    <a:ext uri="{FF2B5EF4-FFF2-40B4-BE49-F238E27FC236}">
                      <a16:creationId xmlns:a16="http://schemas.microsoft.com/office/drawing/2014/main" id="{3C8A0E7C-94DC-C04D-A79B-DD6783B8AA20}"/>
                    </a:ext>
                  </a:extLst>
                </p:cNvPr>
                <p:cNvSpPr/>
                <p:nvPr/>
              </p:nvSpPr>
              <p:spPr>
                <a:xfrm rot="16200000">
                  <a:off x="4820871" y="4080901"/>
                  <a:ext cx="1220220" cy="31455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noProof="0" dirty="0"/>
                    <a:t>System Layer</a:t>
                  </a:r>
                </a:p>
              </p:txBody>
            </p:sp>
            <p:sp>
              <p:nvSpPr>
                <p:cNvPr id="24" name="Round Same-side Corner of Rectangle 23">
                  <a:extLst>
                    <a:ext uri="{FF2B5EF4-FFF2-40B4-BE49-F238E27FC236}">
                      <a16:creationId xmlns:a16="http://schemas.microsoft.com/office/drawing/2014/main" id="{FC3F35A8-2C1C-D3C3-1904-7D67C869D028}"/>
                    </a:ext>
                  </a:extLst>
                </p:cNvPr>
                <p:cNvSpPr/>
                <p:nvPr/>
              </p:nvSpPr>
              <p:spPr>
                <a:xfrm rot="16200000">
                  <a:off x="4820871" y="2715568"/>
                  <a:ext cx="1220220" cy="31455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noProof="0" dirty="0"/>
                    <a:t>Business Layer</a:t>
                  </a:r>
                </a:p>
              </p:txBody>
            </p:sp>
            <p:sp>
              <p:nvSpPr>
                <p:cNvPr id="25" name="Round Same-side Corner of Rectangle 24">
                  <a:extLst>
                    <a:ext uri="{FF2B5EF4-FFF2-40B4-BE49-F238E27FC236}">
                      <a16:creationId xmlns:a16="http://schemas.microsoft.com/office/drawing/2014/main" id="{4F041631-1CF8-72A2-76BA-523CFF1C5310}"/>
                    </a:ext>
                  </a:extLst>
                </p:cNvPr>
                <p:cNvSpPr/>
                <p:nvPr/>
              </p:nvSpPr>
              <p:spPr>
                <a:xfrm rot="5400000">
                  <a:off x="9086652" y="3395264"/>
                  <a:ext cx="2585554" cy="31455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noProof="0" dirty="0"/>
                    <a:t>Data Layer</a:t>
                  </a:r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552CA71-C10E-A5CE-5F86-6BB3F63F90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77786" y="3544919"/>
                  <a:ext cx="1972694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4C625222-D1C7-B068-BE76-ABCE76F833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26959" y="3803904"/>
                  <a:ext cx="1498112" cy="1079283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41" name="Graphic 40" descr="Continuous Improvement with solid fill">
                  <a:extLst>
                    <a:ext uri="{FF2B5EF4-FFF2-40B4-BE49-F238E27FC236}">
                      <a16:creationId xmlns:a16="http://schemas.microsoft.com/office/drawing/2014/main" id="{E2483313-B686-AC7A-6B5B-75DC06465E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08198" y="3368930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45" name="Graphic 44" descr="Handshake with solid fill">
                  <a:extLst>
                    <a:ext uri="{FF2B5EF4-FFF2-40B4-BE49-F238E27FC236}">
                      <a16:creationId xmlns:a16="http://schemas.microsoft.com/office/drawing/2014/main" id="{83C2852B-995C-7A44-6194-70AE66B1200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89178" y="4060844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49" name="Graphic 48" descr="Atom with solid fill">
                  <a:extLst>
                    <a:ext uri="{FF2B5EF4-FFF2-40B4-BE49-F238E27FC236}">
                      <a16:creationId xmlns:a16="http://schemas.microsoft.com/office/drawing/2014/main" id="{1E96AADF-5477-E2FA-464D-0E722B17C36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47013" y="5209524"/>
                  <a:ext cx="403582" cy="403582"/>
                </a:xfrm>
                <a:prstGeom prst="rect">
                  <a:avLst/>
                </a:prstGeom>
              </p:spPr>
            </p:pic>
            <p:pic>
              <p:nvPicPr>
                <p:cNvPr id="55" name="Graphic 54" descr="Binoculars with solid fill">
                  <a:extLst>
                    <a:ext uri="{FF2B5EF4-FFF2-40B4-BE49-F238E27FC236}">
                      <a16:creationId xmlns:a16="http://schemas.microsoft.com/office/drawing/2014/main" id="{05BA0FC6-8E21-F718-BF7A-8998984836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51738" y="5209524"/>
                  <a:ext cx="403581" cy="403581"/>
                </a:xfrm>
                <a:prstGeom prst="rect">
                  <a:avLst/>
                </a:prstGeom>
              </p:spPr>
            </p:pic>
            <p:pic>
              <p:nvPicPr>
                <p:cNvPr id="57" name="Graphic 56" descr="Blockchain with solid fill">
                  <a:extLst>
                    <a:ext uri="{FF2B5EF4-FFF2-40B4-BE49-F238E27FC236}">
                      <a16:creationId xmlns:a16="http://schemas.microsoft.com/office/drawing/2014/main" id="{57C03082-6DC6-F3AF-ED62-26CEB9FE87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04255" y="4230754"/>
                  <a:ext cx="398978" cy="398978"/>
                </a:xfrm>
                <a:prstGeom prst="rect">
                  <a:avLst/>
                </a:prstGeom>
              </p:spPr>
            </p:pic>
            <p:pic>
              <p:nvPicPr>
                <p:cNvPr id="69" name="Graphic 68" descr="Building Brick Wall with solid fill">
                  <a:extLst>
                    <a:ext uri="{FF2B5EF4-FFF2-40B4-BE49-F238E27FC236}">
                      <a16:creationId xmlns:a16="http://schemas.microsoft.com/office/drawing/2014/main" id="{409798E8-3FA7-B356-217D-DE63EA5FE4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98908" y="5214400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71" name="Graphic 70" descr="Bullseye with solid fill">
                  <a:extLst>
                    <a:ext uri="{FF2B5EF4-FFF2-40B4-BE49-F238E27FC236}">
                      <a16:creationId xmlns:a16="http://schemas.microsoft.com/office/drawing/2014/main" id="{1FE56B71-D369-4F7C-52D7-4C8615359C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86608" y="1244831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83" name="Graphic 82" descr="City with solid fill">
                  <a:extLst>
                    <a:ext uri="{FF2B5EF4-FFF2-40B4-BE49-F238E27FC236}">
                      <a16:creationId xmlns:a16="http://schemas.microsoft.com/office/drawing/2014/main" id="{ACE30DF2-FCE8-FB5F-6A2D-57B0ED0F5B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041297" y="2431734"/>
                  <a:ext cx="625009" cy="625009"/>
                </a:xfrm>
                <a:prstGeom prst="rect">
                  <a:avLst/>
                </a:prstGeom>
              </p:spPr>
            </p:pic>
            <p:pic>
              <p:nvPicPr>
                <p:cNvPr id="85" name="Graphic 84" descr="Clipboard Badge with solid fill">
                  <a:extLst>
                    <a:ext uri="{FF2B5EF4-FFF2-40B4-BE49-F238E27FC236}">
                      <a16:creationId xmlns:a16="http://schemas.microsoft.com/office/drawing/2014/main" id="{501F57E3-50DB-3D86-AEBF-4435D0FE6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755113" y="1244831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87" name="Graphic 86" descr="Clipboard All Crosses with solid fill">
                  <a:extLst>
                    <a:ext uri="{FF2B5EF4-FFF2-40B4-BE49-F238E27FC236}">
                      <a16:creationId xmlns:a16="http://schemas.microsoft.com/office/drawing/2014/main" id="{795B9D2F-B548-C15B-CD52-AAFBB46DD75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32940" y="1244831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91" name="Graphic 90" descr="Cloud Computing with solid fill">
                  <a:extLst>
                    <a:ext uri="{FF2B5EF4-FFF2-40B4-BE49-F238E27FC236}">
                      <a16:creationId xmlns:a16="http://schemas.microsoft.com/office/drawing/2014/main" id="{3A6775BC-FA25-8580-089C-0DA2A05F61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97125" y="5210158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93" name="Graphic 92" descr="Connections with solid fill">
                  <a:extLst>
                    <a:ext uri="{FF2B5EF4-FFF2-40B4-BE49-F238E27FC236}">
                      <a16:creationId xmlns:a16="http://schemas.microsoft.com/office/drawing/2014/main" id="{5F24333B-00BD-0C94-7022-E6F04A67BF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97737" y="1247786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95" name="Graphic 94" descr="Cube with solid fill">
                  <a:extLst>
                    <a:ext uri="{FF2B5EF4-FFF2-40B4-BE49-F238E27FC236}">
                      <a16:creationId xmlns:a16="http://schemas.microsoft.com/office/drawing/2014/main" id="{36247CFE-4ACA-4D7C-A0B5-F88A891267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94788" y="3366896"/>
                  <a:ext cx="398412" cy="398412"/>
                </a:xfrm>
                <a:prstGeom prst="rect">
                  <a:avLst/>
                </a:prstGeom>
              </p:spPr>
            </p:pic>
            <p:pic>
              <p:nvPicPr>
                <p:cNvPr id="99" name="Graphic 98" descr="Database with solid fill">
                  <a:extLst>
                    <a:ext uri="{FF2B5EF4-FFF2-40B4-BE49-F238E27FC236}">
                      <a16:creationId xmlns:a16="http://schemas.microsoft.com/office/drawing/2014/main" id="{62F1049E-E8B9-6C79-110B-A5BEC87362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847458" y="5210157"/>
                  <a:ext cx="398413" cy="398413"/>
                </a:xfrm>
                <a:prstGeom prst="rect">
                  <a:avLst/>
                </a:prstGeom>
              </p:spPr>
            </p:pic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76258B62-9464-6A58-4990-81A9ADA5027B}"/>
                    </a:ext>
                  </a:extLst>
                </p:cNvPr>
                <p:cNvSpPr txBox="1"/>
                <p:nvPr/>
              </p:nvSpPr>
              <p:spPr>
                <a:xfrm>
                  <a:off x="7690484" y="3680622"/>
                  <a:ext cx="603050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Domains</a:t>
                  </a:r>
                </a:p>
              </p:txBody>
            </p:sp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7BCCF129-B04E-5E05-78CD-42F9D56821EE}"/>
                    </a:ext>
                  </a:extLst>
                </p:cNvPr>
                <p:cNvSpPr txBox="1"/>
                <p:nvPr/>
              </p:nvSpPr>
              <p:spPr>
                <a:xfrm>
                  <a:off x="8389467" y="3680622"/>
                  <a:ext cx="830677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Dataproducts</a:t>
                  </a: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D48C042E-F354-3B25-0E21-9E6A1C0B07D7}"/>
                    </a:ext>
                  </a:extLst>
                </p:cNvPr>
                <p:cNvSpPr txBox="1"/>
                <p:nvPr/>
              </p:nvSpPr>
              <p:spPr>
                <a:xfrm>
                  <a:off x="9449934" y="2969664"/>
                  <a:ext cx="630301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Semantic</a:t>
                  </a:r>
                </a:p>
              </p:txBody>
            </p: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69A3F3CD-791F-DB0A-989D-415C73F688E0}"/>
                    </a:ext>
                  </a:extLst>
                </p:cNvPr>
                <p:cNvSpPr txBox="1"/>
                <p:nvPr/>
              </p:nvSpPr>
              <p:spPr>
                <a:xfrm>
                  <a:off x="5702866" y="1709058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Strategy &amp; Roadmap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1879DB1D-D5A3-EFFD-D294-E7574CBD4CA6}"/>
                    </a:ext>
                  </a:extLst>
                </p:cNvPr>
                <p:cNvSpPr txBox="1"/>
                <p:nvPr/>
              </p:nvSpPr>
              <p:spPr>
                <a:xfrm>
                  <a:off x="6959035" y="1715371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Roles &amp; Responsibilities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B0BB4F13-E35D-7986-6EC8-C6B1AA2B4B71}"/>
                    </a:ext>
                  </a:extLst>
                </p:cNvPr>
                <p:cNvSpPr txBox="1"/>
                <p:nvPr/>
              </p:nvSpPr>
              <p:spPr>
                <a:xfrm>
                  <a:off x="8215204" y="1710926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Standards &amp; Guidelines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A05B4537-E1D3-6A76-C422-A9E2414CC5C6}"/>
                    </a:ext>
                  </a:extLst>
                </p:cNvPr>
                <p:cNvSpPr txBox="1"/>
                <p:nvPr/>
              </p:nvSpPr>
              <p:spPr>
                <a:xfrm>
                  <a:off x="9471372" y="1705946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Compliance &amp; </a:t>
                  </a:r>
                  <a:r>
                    <a:rPr lang="en-US" sz="800" b="1" noProof="0" dirty="0" err="1"/>
                    <a:t>Regulatorik</a:t>
                  </a:r>
                  <a:endParaRPr lang="en-US" sz="800" b="1" noProof="0" dirty="0"/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99EC7207-3F30-B73F-FFB4-C8F231D650FB}"/>
                    </a:ext>
                  </a:extLst>
                </p:cNvPr>
                <p:cNvSpPr txBox="1"/>
                <p:nvPr/>
              </p:nvSpPr>
              <p:spPr>
                <a:xfrm>
                  <a:off x="5697814" y="5707188"/>
                  <a:ext cx="83869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Platform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Infrastructure</a:t>
                  </a: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B5F3AA2B-30C4-60CE-3A46-ABE6C954DE26}"/>
                    </a:ext>
                  </a:extLst>
                </p:cNvPr>
                <p:cNvSpPr txBox="1"/>
                <p:nvPr/>
              </p:nvSpPr>
              <p:spPr>
                <a:xfrm>
                  <a:off x="6607282" y="5699888"/>
                  <a:ext cx="87876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Data Storage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 Management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15F4D898-300E-CBB5-9D50-1165CA726053}"/>
                    </a:ext>
                  </a:extLst>
                </p:cNvPr>
                <p:cNvSpPr txBox="1"/>
                <p:nvPr/>
              </p:nvSpPr>
              <p:spPr>
                <a:xfrm>
                  <a:off x="7556826" y="5699888"/>
                  <a:ext cx="117532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Analytics Platform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Tooling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DD02FCC-6281-398C-2F6B-AFF1B0F1E995}"/>
                    </a:ext>
                  </a:extLst>
                </p:cNvPr>
                <p:cNvSpPr txBox="1"/>
                <p:nvPr/>
              </p:nvSpPr>
              <p:spPr>
                <a:xfrm>
                  <a:off x="8802925" y="5699888"/>
                  <a:ext cx="90120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Observability &amp;</a:t>
                  </a:r>
                  <a:br>
                    <a:rPr lang="en-US" sz="800" b="1" noProof="0" dirty="0"/>
                  </a:br>
                  <a:r>
                    <a:rPr lang="en-US" sz="800" b="1" noProof="0" dirty="0" err="1"/>
                    <a:t>Resilienz</a:t>
                  </a:r>
                  <a:endParaRPr lang="en-US" sz="800" b="1" noProof="0" dirty="0"/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8F78112D-8F4D-3B3B-5B77-FD073704B029}"/>
                    </a:ext>
                  </a:extLst>
                </p:cNvPr>
                <p:cNvSpPr txBox="1"/>
                <p:nvPr/>
              </p:nvSpPr>
              <p:spPr>
                <a:xfrm>
                  <a:off x="9774908" y="5707188"/>
                  <a:ext cx="66236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Security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Identity</a:t>
                  </a:r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A8FDD3EE-3157-E2FD-B83F-68DD96573739}"/>
                    </a:ext>
                  </a:extLst>
                </p:cNvPr>
                <p:cNvSpPr txBox="1"/>
                <p:nvPr/>
              </p:nvSpPr>
              <p:spPr>
                <a:xfrm>
                  <a:off x="8658778" y="4496062"/>
                  <a:ext cx="699230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Integration</a:t>
                  </a: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1E732C9A-DCDB-23CD-FD31-685AC06334BB}"/>
                    </a:ext>
                  </a:extLst>
                </p:cNvPr>
                <p:cNvSpPr txBox="1"/>
                <p:nvPr/>
              </p:nvSpPr>
              <p:spPr>
                <a:xfrm>
                  <a:off x="8636174" y="2405605"/>
                  <a:ext cx="710451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Experience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595C93DE-A6D5-A0B0-8D79-6BB588B2C440}"/>
                    </a:ext>
                  </a:extLst>
                </p:cNvPr>
                <p:cNvSpPr txBox="1"/>
                <p:nvPr/>
              </p:nvSpPr>
              <p:spPr>
                <a:xfrm>
                  <a:off x="6300947" y="3444425"/>
                  <a:ext cx="708848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Realization</a:t>
                  </a:r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99B256D5-15CF-FDED-43A8-DE8001B8240A}"/>
                    </a:ext>
                  </a:extLst>
                </p:cNvPr>
                <p:cNvSpPr txBox="1"/>
                <p:nvPr/>
              </p:nvSpPr>
              <p:spPr>
                <a:xfrm>
                  <a:off x="5977446" y="4657448"/>
                  <a:ext cx="1289135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Services &amp; Applications</a:t>
                  </a: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60E0DAB-305E-03EC-3D5A-032F2161231E}"/>
                    </a:ext>
                  </a:extLst>
                </p:cNvPr>
                <p:cNvSpPr txBox="1"/>
                <p:nvPr/>
              </p:nvSpPr>
              <p:spPr>
                <a:xfrm>
                  <a:off x="5892204" y="3683650"/>
                  <a:ext cx="1452642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Workflows &amp; Orchestration</a:t>
                  </a:r>
                </a:p>
              </p:txBody>
            </p:sp>
            <p:sp>
              <p:nvSpPr>
                <p:cNvPr id="120" name="Pentagon 119">
                  <a:extLst>
                    <a:ext uri="{FF2B5EF4-FFF2-40B4-BE49-F238E27FC236}">
                      <a16:creationId xmlns:a16="http://schemas.microsoft.com/office/drawing/2014/main" id="{F8481DE3-A650-3FA5-DD50-26CA77A42656}"/>
                    </a:ext>
                  </a:extLst>
                </p:cNvPr>
                <p:cNvSpPr/>
                <p:nvPr/>
              </p:nvSpPr>
              <p:spPr>
                <a:xfrm>
                  <a:off x="5905245" y="2372735"/>
                  <a:ext cx="285243" cy="263192"/>
                </a:xfrm>
                <a:prstGeom prst="homePlat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1" name="Chevron 120">
                  <a:extLst>
                    <a:ext uri="{FF2B5EF4-FFF2-40B4-BE49-F238E27FC236}">
                      <a16:creationId xmlns:a16="http://schemas.microsoft.com/office/drawing/2014/main" id="{15AD59C4-E074-9066-757D-BB14D46757B8}"/>
                    </a:ext>
                  </a:extLst>
                </p:cNvPr>
                <p:cNvSpPr/>
                <p:nvPr/>
              </p:nvSpPr>
              <p:spPr>
                <a:xfrm>
                  <a:off x="6103460" y="2368701"/>
                  <a:ext cx="387353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2" name="Chevron 121">
                  <a:extLst>
                    <a:ext uri="{FF2B5EF4-FFF2-40B4-BE49-F238E27FC236}">
                      <a16:creationId xmlns:a16="http://schemas.microsoft.com/office/drawing/2014/main" id="{C442AD5C-79F4-DC0D-F378-1DB28783B5EE}"/>
                    </a:ext>
                  </a:extLst>
                </p:cNvPr>
                <p:cNvSpPr/>
                <p:nvPr/>
              </p:nvSpPr>
              <p:spPr>
                <a:xfrm>
                  <a:off x="7005112" y="2368638"/>
                  <a:ext cx="392859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3" name="Chevron 122">
                  <a:extLst>
                    <a:ext uri="{FF2B5EF4-FFF2-40B4-BE49-F238E27FC236}">
                      <a16:creationId xmlns:a16="http://schemas.microsoft.com/office/drawing/2014/main" id="{2362ABD3-3224-137D-0727-2FB620045C95}"/>
                    </a:ext>
                  </a:extLst>
                </p:cNvPr>
                <p:cNvSpPr/>
                <p:nvPr/>
              </p:nvSpPr>
              <p:spPr>
                <a:xfrm>
                  <a:off x="6403618" y="2368637"/>
                  <a:ext cx="392859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6B76B04A-B290-F1B7-2D07-4A37A19EF2D9}"/>
                    </a:ext>
                  </a:extLst>
                </p:cNvPr>
                <p:cNvSpPr/>
                <p:nvPr/>
              </p:nvSpPr>
              <p:spPr>
                <a:xfrm>
                  <a:off x="5904442" y="2664360"/>
                  <a:ext cx="265792" cy="477877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6" name="Rectangle 125">
                  <a:extLst>
                    <a:ext uri="{FF2B5EF4-FFF2-40B4-BE49-F238E27FC236}">
                      <a16:creationId xmlns:a16="http://schemas.microsoft.com/office/drawing/2014/main" id="{CC374419-3453-5C79-D1B4-F57772009763}"/>
                    </a:ext>
                  </a:extLst>
                </p:cNvPr>
                <p:cNvSpPr/>
                <p:nvPr/>
              </p:nvSpPr>
              <p:spPr>
                <a:xfrm>
                  <a:off x="6515984" y="2642681"/>
                  <a:ext cx="839098" cy="15002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7" name="Chevron 126">
                  <a:extLst>
                    <a:ext uri="{FF2B5EF4-FFF2-40B4-BE49-F238E27FC236}">
                      <a16:creationId xmlns:a16="http://schemas.microsoft.com/office/drawing/2014/main" id="{5A7C34C6-DB45-90E5-A89A-373847C8AF43}"/>
                    </a:ext>
                  </a:extLst>
                </p:cNvPr>
                <p:cNvSpPr/>
                <p:nvPr/>
              </p:nvSpPr>
              <p:spPr>
                <a:xfrm>
                  <a:off x="6704365" y="2368638"/>
                  <a:ext cx="392859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B1323C09-96C4-4802-3FF2-98A50285CDDF}"/>
                    </a:ext>
                  </a:extLst>
                </p:cNvPr>
                <p:cNvSpPr/>
                <p:nvPr/>
              </p:nvSpPr>
              <p:spPr>
                <a:xfrm>
                  <a:off x="7088063" y="2668112"/>
                  <a:ext cx="258535" cy="720446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7154438F-C3AC-1D4E-C7FB-CDB494907E08}"/>
                    </a:ext>
                  </a:extLst>
                </p:cNvPr>
                <p:cNvSpPr/>
                <p:nvPr/>
              </p:nvSpPr>
              <p:spPr>
                <a:xfrm>
                  <a:off x="6207102" y="2843328"/>
                  <a:ext cx="254453" cy="30053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7423AC33-E7FC-B654-CA40-F2214A2BC144}"/>
                    </a:ext>
                  </a:extLst>
                </p:cNvPr>
                <p:cNvSpPr/>
                <p:nvPr/>
              </p:nvSpPr>
              <p:spPr>
                <a:xfrm>
                  <a:off x="6498425" y="2843329"/>
                  <a:ext cx="271506" cy="30053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AE16F486-E588-5086-664A-548595FF7848}"/>
                    </a:ext>
                  </a:extLst>
                </p:cNvPr>
                <p:cNvSpPr/>
                <p:nvPr/>
              </p:nvSpPr>
              <p:spPr>
                <a:xfrm>
                  <a:off x="6813242" y="2843330"/>
                  <a:ext cx="231510" cy="30053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438DE357-1028-77CF-D429-01AAD62AA79B}"/>
                    </a:ext>
                  </a:extLst>
                </p:cNvPr>
                <p:cNvSpPr/>
                <p:nvPr/>
              </p:nvSpPr>
              <p:spPr>
                <a:xfrm>
                  <a:off x="5905245" y="3177737"/>
                  <a:ext cx="1140956" cy="213165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E502281A-C2B7-200D-1CB7-78A8E1C791E2}"/>
                    </a:ext>
                  </a:extLst>
                </p:cNvPr>
                <p:cNvSpPr txBox="1"/>
                <p:nvPr/>
              </p:nvSpPr>
              <p:spPr>
                <a:xfrm>
                  <a:off x="6071784" y="2783926"/>
                  <a:ext cx="1085801" cy="195814"/>
                </a:xfrm>
                <a:prstGeom prst="rect">
                  <a:avLst/>
                </a:prstGeom>
                <a:solidFill>
                  <a:schemeClr val="bg1">
                    <a:alpha val="81000"/>
                  </a:schemeClr>
                </a:solidFill>
              </p:spPr>
              <p:txBody>
                <a:bodyPr wrap="none" lIns="36000" tIns="36000" rIns="36000" bIns="36000" rtlCol="0">
                  <a:spAutoFit/>
                </a:bodyPr>
                <a:lstStyle>
                  <a:defPPr>
                    <a:defRPr lang="en-DE"/>
                  </a:defPPr>
                  <a:lvl1pPr>
                    <a:defRPr sz="800" b="1"/>
                  </a:lvl1pPr>
                </a:lstStyle>
                <a:p>
                  <a:pPr algn="ctr"/>
                  <a:r>
                    <a:rPr lang="en-US" dirty="0"/>
                    <a:t>Business Capabilities</a:t>
                  </a:r>
                </a:p>
              </p:txBody>
            </p:sp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AE1923F3-C05B-5190-511A-DD5D21315FB9}"/>
                    </a:ext>
                  </a:extLst>
                </p:cNvPr>
                <p:cNvSpPr txBox="1"/>
                <p:nvPr/>
              </p:nvSpPr>
              <p:spPr>
                <a:xfrm>
                  <a:off x="6007330" y="3076098"/>
                  <a:ext cx="1201145" cy="195814"/>
                </a:xfrm>
                <a:prstGeom prst="rect">
                  <a:avLst/>
                </a:prstGeom>
                <a:solidFill>
                  <a:schemeClr val="bg1">
                    <a:alpha val="81000"/>
                  </a:schemeClr>
                </a:solidFill>
              </p:spPr>
              <p:txBody>
                <a:bodyPr wrap="square" lIns="36000" tIns="36000" rIns="36000" bIns="36000" rtlCol="0">
                  <a:spAutoFit/>
                </a:bodyPr>
                <a:lstStyle>
                  <a:defPPr>
                    <a:defRPr lang="en-DE"/>
                  </a:defPPr>
                  <a:lvl1pPr>
                    <a:defRPr sz="800" b="1"/>
                  </a:lvl1pPr>
                </a:lstStyle>
                <a:p>
                  <a:pPr algn="ctr"/>
                  <a:r>
                    <a:rPr lang="en-US" dirty="0"/>
                    <a:t>Processes</a:t>
                  </a: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E74DB06A-E0E0-D536-D032-70F40038FAAE}"/>
                    </a:ext>
                  </a:extLst>
                </p:cNvPr>
                <p:cNvSpPr txBox="1"/>
                <p:nvPr/>
              </p:nvSpPr>
              <p:spPr>
                <a:xfrm>
                  <a:off x="6254618" y="2407720"/>
                  <a:ext cx="701080" cy="195814"/>
                </a:xfrm>
                <a:prstGeom prst="rect">
                  <a:avLst/>
                </a:prstGeom>
                <a:solidFill>
                  <a:schemeClr val="bg1">
                    <a:alpha val="81000"/>
                  </a:schemeClr>
                </a:solidFill>
              </p:spPr>
              <p:txBody>
                <a:bodyPr wrap="none" lIns="36000" tIns="36000" rIns="36000" bIns="36000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Value Stream</a:t>
                  </a:r>
                </a:p>
              </p:txBody>
            </p: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AFC6E0C6-D1DE-5B0B-9574-79014B8F73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4775" y="3114589"/>
                  <a:ext cx="166009" cy="92052"/>
                </a:xfrm>
                <a:prstGeom prst="line">
                  <a:avLst/>
                </a:prstGeom>
                <a:ln w="12700">
                  <a:headEnd type="oval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ED62823E-F641-7E06-AFE5-A278A75906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3549" y="3109450"/>
                  <a:ext cx="231909" cy="120858"/>
                </a:xfrm>
                <a:prstGeom prst="line">
                  <a:avLst/>
                </a:prstGeom>
                <a:ln w="12700">
                  <a:headEnd type="oval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90558680-0C0D-1B00-A91E-BA5EC7B867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73831" y="3107766"/>
                  <a:ext cx="129511" cy="50057"/>
                </a:xfrm>
                <a:prstGeom prst="line">
                  <a:avLst/>
                </a:prstGeom>
                <a:ln w="12700">
                  <a:headEnd type="none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5B8D9F98-8533-49CF-E998-23E6A07AFA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912158" y="3183048"/>
                  <a:ext cx="121917" cy="47187"/>
                </a:xfrm>
                <a:prstGeom prst="line">
                  <a:avLst/>
                </a:prstGeom>
                <a:ln w="12700">
                  <a:headEnd type="none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50" name="Graphic 149" descr="Internet Of Things with solid fill">
                  <a:extLst>
                    <a:ext uri="{FF2B5EF4-FFF2-40B4-BE49-F238E27FC236}">
                      <a16:creationId xmlns:a16="http://schemas.microsoft.com/office/drawing/2014/main" id="{3A5C2937-2B8F-3F48-5621-8DDFF1E054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041297" y="4225334"/>
                  <a:ext cx="625008" cy="625008"/>
                </a:xfrm>
                <a:prstGeom prst="rect">
                  <a:avLst/>
                </a:prstGeom>
              </p:spPr>
            </p:pic>
            <p:pic>
              <p:nvPicPr>
                <p:cNvPr id="152" name="Graphic 151" descr="Branching diagram with solid fill">
                  <a:extLst>
                    <a:ext uri="{FF2B5EF4-FFF2-40B4-BE49-F238E27FC236}">
                      <a16:creationId xmlns:a16="http://schemas.microsoft.com/office/drawing/2014/main" id="{DF3F08BC-7C46-E77B-6A5E-789D30847B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06716" y="3896476"/>
                  <a:ext cx="396518" cy="396518"/>
                </a:xfrm>
                <a:prstGeom prst="rect">
                  <a:avLst/>
                </a:prstGeom>
              </p:spPr>
            </p:pic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9A27AF17-4580-7A65-D414-16BFFAE54D66}"/>
                    </a:ext>
                  </a:extLst>
                </p:cNvPr>
                <p:cNvSpPr txBox="1"/>
                <p:nvPr/>
              </p:nvSpPr>
              <p:spPr>
                <a:xfrm>
                  <a:off x="11057085" y="5203804"/>
                  <a:ext cx="59343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Platform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Security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FA878567-29DE-A96A-C619-6924D4ECD019}"/>
                    </a:ext>
                  </a:extLst>
                </p:cNvPr>
                <p:cNvSpPr txBox="1"/>
                <p:nvPr/>
              </p:nvSpPr>
              <p:spPr>
                <a:xfrm>
                  <a:off x="10992163" y="3410206"/>
                  <a:ext cx="723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Application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Data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8AA9E5E9-F6D6-A09F-16BB-479DA016D905}"/>
                    </a:ext>
                  </a:extLst>
                </p:cNvPr>
                <p:cNvSpPr txBox="1"/>
                <p:nvPr/>
              </p:nvSpPr>
              <p:spPr>
                <a:xfrm>
                  <a:off x="10963308" y="1616606"/>
                  <a:ext cx="78098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Business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Organization</a:t>
                  </a:r>
                </a:p>
              </p:txBody>
            </p:sp>
            <p:pic>
              <p:nvPicPr>
                <p:cNvPr id="77" name="Graphic 76" descr="Care with solid fill">
                  <a:extLst>
                    <a:ext uri="{FF2B5EF4-FFF2-40B4-BE49-F238E27FC236}">
                      <a16:creationId xmlns:a16="http://schemas.microsoft.com/office/drawing/2014/main" id="{8ECC8315-2177-4632-7A82-2FB8F8A3F8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1031" y="2557842"/>
                  <a:ext cx="403691" cy="403691"/>
                </a:xfrm>
                <a:prstGeom prst="rect">
                  <a:avLst/>
                </a:prstGeom>
              </p:spPr>
            </p:pic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0EFACBD6-E3B4-A764-8788-FF24A39576C6}"/>
                    </a:ext>
                  </a:extLst>
                </p:cNvPr>
                <p:cNvSpPr/>
                <p:nvPr/>
              </p:nvSpPr>
              <p:spPr>
                <a:xfrm rot="2160000">
                  <a:off x="8746849" y="4055840"/>
                  <a:ext cx="499814" cy="4839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pic>
              <p:nvPicPr>
                <p:cNvPr id="81" name="Graphic 80" descr="Circles with arrows with solid fill">
                  <a:extLst>
                    <a:ext uri="{FF2B5EF4-FFF2-40B4-BE49-F238E27FC236}">
                      <a16:creationId xmlns:a16="http://schemas.microsoft.com/office/drawing/2014/main" id="{CA477AE0-5507-513A-E0D9-066995D627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2192" y="4126160"/>
                  <a:ext cx="398413" cy="398413"/>
                </a:xfrm>
                <a:prstGeom prst="rect">
                  <a:avLst/>
                </a:prstGeom>
              </p:spPr>
            </p:pic>
          </p:grpSp>
          <p:pic>
            <p:nvPicPr>
              <p:cNvPr id="34" name="Graphic 33" descr="Scientific Thought with solid fill">
                <a:extLst>
                  <a:ext uri="{FF2B5EF4-FFF2-40B4-BE49-F238E27FC236}">
                    <a16:creationId xmlns:a16="http://schemas.microsoft.com/office/drawing/2014/main" id="{2D51237D-02DE-5EE8-63B6-15A895D352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>
                <a:off x="9595041" y="2624901"/>
                <a:ext cx="398413" cy="398413"/>
              </a:xfrm>
              <a:prstGeom prst="rect">
                <a:avLst/>
              </a:prstGeom>
            </p:spPr>
          </p:pic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E5E3325-6700-92A2-4905-88CA6BD03B4C}"/>
                </a:ext>
              </a:extLst>
            </p:cNvPr>
            <p:cNvSpPr txBox="1"/>
            <p:nvPr/>
          </p:nvSpPr>
          <p:spPr>
            <a:xfrm>
              <a:off x="9519390" y="3200939"/>
              <a:ext cx="65274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noProof="0" dirty="0"/>
                <a:t>Contracts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4653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DA0C4-F6D4-1483-B814-43F18CCD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5">
            <a:extLst>
              <a:ext uri="{FF2B5EF4-FFF2-40B4-BE49-F238E27FC236}">
                <a16:creationId xmlns:a16="http://schemas.microsoft.com/office/drawing/2014/main" id="{1692FA22-C63F-D3C1-0D30-2B7AA0F2D3C1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4659217" cy="6713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b="1" dirty="0"/>
              <a:t>Reference Model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03C0A3B3-B042-08C3-F537-BF72FDBB1403}"/>
              </a:ext>
            </a:extLst>
          </p:cNvPr>
          <p:cNvSpPr txBox="1">
            <a:spLocks/>
          </p:cNvSpPr>
          <p:nvPr/>
        </p:nvSpPr>
        <p:spPr>
          <a:xfrm>
            <a:off x="838199" y="1553228"/>
            <a:ext cx="3921691" cy="49396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Das Referenzmodell verbindet Geschäftsstrategie, Wertschöpfung, Softwarelandschaft, Daten und Plattformbetrieb zu einem tragfähigen Gesamtsystem. Es dient als normatives Zielbild und diagnostisches Prüfraster für Reviews.</a:t>
            </a:r>
            <a:endParaRPr lang="de-DE" sz="1200" b="1" dirty="0"/>
          </a:p>
          <a:p>
            <a:pPr marL="228600" indent="-228600">
              <a:buAutoNum type="arabicPeriod"/>
            </a:pPr>
            <a:r>
              <a:rPr lang="de-DE" sz="1200" b="1" dirty="0"/>
              <a:t>Vertikale Kohärenz (Alignment)</a:t>
            </a:r>
            <a:br>
              <a:rPr lang="de-DE" sz="1200" b="1" dirty="0"/>
            </a:br>
            <a:r>
              <a:rPr lang="de-DE" sz="1200" dirty="0"/>
              <a:t>Fachliche Wertströme und </a:t>
            </a:r>
            <a:r>
              <a:rPr lang="de-DE" sz="1200" dirty="0" err="1"/>
              <a:t>Capabilities</a:t>
            </a:r>
            <a:r>
              <a:rPr lang="de-DE" sz="1200" dirty="0"/>
              <a:t> steuern technische Workflows und definieren den modularen Schnitt von Eigenentwicklungen wie auch COTS-Systemen.</a:t>
            </a:r>
          </a:p>
          <a:p>
            <a:pPr marL="228600" indent="-228600">
              <a:buAutoNum type="arabicPeriod"/>
            </a:pPr>
            <a:r>
              <a:rPr lang="de-DE" sz="1200" b="1" dirty="0"/>
              <a:t>Horizontale Verankerung (Data Layer)</a:t>
            </a:r>
            <a:br>
              <a:rPr lang="de-DE" sz="1200" b="1" dirty="0"/>
            </a:br>
            <a:r>
              <a:rPr lang="de-DE" sz="1200" dirty="0"/>
              <a:t>Verlagerung der Datenhoheit in fachliche Domänen (DDD). Fachlichkeit und IT interagieren über verbindliche Schnittstellenverträge (API- und </a:t>
            </a:r>
            <a:r>
              <a:rPr lang="de-DE" sz="1200" dirty="0" err="1"/>
              <a:t>Contract</a:t>
            </a:r>
            <a:r>
              <a:rPr lang="de-DE" sz="1200" dirty="0"/>
              <a:t>-First).</a:t>
            </a:r>
          </a:p>
          <a:p>
            <a:pPr marL="228600" indent="-228600">
              <a:buAutoNum type="arabicPeriod"/>
            </a:pPr>
            <a:r>
              <a:rPr lang="de-DE" sz="1200" b="1" dirty="0"/>
              <a:t>Technologische Souveränität (</a:t>
            </a:r>
            <a:r>
              <a:rPr lang="de-DE" sz="1200" b="1" dirty="0" err="1"/>
              <a:t>Foundation</a:t>
            </a:r>
            <a:r>
              <a:rPr lang="de-DE" sz="1200" b="1" dirty="0"/>
              <a:t>)</a:t>
            </a:r>
            <a:br>
              <a:rPr lang="de-DE" sz="1200" b="1" dirty="0"/>
            </a:br>
            <a:r>
              <a:rPr lang="de-DE" sz="1200" dirty="0"/>
              <a:t>Vollständige Entlastung der Fachteams durch automatisierte Plattformfähigkeiten für Hosting, </a:t>
            </a:r>
            <a:r>
              <a:rPr lang="de-DE" sz="1200" dirty="0" err="1"/>
              <a:t>Observability</a:t>
            </a:r>
            <a:r>
              <a:rPr lang="de-DE" sz="1200" dirty="0"/>
              <a:t>, Datenhaltung und Identitätsmanagement.</a:t>
            </a:r>
          </a:p>
          <a:p>
            <a:pPr marL="228600" indent="-228600">
              <a:buAutoNum type="arabicPeriod"/>
            </a:pPr>
            <a:r>
              <a:rPr lang="de-DE" sz="1200" b="1" dirty="0"/>
              <a:t>Gekapselte Interaktion &amp; </a:t>
            </a:r>
            <a:r>
              <a:rPr lang="de-DE" sz="1200" b="1" dirty="0" err="1"/>
              <a:t>Governance</a:t>
            </a:r>
            <a:r>
              <a:rPr lang="de-DE" sz="1200" b="1" dirty="0"/>
              <a:t> (Gateways &amp; </a:t>
            </a:r>
            <a:r>
              <a:rPr lang="de-DE" sz="1200" b="1" dirty="0" err="1"/>
              <a:t>Principles</a:t>
            </a:r>
            <a:r>
              <a:rPr lang="de-DE" sz="1200" b="1" dirty="0"/>
              <a:t>)</a:t>
            </a:r>
            <a:br>
              <a:rPr lang="de-DE" sz="1200" b="1" dirty="0"/>
            </a:br>
            <a:r>
              <a:rPr lang="de-DE" sz="1200" dirty="0"/>
              <a:t>Entkopplung von Nutzerschnittstellen (Experience) und Drittsystemen (Integration). Entscheidungsleitplanken sichern die Balance aus Agilität und Standardisierung.</a:t>
            </a:r>
          </a:p>
          <a:p>
            <a:endParaRPr lang="de-DE" sz="1200" dirty="0"/>
          </a:p>
          <a:p>
            <a:endParaRPr lang="de-DE" sz="1200" dirty="0"/>
          </a:p>
        </p:txBody>
      </p:sp>
      <p:sp>
        <p:nvSpPr>
          <p:cNvPr id="157" name="Title 5">
            <a:extLst>
              <a:ext uri="{FF2B5EF4-FFF2-40B4-BE49-F238E27FC236}">
                <a16:creationId xmlns:a16="http://schemas.microsoft.com/office/drawing/2014/main" id="{44F6EA95-2F71-0C84-99F1-E715CCF3A842}"/>
              </a:ext>
            </a:extLst>
          </p:cNvPr>
          <p:cNvSpPr txBox="1">
            <a:spLocks/>
          </p:cNvSpPr>
          <p:nvPr/>
        </p:nvSpPr>
        <p:spPr>
          <a:xfrm>
            <a:off x="840035" y="1036486"/>
            <a:ext cx="3979626" cy="287515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1400" b="1" dirty="0"/>
              <a:t>Enterprise Landscape Model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22C62128-A5EF-7D1D-0D58-955A50C935F9}"/>
              </a:ext>
            </a:extLst>
          </p:cNvPr>
          <p:cNvGrpSpPr/>
          <p:nvPr/>
        </p:nvGrpSpPr>
        <p:grpSpPr>
          <a:xfrm>
            <a:off x="5150266" y="1036486"/>
            <a:ext cx="6762865" cy="5143944"/>
            <a:chOff x="5294644" y="273247"/>
            <a:chExt cx="6762865" cy="5143944"/>
          </a:xfrm>
        </p:grpSpPr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BE9C98D4-5BD6-137D-5315-ED7DA9ABD75A}"/>
                </a:ext>
              </a:extLst>
            </p:cNvPr>
            <p:cNvGrpSpPr/>
            <p:nvPr/>
          </p:nvGrpSpPr>
          <p:grpSpPr>
            <a:xfrm>
              <a:off x="5294644" y="273247"/>
              <a:ext cx="6762865" cy="5143944"/>
              <a:chOff x="5273704" y="978243"/>
              <a:chExt cx="6762865" cy="5143944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A8B167AA-7EBB-D7E3-126A-B96BC3A3499C}"/>
                  </a:ext>
                </a:extLst>
              </p:cNvPr>
              <p:cNvGrpSpPr/>
              <p:nvPr/>
            </p:nvGrpSpPr>
            <p:grpSpPr>
              <a:xfrm>
                <a:off x="5273704" y="978243"/>
                <a:ext cx="6762865" cy="5143944"/>
                <a:chOff x="5273704" y="978243"/>
                <a:chExt cx="6762865" cy="5143944"/>
              </a:xfrm>
            </p:grpSpPr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1BE40F37-8896-D4F9-5F89-CB2A736983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326959" y="2206651"/>
                  <a:ext cx="1498740" cy="1079371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67684195-4187-9DAD-2B6E-EC52C44D1015}"/>
                    </a:ext>
                  </a:extLst>
                </p:cNvPr>
                <p:cNvSpPr/>
                <p:nvPr/>
              </p:nvSpPr>
              <p:spPr>
                <a:xfrm rot="19440000">
                  <a:off x="8758486" y="2542468"/>
                  <a:ext cx="499814" cy="4839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D43BC40C-0E6D-C2C9-F8C6-CE7A149530F4}"/>
                    </a:ext>
                  </a:extLst>
                </p:cNvPr>
                <p:cNvGrpSpPr/>
                <p:nvPr/>
              </p:nvGrpSpPr>
              <p:grpSpPr>
                <a:xfrm>
                  <a:off x="5288056" y="988834"/>
                  <a:ext cx="5248650" cy="1128787"/>
                  <a:chOff x="5953075" y="1293779"/>
                  <a:chExt cx="5248650" cy="972767"/>
                </a:xfrm>
              </p:grpSpPr>
              <p:sp>
                <p:nvSpPr>
                  <p:cNvPr id="233" name="Rounded Rectangle 232">
                    <a:extLst>
                      <a:ext uri="{FF2B5EF4-FFF2-40B4-BE49-F238E27FC236}">
                        <a16:creationId xmlns:a16="http://schemas.microsoft.com/office/drawing/2014/main" id="{9CEC2200-A7BE-44ED-40ED-90E63708BCFC}"/>
                      </a:ext>
                    </a:extLst>
                  </p:cNvPr>
                  <p:cNvSpPr/>
                  <p:nvPr/>
                </p:nvSpPr>
                <p:spPr>
                  <a:xfrm>
                    <a:off x="5953075" y="1293780"/>
                    <a:ext cx="5248650" cy="972766"/>
                  </a:xfrm>
                  <a:prstGeom prst="roundRect">
                    <a:avLst/>
                  </a:prstGeom>
                  <a:noFill/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  <p:sp>
                <p:nvSpPr>
                  <p:cNvPr id="234" name="Round Same-side Corner of Rectangle 233">
                    <a:extLst>
                      <a:ext uri="{FF2B5EF4-FFF2-40B4-BE49-F238E27FC236}">
                        <a16:creationId xmlns:a16="http://schemas.microsoft.com/office/drawing/2014/main" id="{AE937A0E-1151-C3D6-9A68-35A1FFDB9F9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623970" y="1622885"/>
                    <a:ext cx="972766" cy="3145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b="1" noProof="0" dirty="0"/>
                      <a:t>Governance</a:t>
                    </a:r>
                  </a:p>
                </p:txBody>
              </p:sp>
            </p:grpSp>
            <p:grpSp>
              <p:nvGrpSpPr>
                <p:cNvPr id="164" name="Group 163">
                  <a:extLst>
                    <a:ext uri="{FF2B5EF4-FFF2-40B4-BE49-F238E27FC236}">
                      <a16:creationId xmlns:a16="http://schemas.microsoft.com/office/drawing/2014/main" id="{82478A25-8F1A-74E4-5A7A-62B4117CB8EF}"/>
                    </a:ext>
                  </a:extLst>
                </p:cNvPr>
                <p:cNvGrpSpPr/>
                <p:nvPr/>
              </p:nvGrpSpPr>
              <p:grpSpPr>
                <a:xfrm>
                  <a:off x="5288055" y="4993400"/>
                  <a:ext cx="5248649" cy="1128787"/>
                  <a:chOff x="5953074" y="1293779"/>
                  <a:chExt cx="5248649" cy="972767"/>
                </a:xfrm>
              </p:grpSpPr>
              <p:sp>
                <p:nvSpPr>
                  <p:cNvPr id="231" name="Rounded Rectangle 230">
                    <a:extLst>
                      <a:ext uri="{FF2B5EF4-FFF2-40B4-BE49-F238E27FC236}">
                        <a16:creationId xmlns:a16="http://schemas.microsoft.com/office/drawing/2014/main" id="{421DCE66-A34F-A075-7B2D-C7B6C382C146}"/>
                      </a:ext>
                    </a:extLst>
                  </p:cNvPr>
                  <p:cNvSpPr/>
                  <p:nvPr/>
                </p:nvSpPr>
                <p:spPr>
                  <a:xfrm>
                    <a:off x="5953074" y="1293780"/>
                    <a:ext cx="5248649" cy="972766"/>
                  </a:xfrm>
                  <a:prstGeom prst="roundRect">
                    <a:avLst/>
                  </a:prstGeom>
                  <a:noFill/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  <p:sp>
                <p:nvSpPr>
                  <p:cNvPr id="232" name="Round Same-side Corner of Rectangle 231">
                    <a:extLst>
                      <a:ext uri="{FF2B5EF4-FFF2-40B4-BE49-F238E27FC236}">
                        <a16:creationId xmlns:a16="http://schemas.microsoft.com/office/drawing/2014/main" id="{00E4AFEC-9EBE-3F5D-49AD-A8A1746EC97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623970" y="1622885"/>
                    <a:ext cx="972766" cy="3145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b="1" noProof="0" dirty="0"/>
                      <a:t>Foundation</a:t>
                    </a:r>
                  </a:p>
                </p:txBody>
              </p:sp>
            </p:grp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E7D43413-0DCC-4A50-DCEB-9756902FF072}"/>
                    </a:ext>
                  </a:extLst>
                </p:cNvPr>
                <p:cNvGrpSpPr/>
                <p:nvPr/>
              </p:nvGrpSpPr>
              <p:grpSpPr>
                <a:xfrm>
                  <a:off x="10671031" y="978243"/>
                  <a:ext cx="1365538" cy="5133352"/>
                  <a:chOff x="8916768" y="2942618"/>
                  <a:chExt cx="1365538" cy="5133352"/>
                </a:xfrm>
              </p:grpSpPr>
              <p:sp>
                <p:nvSpPr>
                  <p:cNvPr id="229" name="Rounded Rectangle 228">
                    <a:extLst>
                      <a:ext uri="{FF2B5EF4-FFF2-40B4-BE49-F238E27FC236}">
                        <a16:creationId xmlns:a16="http://schemas.microsoft.com/office/drawing/2014/main" id="{50CF9E89-1AFE-9F41-0605-4E66C4678E77}"/>
                      </a:ext>
                    </a:extLst>
                  </p:cNvPr>
                  <p:cNvSpPr/>
                  <p:nvPr/>
                </p:nvSpPr>
                <p:spPr>
                  <a:xfrm>
                    <a:off x="8916768" y="2942618"/>
                    <a:ext cx="1365538" cy="5133352"/>
                  </a:xfrm>
                  <a:prstGeom prst="roundRect">
                    <a:avLst/>
                  </a:prstGeom>
                  <a:noFill/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noProof="0" dirty="0"/>
                  </a:p>
                </p:txBody>
              </p:sp>
              <p:sp>
                <p:nvSpPr>
                  <p:cNvPr id="230" name="Round Same-side Corner of Rectangle 229">
                    <a:extLst>
                      <a:ext uri="{FF2B5EF4-FFF2-40B4-BE49-F238E27FC236}">
                        <a16:creationId xmlns:a16="http://schemas.microsoft.com/office/drawing/2014/main" id="{8D992828-DDF5-347E-7AC1-C00E6481BF0B}"/>
                      </a:ext>
                    </a:extLst>
                  </p:cNvPr>
                  <p:cNvSpPr/>
                  <p:nvPr/>
                </p:nvSpPr>
                <p:spPr>
                  <a:xfrm>
                    <a:off x="8916768" y="2942618"/>
                    <a:ext cx="1365538" cy="3145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ln w="381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000" b="1" noProof="0" dirty="0"/>
                      <a:t>Guiding Principles</a:t>
                    </a:r>
                  </a:p>
                </p:txBody>
              </p:sp>
            </p:grpSp>
            <p:sp>
              <p:nvSpPr>
                <p:cNvPr id="166" name="Round Same-side Corner of Rectangle 165">
                  <a:extLst>
                    <a:ext uri="{FF2B5EF4-FFF2-40B4-BE49-F238E27FC236}">
                      <a16:creationId xmlns:a16="http://schemas.microsoft.com/office/drawing/2014/main" id="{BA1FCCAA-90CD-44B1-9810-8F9810988596}"/>
                    </a:ext>
                  </a:extLst>
                </p:cNvPr>
                <p:cNvSpPr/>
                <p:nvPr/>
              </p:nvSpPr>
              <p:spPr>
                <a:xfrm rot="16200000">
                  <a:off x="4820871" y="4080901"/>
                  <a:ext cx="1220220" cy="31455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noProof="0" dirty="0"/>
                    <a:t>System Layer</a:t>
                  </a:r>
                </a:p>
              </p:txBody>
            </p:sp>
            <p:sp>
              <p:nvSpPr>
                <p:cNvPr id="167" name="Round Same-side Corner of Rectangle 166">
                  <a:extLst>
                    <a:ext uri="{FF2B5EF4-FFF2-40B4-BE49-F238E27FC236}">
                      <a16:creationId xmlns:a16="http://schemas.microsoft.com/office/drawing/2014/main" id="{36CF308B-2D71-0BCF-CD3A-149612F38A77}"/>
                    </a:ext>
                  </a:extLst>
                </p:cNvPr>
                <p:cNvSpPr/>
                <p:nvPr/>
              </p:nvSpPr>
              <p:spPr>
                <a:xfrm rot="16200000">
                  <a:off x="4820871" y="2715568"/>
                  <a:ext cx="1220220" cy="31455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noProof="0" dirty="0"/>
                    <a:t>Business Layer</a:t>
                  </a:r>
                </a:p>
              </p:txBody>
            </p:sp>
            <p:sp>
              <p:nvSpPr>
                <p:cNvPr id="168" name="Round Same-side Corner of Rectangle 167">
                  <a:extLst>
                    <a:ext uri="{FF2B5EF4-FFF2-40B4-BE49-F238E27FC236}">
                      <a16:creationId xmlns:a16="http://schemas.microsoft.com/office/drawing/2014/main" id="{7EEBC75B-BBAF-F25F-F3EB-47EBCE424B1F}"/>
                    </a:ext>
                  </a:extLst>
                </p:cNvPr>
                <p:cNvSpPr/>
                <p:nvPr/>
              </p:nvSpPr>
              <p:spPr>
                <a:xfrm rot="5400000">
                  <a:off x="9086652" y="3395264"/>
                  <a:ext cx="2585554" cy="31455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00" b="1" noProof="0" dirty="0"/>
                    <a:t>Data Layer</a:t>
                  </a:r>
                </a:p>
              </p:txBody>
            </p: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654E132B-D7B6-3C90-909E-CA9A803C1B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77786" y="3544919"/>
                  <a:ext cx="1972694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EFB8C5F4-3298-9467-31CB-6724364B6B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26959" y="3803904"/>
                  <a:ext cx="1498112" cy="1079283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71" name="Graphic 170" descr="Continuous Improvement with solid fill">
                  <a:extLst>
                    <a:ext uri="{FF2B5EF4-FFF2-40B4-BE49-F238E27FC236}">
                      <a16:creationId xmlns:a16="http://schemas.microsoft.com/office/drawing/2014/main" id="{6C4F5C17-2256-356D-3D07-9EF64327B0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608198" y="3368930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72" name="Graphic 171" descr="Handshake with solid fill">
                  <a:extLst>
                    <a:ext uri="{FF2B5EF4-FFF2-40B4-BE49-F238E27FC236}">
                      <a16:creationId xmlns:a16="http://schemas.microsoft.com/office/drawing/2014/main" id="{CCA8C046-B835-7FB4-7C27-B1A2ECE00B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89178" y="4060844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73" name="Graphic 172" descr="Atom with solid fill">
                  <a:extLst>
                    <a:ext uri="{FF2B5EF4-FFF2-40B4-BE49-F238E27FC236}">
                      <a16:creationId xmlns:a16="http://schemas.microsoft.com/office/drawing/2014/main" id="{C3A4CD95-1D51-96A3-8ACC-85CE74D825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47013" y="5209524"/>
                  <a:ext cx="403582" cy="403582"/>
                </a:xfrm>
                <a:prstGeom prst="rect">
                  <a:avLst/>
                </a:prstGeom>
              </p:spPr>
            </p:pic>
            <p:pic>
              <p:nvPicPr>
                <p:cNvPr id="174" name="Graphic 173" descr="Binoculars with solid fill">
                  <a:extLst>
                    <a:ext uri="{FF2B5EF4-FFF2-40B4-BE49-F238E27FC236}">
                      <a16:creationId xmlns:a16="http://schemas.microsoft.com/office/drawing/2014/main" id="{970A18FE-230C-11A2-F29D-2554626024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51738" y="5209524"/>
                  <a:ext cx="403581" cy="403581"/>
                </a:xfrm>
                <a:prstGeom prst="rect">
                  <a:avLst/>
                </a:prstGeom>
              </p:spPr>
            </p:pic>
            <p:pic>
              <p:nvPicPr>
                <p:cNvPr id="175" name="Graphic 174" descr="Blockchain with solid fill">
                  <a:extLst>
                    <a:ext uri="{FF2B5EF4-FFF2-40B4-BE49-F238E27FC236}">
                      <a16:creationId xmlns:a16="http://schemas.microsoft.com/office/drawing/2014/main" id="{1180AFF5-4C53-B302-1EA3-4EB00487A7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04255" y="4230754"/>
                  <a:ext cx="398978" cy="398978"/>
                </a:xfrm>
                <a:prstGeom prst="rect">
                  <a:avLst/>
                </a:prstGeom>
              </p:spPr>
            </p:pic>
            <p:pic>
              <p:nvPicPr>
                <p:cNvPr id="176" name="Graphic 175" descr="Building Brick Wall with solid fill">
                  <a:extLst>
                    <a:ext uri="{FF2B5EF4-FFF2-40B4-BE49-F238E27FC236}">
                      <a16:creationId xmlns:a16="http://schemas.microsoft.com/office/drawing/2014/main" id="{30D6409A-BACE-9F16-3263-16A8123DCE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98908" y="5214400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77" name="Graphic 176" descr="Bullseye with solid fill">
                  <a:extLst>
                    <a:ext uri="{FF2B5EF4-FFF2-40B4-BE49-F238E27FC236}">
                      <a16:creationId xmlns:a16="http://schemas.microsoft.com/office/drawing/2014/main" id="{BB269174-A7DD-E594-9E86-BE0CF3742D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86608" y="1244831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78" name="Graphic 177" descr="City with solid fill">
                  <a:extLst>
                    <a:ext uri="{FF2B5EF4-FFF2-40B4-BE49-F238E27FC236}">
                      <a16:creationId xmlns:a16="http://schemas.microsoft.com/office/drawing/2014/main" id="{1E9C7701-AA6F-A896-2AF5-85C031479C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041297" y="2431734"/>
                  <a:ext cx="625009" cy="625009"/>
                </a:xfrm>
                <a:prstGeom prst="rect">
                  <a:avLst/>
                </a:prstGeom>
              </p:spPr>
            </p:pic>
            <p:pic>
              <p:nvPicPr>
                <p:cNvPr id="179" name="Graphic 178" descr="Clipboard Badge with solid fill">
                  <a:extLst>
                    <a:ext uri="{FF2B5EF4-FFF2-40B4-BE49-F238E27FC236}">
                      <a16:creationId xmlns:a16="http://schemas.microsoft.com/office/drawing/2014/main" id="{7BC02ED1-C63D-F13C-F10D-1AB76C06E0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755113" y="1244831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80" name="Graphic 179" descr="Clipboard All Crosses with solid fill">
                  <a:extLst>
                    <a:ext uri="{FF2B5EF4-FFF2-40B4-BE49-F238E27FC236}">
                      <a16:creationId xmlns:a16="http://schemas.microsoft.com/office/drawing/2014/main" id="{1F107DC0-595B-6883-39E6-8D07721E66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532940" y="1244831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81" name="Graphic 180" descr="Cloud Computing with solid fill">
                  <a:extLst>
                    <a:ext uri="{FF2B5EF4-FFF2-40B4-BE49-F238E27FC236}">
                      <a16:creationId xmlns:a16="http://schemas.microsoft.com/office/drawing/2014/main" id="{B623EFA0-540B-0DCE-7871-CC37C027F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97125" y="5210158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82" name="Graphic 181" descr="Connections with solid fill">
                  <a:extLst>
                    <a:ext uri="{FF2B5EF4-FFF2-40B4-BE49-F238E27FC236}">
                      <a16:creationId xmlns:a16="http://schemas.microsoft.com/office/drawing/2014/main" id="{E39F7DD9-21E0-736A-6553-1C8EC7B244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97737" y="1247786"/>
                  <a:ext cx="398413" cy="398413"/>
                </a:xfrm>
                <a:prstGeom prst="rect">
                  <a:avLst/>
                </a:prstGeom>
              </p:spPr>
            </p:pic>
            <p:pic>
              <p:nvPicPr>
                <p:cNvPr id="183" name="Graphic 182" descr="Cube with solid fill">
                  <a:extLst>
                    <a:ext uri="{FF2B5EF4-FFF2-40B4-BE49-F238E27FC236}">
                      <a16:creationId xmlns:a16="http://schemas.microsoft.com/office/drawing/2014/main" id="{A0A2B30C-09F2-9046-3B10-105552AB54A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794788" y="3366896"/>
                  <a:ext cx="398412" cy="398412"/>
                </a:xfrm>
                <a:prstGeom prst="rect">
                  <a:avLst/>
                </a:prstGeom>
              </p:spPr>
            </p:pic>
            <p:pic>
              <p:nvPicPr>
                <p:cNvPr id="184" name="Graphic 183" descr="Database with solid fill">
                  <a:extLst>
                    <a:ext uri="{FF2B5EF4-FFF2-40B4-BE49-F238E27FC236}">
                      <a16:creationId xmlns:a16="http://schemas.microsoft.com/office/drawing/2014/main" id="{21BA77B6-940F-836B-A1C8-7B9066A899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847458" y="5210157"/>
                  <a:ext cx="398413" cy="398413"/>
                </a:xfrm>
                <a:prstGeom prst="rect">
                  <a:avLst/>
                </a:prstGeom>
              </p:spPr>
            </p:pic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CA35D64B-7CF5-88E2-E28E-0D674AB9D865}"/>
                    </a:ext>
                  </a:extLst>
                </p:cNvPr>
                <p:cNvSpPr txBox="1"/>
                <p:nvPr/>
              </p:nvSpPr>
              <p:spPr>
                <a:xfrm>
                  <a:off x="7690484" y="3680622"/>
                  <a:ext cx="603050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Domains</a:t>
                  </a:r>
                </a:p>
              </p:txBody>
            </p:sp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2A3DC13-67F4-87E3-E05E-FEA71F5CA964}"/>
                    </a:ext>
                  </a:extLst>
                </p:cNvPr>
                <p:cNvSpPr txBox="1"/>
                <p:nvPr/>
              </p:nvSpPr>
              <p:spPr>
                <a:xfrm>
                  <a:off x="8389467" y="3680622"/>
                  <a:ext cx="830677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Dataproducts</a:t>
                  </a:r>
                </a:p>
              </p:txBody>
            </p:sp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95523237-B23A-0DD7-41C5-F8683CEFC8E6}"/>
                    </a:ext>
                  </a:extLst>
                </p:cNvPr>
                <p:cNvSpPr txBox="1"/>
                <p:nvPr/>
              </p:nvSpPr>
              <p:spPr>
                <a:xfrm>
                  <a:off x="9449934" y="2969664"/>
                  <a:ext cx="630301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Semantic</a:t>
                  </a:r>
                </a:p>
              </p:txBody>
            </p:sp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E47E2109-4DE3-5AFD-ACCE-D20E2848DF55}"/>
                    </a:ext>
                  </a:extLst>
                </p:cNvPr>
                <p:cNvSpPr txBox="1"/>
                <p:nvPr/>
              </p:nvSpPr>
              <p:spPr>
                <a:xfrm>
                  <a:off x="5702866" y="1709058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Strategy &amp; Roadmap</a:t>
                  </a:r>
                </a:p>
              </p:txBody>
            </p:sp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F411031C-F02F-0F51-D78F-22DC170167EF}"/>
                    </a:ext>
                  </a:extLst>
                </p:cNvPr>
                <p:cNvSpPr txBox="1"/>
                <p:nvPr/>
              </p:nvSpPr>
              <p:spPr>
                <a:xfrm>
                  <a:off x="6959035" y="1715371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Roles &amp; Responsibilities</a:t>
                  </a:r>
                </a:p>
              </p:txBody>
            </p:sp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4787C402-9DDA-C11F-16C0-9A97DCE51C89}"/>
                    </a:ext>
                  </a:extLst>
                </p:cNvPr>
                <p:cNvSpPr txBox="1"/>
                <p:nvPr/>
              </p:nvSpPr>
              <p:spPr>
                <a:xfrm>
                  <a:off x="8215204" y="1710926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Standards &amp; Guidelines</a:t>
                  </a:r>
                </a:p>
              </p:txBody>
            </p:sp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5EA1826E-4283-C0DB-5D98-26D921951D77}"/>
                    </a:ext>
                  </a:extLst>
                </p:cNvPr>
                <p:cNvSpPr txBox="1"/>
                <p:nvPr/>
              </p:nvSpPr>
              <p:spPr>
                <a:xfrm>
                  <a:off x="9471372" y="1705946"/>
                  <a:ext cx="96589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Compliance &amp; </a:t>
                  </a:r>
                  <a:r>
                    <a:rPr lang="en-US" sz="800" b="1" noProof="0" dirty="0" err="1"/>
                    <a:t>Regulatorik</a:t>
                  </a:r>
                  <a:endParaRPr lang="en-US" sz="800" b="1" noProof="0" dirty="0"/>
                </a:p>
              </p:txBody>
            </p:sp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089C9DE3-95E6-8A53-46DB-598722EAB536}"/>
                    </a:ext>
                  </a:extLst>
                </p:cNvPr>
                <p:cNvSpPr txBox="1"/>
                <p:nvPr/>
              </p:nvSpPr>
              <p:spPr>
                <a:xfrm>
                  <a:off x="5697814" y="5707188"/>
                  <a:ext cx="83869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Platform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Infrastructure</a:t>
                  </a:r>
                </a:p>
              </p:txBody>
            </p:sp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A7D501D1-573A-EE46-DC08-0336A13AF830}"/>
                    </a:ext>
                  </a:extLst>
                </p:cNvPr>
                <p:cNvSpPr txBox="1"/>
                <p:nvPr/>
              </p:nvSpPr>
              <p:spPr>
                <a:xfrm>
                  <a:off x="6607282" y="5699888"/>
                  <a:ext cx="87876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Data Storage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 Management</a:t>
                  </a:r>
                </a:p>
              </p:txBody>
            </p:sp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7ED81FC6-5BE8-D7D0-08DA-6C2CE9AE5FED}"/>
                    </a:ext>
                  </a:extLst>
                </p:cNvPr>
                <p:cNvSpPr txBox="1"/>
                <p:nvPr/>
              </p:nvSpPr>
              <p:spPr>
                <a:xfrm>
                  <a:off x="7556826" y="5699888"/>
                  <a:ext cx="117532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Analytics Platform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Tooling</a:t>
                  </a:r>
                </a:p>
              </p:txBody>
            </p:sp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B1F605BD-96D2-DD51-9DED-246003E67576}"/>
                    </a:ext>
                  </a:extLst>
                </p:cNvPr>
                <p:cNvSpPr txBox="1"/>
                <p:nvPr/>
              </p:nvSpPr>
              <p:spPr>
                <a:xfrm>
                  <a:off x="8802925" y="5699888"/>
                  <a:ext cx="90120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Observability &amp;</a:t>
                  </a:r>
                  <a:br>
                    <a:rPr lang="en-US" sz="800" b="1" noProof="0" dirty="0"/>
                  </a:br>
                  <a:r>
                    <a:rPr lang="en-US" sz="800" b="1" noProof="0" dirty="0" err="1"/>
                    <a:t>Resilienz</a:t>
                  </a:r>
                  <a:endParaRPr lang="en-US" sz="800" b="1" noProof="0" dirty="0"/>
                </a:p>
              </p:txBody>
            </p:sp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975FEAEB-0C38-533C-FFA2-1E0409D2BED2}"/>
                    </a:ext>
                  </a:extLst>
                </p:cNvPr>
                <p:cNvSpPr txBox="1"/>
                <p:nvPr/>
              </p:nvSpPr>
              <p:spPr>
                <a:xfrm>
                  <a:off x="9774908" y="5707188"/>
                  <a:ext cx="66236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Security 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Identity</a:t>
                  </a:r>
                </a:p>
              </p:txBody>
            </p:sp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470E64A9-8722-BE3F-0574-3F8EE46D833D}"/>
                    </a:ext>
                  </a:extLst>
                </p:cNvPr>
                <p:cNvSpPr txBox="1"/>
                <p:nvPr/>
              </p:nvSpPr>
              <p:spPr>
                <a:xfrm>
                  <a:off x="8658778" y="4496062"/>
                  <a:ext cx="699230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Integration</a:t>
                  </a:r>
                </a:p>
              </p:txBody>
            </p:sp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E47B3EBC-78BA-07DF-0610-79BFECBD402B}"/>
                    </a:ext>
                  </a:extLst>
                </p:cNvPr>
                <p:cNvSpPr txBox="1"/>
                <p:nvPr/>
              </p:nvSpPr>
              <p:spPr>
                <a:xfrm>
                  <a:off x="8636174" y="2405605"/>
                  <a:ext cx="710451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Experience</a:t>
                  </a:r>
                </a:p>
              </p:txBody>
            </p:sp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B6A80B9E-B446-0D0B-930B-F2B52E3EFE11}"/>
                    </a:ext>
                  </a:extLst>
                </p:cNvPr>
                <p:cNvSpPr txBox="1"/>
                <p:nvPr/>
              </p:nvSpPr>
              <p:spPr>
                <a:xfrm>
                  <a:off x="6300947" y="3444425"/>
                  <a:ext cx="708848" cy="21544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Realization</a:t>
                  </a:r>
                </a:p>
              </p:txBody>
            </p:sp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F5AD0FC6-1A46-34DC-57A4-7F7FDB3C7427}"/>
                    </a:ext>
                  </a:extLst>
                </p:cNvPr>
                <p:cNvSpPr txBox="1"/>
                <p:nvPr/>
              </p:nvSpPr>
              <p:spPr>
                <a:xfrm>
                  <a:off x="5977446" y="4657448"/>
                  <a:ext cx="1289135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Services &amp; Applications</a:t>
                  </a:r>
                </a:p>
              </p:txBody>
            </p:sp>
            <p:sp>
              <p:nvSpPr>
                <p:cNvPr id="201" name="TextBox 200">
                  <a:extLst>
                    <a:ext uri="{FF2B5EF4-FFF2-40B4-BE49-F238E27FC236}">
                      <a16:creationId xmlns:a16="http://schemas.microsoft.com/office/drawing/2014/main" id="{A5C7D00C-0445-FB8C-A624-8F24783EB068}"/>
                    </a:ext>
                  </a:extLst>
                </p:cNvPr>
                <p:cNvSpPr txBox="1"/>
                <p:nvPr/>
              </p:nvSpPr>
              <p:spPr>
                <a:xfrm>
                  <a:off x="5892204" y="3683650"/>
                  <a:ext cx="1452642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b="1" noProof="0" dirty="0"/>
                    <a:t>Workflows &amp; Orchestration</a:t>
                  </a:r>
                </a:p>
              </p:txBody>
            </p:sp>
            <p:sp>
              <p:nvSpPr>
                <p:cNvPr id="202" name="Pentagon 201">
                  <a:extLst>
                    <a:ext uri="{FF2B5EF4-FFF2-40B4-BE49-F238E27FC236}">
                      <a16:creationId xmlns:a16="http://schemas.microsoft.com/office/drawing/2014/main" id="{1C5EC2AE-2B0C-FFEE-EC5F-47C6FD57E25E}"/>
                    </a:ext>
                  </a:extLst>
                </p:cNvPr>
                <p:cNvSpPr/>
                <p:nvPr/>
              </p:nvSpPr>
              <p:spPr>
                <a:xfrm>
                  <a:off x="5905245" y="2372735"/>
                  <a:ext cx="285243" cy="263192"/>
                </a:xfrm>
                <a:prstGeom prst="homePlat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3" name="Chevron 202">
                  <a:extLst>
                    <a:ext uri="{FF2B5EF4-FFF2-40B4-BE49-F238E27FC236}">
                      <a16:creationId xmlns:a16="http://schemas.microsoft.com/office/drawing/2014/main" id="{AA87BDBB-A2C3-88C6-29A1-2CE3DFD7204B}"/>
                    </a:ext>
                  </a:extLst>
                </p:cNvPr>
                <p:cNvSpPr/>
                <p:nvPr/>
              </p:nvSpPr>
              <p:spPr>
                <a:xfrm>
                  <a:off x="6103460" y="2368701"/>
                  <a:ext cx="387353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Chevron 203">
                  <a:extLst>
                    <a:ext uri="{FF2B5EF4-FFF2-40B4-BE49-F238E27FC236}">
                      <a16:creationId xmlns:a16="http://schemas.microsoft.com/office/drawing/2014/main" id="{04B37E14-31B2-3ED6-3177-F60A415DBE16}"/>
                    </a:ext>
                  </a:extLst>
                </p:cNvPr>
                <p:cNvSpPr/>
                <p:nvPr/>
              </p:nvSpPr>
              <p:spPr>
                <a:xfrm>
                  <a:off x="7005112" y="2368638"/>
                  <a:ext cx="392859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5" name="Chevron 204">
                  <a:extLst>
                    <a:ext uri="{FF2B5EF4-FFF2-40B4-BE49-F238E27FC236}">
                      <a16:creationId xmlns:a16="http://schemas.microsoft.com/office/drawing/2014/main" id="{6A0BB153-6676-8DFF-B463-E697BDC0BB5F}"/>
                    </a:ext>
                  </a:extLst>
                </p:cNvPr>
                <p:cNvSpPr/>
                <p:nvPr/>
              </p:nvSpPr>
              <p:spPr>
                <a:xfrm>
                  <a:off x="6403618" y="2368637"/>
                  <a:ext cx="392859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0B2CA792-F9E7-53EF-D99B-49642847F6CE}"/>
                    </a:ext>
                  </a:extLst>
                </p:cNvPr>
                <p:cNvSpPr/>
                <p:nvPr/>
              </p:nvSpPr>
              <p:spPr>
                <a:xfrm>
                  <a:off x="5904442" y="2664360"/>
                  <a:ext cx="265792" cy="477877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DBC25BDC-2BCF-2AEF-DDDC-FEDE5D2A3176}"/>
                    </a:ext>
                  </a:extLst>
                </p:cNvPr>
                <p:cNvSpPr/>
                <p:nvPr/>
              </p:nvSpPr>
              <p:spPr>
                <a:xfrm>
                  <a:off x="6515984" y="2642681"/>
                  <a:ext cx="839098" cy="15002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8" name="Chevron 207">
                  <a:extLst>
                    <a:ext uri="{FF2B5EF4-FFF2-40B4-BE49-F238E27FC236}">
                      <a16:creationId xmlns:a16="http://schemas.microsoft.com/office/drawing/2014/main" id="{B777F9B1-F179-2F86-8F4E-055B6378355F}"/>
                    </a:ext>
                  </a:extLst>
                </p:cNvPr>
                <p:cNvSpPr/>
                <p:nvPr/>
              </p:nvSpPr>
              <p:spPr>
                <a:xfrm>
                  <a:off x="6704365" y="2368638"/>
                  <a:ext cx="392859" cy="267010"/>
                </a:xfrm>
                <a:prstGeom prst="chevron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55F406FA-178B-19AB-B2E1-D9CCB5E22C41}"/>
                    </a:ext>
                  </a:extLst>
                </p:cNvPr>
                <p:cNvSpPr/>
                <p:nvPr/>
              </p:nvSpPr>
              <p:spPr>
                <a:xfrm>
                  <a:off x="7088063" y="2668112"/>
                  <a:ext cx="258535" cy="720446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CFEFB995-E30B-396A-475B-5E183BF992A1}"/>
                    </a:ext>
                  </a:extLst>
                </p:cNvPr>
                <p:cNvSpPr/>
                <p:nvPr/>
              </p:nvSpPr>
              <p:spPr>
                <a:xfrm>
                  <a:off x="6207102" y="2843328"/>
                  <a:ext cx="254453" cy="30053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538372CD-1AD2-64BF-8A12-244A0570D907}"/>
                    </a:ext>
                  </a:extLst>
                </p:cNvPr>
                <p:cNvSpPr/>
                <p:nvPr/>
              </p:nvSpPr>
              <p:spPr>
                <a:xfrm>
                  <a:off x="6498425" y="2843329"/>
                  <a:ext cx="271506" cy="30053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13D940D5-74C3-D2EF-1F6B-3127ACF5C04B}"/>
                    </a:ext>
                  </a:extLst>
                </p:cNvPr>
                <p:cNvSpPr/>
                <p:nvPr/>
              </p:nvSpPr>
              <p:spPr>
                <a:xfrm>
                  <a:off x="6813242" y="2843330"/>
                  <a:ext cx="231510" cy="30053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3" name="Rectangle 212">
                  <a:extLst>
                    <a:ext uri="{FF2B5EF4-FFF2-40B4-BE49-F238E27FC236}">
                      <a16:creationId xmlns:a16="http://schemas.microsoft.com/office/drawing/2014/main" id="{DADD2D4E-A013-553A-6D1C-E562D2952759}"/>
                    </a:ext>
                  </a:extLst>
                </p:cNvPr>
                <p:cNvSpPr/>
                <p:nvPr/>
              </p:nvSpPr>
              <p:spPr>
                <a:xfrm>
                  <a:off x="5905245" y="3177737"/>
                  <a:ext cx="1140956" cy="213165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17B6824C-5A02-2576-12FC-59D4B8F6A2BE}"/>
                    </a:ext>
                  </a:extLst>
                </p:cNvPr>
                <p:cNvSpPr txBox="1"/>
                <p:nvPr/>
              </p:nvSpPr>
              <p:spPr>
                <a:xfrm>
                  <a:off x="6071784" y="2783926"/>
                  <a:ext cx="1085801" cy="195814"/>
                </a:xfrm>
                <a:prstGeom prst="rect">
                  <a:avLst/>
                </a:prstGeom>
                <a:solidFill>
                  <a:schemeClr val="bg1">
                    <a:alpha val="81000"/>
                  </a:schemeClr>
                </a:solidFill>
              </p:spPr>
              <p:txBody>
                <a:bodyPr wrap="none" lIns="36000" tIns="36000" rIns="36000" bIns="36000" rtlCol="0">
                  <a:spAutoFit/>
                </a:bodyPr>
                <a:lstStyle>
                  <a:defPPr>
                    <a:defRPr lang="en-DE"/>
                  </a:defPPr>
                  <a:lvl1pPr>
                    <a:defRPr sz="800" b="1"/>
                  </a:lvl1pPr>
                </a:lstStyle>
                <a:p>
                  <a:pPr algn="ctr"/>
                  <a:r>
                    <a:rPr lang="en-US" dirty="0"/>
                    <a:t>Business Capabilities</a:t>
                  </a: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C6C8D3BB-0C0A-2732-1BF5-02B0775F035B}"/>
                    </a:ext>
                  </a:extLst>
                </p:cNvPr>
                <p:cNvSpPr txBox="1"/>
                <p:nvPr/>
              </p:nvSpPr>
              <p:spPr>
                <a:xfrm>
                  <a:off x="6007330" y="3076098"/>
                  <a:ext cx="1201145" cy="195814"/>
                </a:xfrm>
                <a:prstGeom prst="rect">
                  <a:avLst/>
                </a:prstGeom>
                <a:solidFill>
                  <a:schemeClr val="bg1">
                    <a:alpha val="81000"/>
                  </a:schemeClr>
                </a:solidFill>
              </p:spPr>
              <p:txBody>
                <a:bodyPr wrap="square" lIns="36000" tIns="36000" rIns="36000" bIns="36000" rtlCol="0">
                  <a:spAutoFit/>
                </a:bodyPr>
                <a:lstStyle>
                  <a:defPPr>
                    <a:defRPr lang="en-DE"/>
                  </a:defPPr>
                  <a:lvl1pPr>
                    <a:defRPr sz="800" b="1"/>
                  </a:lvl1pPr>
                </a:lstStyle>
                <a:p>
                  <a:pPr algn="ctr"/>
                  <a:r>
                    <a:rPr lang="en-US" dirty="0"/>
                    <a:t>Processes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896CDB94-8474-F800-9454-4C7B89C08673}"/>
                    </a:ext>
                  </a:extLst>
                </p:cNvPr>
                <p:cNvSpPr txBox="1"/>
                <p:nvPr/>
              </p:nvSpPr>
              <p:spPr>
                <a:xfrm>
                  <a:off x="6254618" y="2407720"/>
                  <a:ext cx="701080" cy="195814"/>
                </a:xfrm>
                <a:prstGeom prst="rect">
                  <a:avLst/>
                </a:prstGeom>
                <a:solidFill>
                  <a:schemeClr val="bg1">
                    <a:alpha val="81000"/>
                  </a:schemeClr>
                </a:solidFill>
              </p:spPr>
              <p:txBody>
                <a:bodyPr wrap="none" lIns="36000" tIns="36000" rIns="36000" bIns="36000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Value Stream</a:t>
                  </a:r>
                </a:p>
              </p:txBody>
            </p:sp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ABEA5EBA-6ADA-B81F-710C-F05917C7AC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4775" y="3114589"/>
                  <a:ext cx="166009" cy="92052"/>
                </a:xfrm>
                <a:prstGeom prst="line">
                  <a:avLst/>
                </a:prstGeom>
                <a:ln w="12700">
                  <a:headEnd type="oval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984589AA-8E43-6784-9306-C8840E7C83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3549" y="3109450"/>
                  <a:ext cx="231909" cy="120858"/>
                </a:xfrm>
                <a:prstGeom prst="line">
                  <a:avLst/>
                </a:prstGeom>
                <a:ln w="12700">
                  <a:headEnd type="oval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EEF0AC96-A50B-92B4-5F34-E750C0D99E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73831" y="3107766"/>
                  <a:ext cx="129511" cy="50057"/>
                </a:xfrm>
                <a:prstGeom prst="line">
                  <a:avLst/>
                </a:prstGeom>
                <a:ln w="12700">
                  <a:headEnd type="none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1B39FE25-A251-F148-937E-39C208CA46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912158" y="3183048"/>
                  <a:ext cx="121917" cy="47187"/>
                </a:xfrm>
                <a:prstGeom prst="line">
                  <a:avLst/>
                </a:prstGeom>
                <a:ln w="12700">
                  <a:headEnd type="none" w="sm" len="sm"/>
                  <a:tailEnd type="oval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21" name="Graphic 220" descr="Internet Of Things with solid fill">
                  <a:extLst>
                    <a:ext uri="{FF2B5EF4-FFF2-40B4-BE49-F238E27FC236}">
                      <a16:creationId xmlns:a16="http://schemas.microsoft.com/office/drawing/2014/main" id="{15A52634-7EDB-120E-9349-AFF19BA3BD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041297" y="4225334"/>
                  <a:ext cx="625008" cy="625008"/>
                </a:xfrm>
                <a:prstGeom prst="rect">
                  <a:avLst/>
                </a:prstGeom>
              </p:spPr>
            </p:pic>
            <p:pic>
              <p:nvPicPr>
                <p:cNvPr id="222" name="Graphic 221" descr="Branching diagram with solid fill">
                  <a:extLst>
                    <a:ext uri="{FF2B5EF4-FFF2-40B4-BE49-F238E27FC236}">
                      <a16:creationId xmlns:a16="http://schemas.microsoft.com/office/drawing/2014/main" id="{7448E99E-C677-3DC9-B9C8-EA841ADAA2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06716" y="3896476"/>
                  <a:ext cx="396518" cy="396518"/>
                </a:xfrm>
                <a:prstGeom prst="rect">
                  <a:avLst/>
                </a:prstGeom>
              </p:spPr>
            </p:pic>
            <p:sp>
              <p:nvSpPr>
                <p:cNvPr id="223" name="TextBox 222">
                  <a:extLst>
                    <a:ext uri="{FF2B5EF4-FFF2-40B4-BE49-F238E27FC236}">
                      <a16:creationId xmlns:a16="http://schemas.microsoft.com/office/drawing/2014/main" id="{566F6F23-4F86-032E-CEC0-74C4FE7099A1}"/>
                    </a:ext>
                  </a:extLst>
                </p:cNvPr>
                <p:cNvSpPr txBox="1"/>
                <p:nvPr/>
              </p:nvSpPr>
              <p:spPr>
                <a:xfrm>
                  <a:off x="11057085" y="5203804"/>
                  <a:ext cx="593432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Platform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Security</a:t>
                  </a:r>
                </a:p>
              </p:txBody>
            </p:sp>
            <p:sp>
              <p:nvSpPr>
                <p:cNvPr id="224" name="TextBox 223">
                  <a:extLst>
                    <a:ext uri="{FF2B5EF4-FFF2-40B4-BE49-F238E27FC236}">
                      <a16:creationId xmlns:a16="http://schemas.microsoft.com/office/drawing/2014/main" id="{2E080A8D-1C32-5C5B-B535-C8114906BE01}"/>
                    </a:ext>
                  </a:extLst>
                </p:cNvPr>
                <p:cNvSpPr txBox="1"/>
                <p:nvPr/>
              </p:nvSpPr>
              <p:spPr>
                <a:xfrm>
                  <a:off x="10992163" y="3410206"/>
                  <a:ext cx="723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Application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Data</a:t>
                  </a:r>
                </a:p>
              </p:txBody>
            </p:sp>
            <p:sp>
              <p:nvSpPr>
                <p:cNvPr id="225" name="TextBox 224">
                  <a:extLst>
                    <a:ext uri="{FF2B5EF4-FFF2-40B4-BE49-F238E27FC236}">
                      <a16:creationId xmlns:a16="http://schemas.microsoft.com/office/drawing/2014/main" id="{69E733B3-24E9-D1FA-C142-76AEDC28AEFA}"/>
                    </a:ext>
                  </a:extLst>
                </p:cNvPr>
                <p:cNvSpPr txBox="1"/>
                <p:nvPr/>
              </p:nvSpPr>
              <p:spPr>
                <a:xfrm>
                  <a:off x="10963308" y="1616606"/>
                  <a:ext cx="78098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800" b="1" noProof="0" dirty="0"/>
                    <a:t>Business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&amp;</a:t>
                  </a:r>
                  <a:br>
                    <a:rPr lang="en-US" sz="800" b="1" noProof="0" dirty="0"/>
                  </a:br>
                  <a:r>
                    <a:rPr lang="en-US" sz="800" b="1" noProof="0" dirty="0"/>
                    <a:t>Organization</a:t>
                  </a:r>
                </a:p>
              </p:txBody>
            </p:sp>
            <p:pic>
              <p:nvPicPr>
                <p:cNvPr id="226" name="Graphic 225" descr="Care with solid fill">
                  <a:extLst>
                    <a:ext uri="{FF2B5EF4-FFF2-40B4-BE49-F238E27FC236}">
                      <a16:creationId xmlns:a16="http://schemas.microsoft.com/office/drawing/2014/main" id="{126F76E4-F379-AC6D-71FB-31BB1A316E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1031" y="2557842"/>
                  <a:ext cx="403691" cy="403691"/>
                </a:xfrm>
                <a:prstGeom prst="rect">
                  <a:avLst/>
                </a:prstGeom>
              </p:spPr>
            </p:pic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B7689881-B968-B23E-FE3E-B1759A140C79}"/>
                    </a:ext>
                  </a:extLst>
                </p:cNvPr>
                <p:cNvSpPr/>
                <p:nvPr/>
              </p:nvSpPr>
              <p:spPr>
                <a:xfrm rot="2160000">
                  <a:off x="8746849" y="4055840"/>
                  <a:ext cx="499814" cy="4839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pic>
              <p:nvPicPr>
                <p:cNvPr id="228" name="Graphic 227" descr="Circles with arrows with solid fill">
                  <a:extLst>
                    <a:ext uri="{FF2B5EF4-FFF2-40B4-BE49-F238E27FC236}">
                      <a16:creationId xmlns:a16="http://schemas.microsoft.com/office/drawing/2014/main" id="{68EA019C-A2B0-18DC-0423-3DC7EB1299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92192" y="4126160"/>
                  <a:ext cx="398413" cy="398413"/>
                </a:xfrm>
                <a:prstGeom prst="rect">
                  <a:avLst/>
                </a:prstGeom>
              </p:spPr>
            </p:pic>
          </p:grpSp>
          <p:pic>
            <p:nvPicPr>
              <p:cNvPr id="160" name="Graphic 159" descr="Scientific Thought with solid fill">
                <a:extLst>
                  <a:ext uri="{FF2B5EF4-FFF2-40B4-BE49-F238E27FC236}">
                    <a16:creationId xmlns:a16="http://schemas.microsoft.com/office/drawing/2014/main" id="{CAC5C2CE-28C4-3F26-C059-DFE8237E58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>
                <a:off x="9595041" y="2624901"/>
                <a:ext cx="398413" cy="398413"/>
              </a:xfrm>
              <a:prstGeom prst="rect">
                <a:avLst/>
              </a:prstGeom>
            </p:spPr>
          </p:pic>
        </p:grp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6DB7D3B4-D0E4-897A-1CD2-FEACAA2DB44C}"/>
                </a:ext>
              </a:extLst>
            </p:cNvPr>
            <p:cNvSpPr txBox="1"/>
            <p:nvPr/>
          </p:nvSpPr>
          <p:spPr>
            <a:xfrm>
              <a:off x="9519390" y="3200939"/>
              <a:ext cx="65274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b="1" noProof="0" dirty="0"/>
                <a:t>Contracts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5204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12EBC57-5906-7ED5-0357-C0F6C648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Danach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195258-FE69-F4F4-AF6E-8E027110F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sz="800" b="1" dirty="0"/>
              <a:t>C. Folien NACH der Visualisierung (Interaktionsmodell, Vertiefung &amp; Anwendung)</a:t>
            </a:r>
          </a:p>
          <a:p>
            <a:pPr lvl="0"/>
            <a:r>
              <a:rPr lang="en-DE" sz="800" b="1" dirty="0"/>
              <a:t>Folie 5: Die Interaktionsmechanik (Zweidimensionales Alignment &amp; Feedback-Schleifen)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Zusammenspiel der Schichten: Wie Fachlichkeit, Software und Daten ineinandergreifen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Löst die statische Schichten-Optik in ein dynamisches Zusammenspiel auf (gemäß Metamodell Kap. 4).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</a:t>
            </a:r>
          </a:p>
          <a:p>
            <a:pPr lvl="2"/>
            <a:r>
              <a:rPr lang="en-DE" sz="800" dirty="0"/>
              <a:t>Vertikaler Durchgriff: Value Stream steuert Workflows; Capabilities schneiden Services.</a:t>
            </a:r>
          </a:p>
          <a:p>
            <a:pPr lvl="2"/>
            <a:r>
              <a:rPr lang="en-DE" sz="800" dirty="0"/>
              <a:t>Horizontale Bindung: Services publizieren Datenprodukte; Schnittstellen basieren auf Semantik und Verträgen.</a:t>
            </a:r>
          </a:p>
          <a:p>
            <a:pPr lvl="2"/>
            <a:r>
              <a:rPr lang="en-DE" sz="800" dirty="0"/>
              <a:t>Operative Rückkopplung: Analytische Datenprodukte und Telemetriewerte fließen zurück in Prozesse und Workflows zur kontinuierlichen Optimierung.</a:t>
            </a:r>
          </a:p>
          <a:p>
            <a:pPr lvl="0"/>
            <a:r>
              <a:rPr lang="en-DE" sz="800" b="1" dirty="0"/>
              <a:t>Folie 6: Die Guiding Principles im Detail (Der normative Kompass)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Guiding Principles: Leitplanken für Design- und Sourcing-Entscheidungen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Vertieft die rechte Spalte der Hauptfolie.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Gegenüberstellung der Leitsätze und ihrer praktischen Konsequenzen: </a:t>
            </a:r>
          </a:p>
          <a:p>
            <a:pPr lvl="2"/>
            <a:r>
              <a:rPr lang="en-DE" sz="800" i="1" dirty="0"/>
              <a:t>Business &amp; Organization:</a:t>
            </a:r>
            <a:r>
              <a:rPr lang="en-DE" sz="800" dirty="0"/>
              <a:t> Wo bauen wir selbst (Core), wo kaufen wir Standard (Generic)?</a:t>
            </a:r>
          </a:p>
          <a:p>
            <a:pPr lvl="2"/>
            <a:r>
              <a:rPr lang="en-DE" sz="800" i="1" dirty="0"/>
              <a:t>Application &amp; Data:</a:t>
            </a:r>
            <a:r>
              <a:rPr lang="en-DE" sz="800" dirty="0"/>
              <a:t> Warum API-First und Contract-First Pflicht sind; Anti-Corruption-Layer bei Drittsystemen.</a:t>
            </a:r>
          </a:p>
          <a:p>
            <a:pPr lvl="2"/>
            <a:r>
              <a:rPr lang="en-DE" sz="800" i="1" dirty="0"/>
              <a:t>Platform &amp; Security:</a:t>
            </a:r>
            <a:r>
              <a:rPr lang="en-DE" sz="800" dirty="0"/>
              <a:t> Zero Trust, Everything as Code und Resilienz als Standardvorgaben.</a:t>
            </a:r>
          </a:p>
          <a:p>
            <a:pPr lvl="0"/>
            <a:r>
              <a:rPr lang="en-DE" sz="800" b="1" dirty="0"/>
              <a:t>Folie 7: Vertiefungsmöglichkeiten (Segment-Architekturen &amp; Overlays)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Modularität des Modells: Zoom-ins und Querschnitts-Projektionen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Zeigt auf, wie das Modell im Detail angewendet wird (Modularer Baukasten).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</a:t>
            </a:r>
          </a:p>
          <a:p>
            <a:pPr lvl="2"/>
            <a:r>
              <a:rPr lang="en-DE" sz="800" i="1" dirty="0"/>
              <a:t>Segment-Architekturen:</a:t>
            </a:r>
            <a:r>
              <a:rPr lang="en-DE" sz="800" dirty="0"/>
              <a:t> Vertikale Schnitte, z. B. detailliertes Capability Mapping im Business Layer.</a:t>
            </a:r>
          </a:p>
          <a:p>
            <a:pPr lvl="2"/>
            <a:r>
              <a:rPr lang="en-DE" sz="800" i="1" dirty="0"/>
              <a:t>Thematische Overlays:</a:t>
            </a:r>
            <a:r>
              <a:rPr lang="en-DE" sz="800" dirty="0"/>
              <a:t> Wie projiziert man Spezialthemen über alle Schichten? (z. B. das AI-Readiness Overlay oder Cloud-Transformation).</a:t>
            </a:r>
          </a:p>
          <a:p>
            <a:pPr lvl="0"/>
            <a:r>
              <a:rPr lang="en-DE" sz="800" b="1" dirty="0"/>
              <a:t>Folie 8: Operative Anwendung &amp; Vorgehen (Vom Modell zur Transformation)</a:t>
            </a:r>
            <a:r>
              <a:rPr lang="en-DE" sz="800" dirty="0"/>
              <a:t> </a:t>
            </a:r>
          </a:p>
          <a:p>
            <a:pPr lvl="1"/>
            <a:r>
              <a:rPr lang="en-DE" sz="800" i="1" dirty="0"/>
              <a:t>Titel:</a:t>
            </a:r>
            <a:r>
              <a:rPr lang="en-DE" sz="800" dirty="0"/>
              <a:t> Einsatz im Transformations- und Review-Prozess</a:t>
            </a:r>
          </a:p>
          <a:p>
            <a:pPr lvl="1"/>
            <a:r>
              <a:rPr lang="en-DE" sz="800" i="1" dirty="0"/>
              <a:t>Zweck:</a:t>
            </a:r>
            <a:r>
              <a:rPr lang="en-DE" sz="800" dirty="0"/>
              <a:t> Zeigt den konkreten Nutzen für das Projekt oder den Kunden auf.</a:t>
            </a:r>
          </a:p>
          <a:p>
            <a:pPr lvl="1"/>
            <a:r>
              <a:rPr lang="en-DE" sz="800" i="1" dirty="0"/>
              <a:t>Inhalte:</a:t>
            </a:r>
            <a:r>
              <a:rPr lang="en-DE" sz="800" dirty="0"/>
              <a:t> </a:t>
            </a:r>
          </a:p>
          <a:p>
            <a:pPr lvl="2"/>
            <a:r>
              <a:rPr lang="en-DE" sz="800" i="1" dirty="0"/>
              <a:t>1. Diagnose &amp; Ist-Aufnahme:</a:t>
            </a:r>
            <a:r>
              <a:rPr lang="en-DE" sz="800" dirty="0"/>
              <a:t> Erfassung der bestehenden Systeme entlang des Rasters (Review Canvas).</a:t>
            </a:r>
          </a:p>
          <a:p>
            <a:pPr lvl="2"/>
            <a:r>
              <a:rPr lang="en-DE" sz="800" i="1" dirty="0"/>
              <a:t>2. Gap-Analyse &amp; Soll-Bebauung:</a:t>
            </a:r>
            <a:r>
              <a:rPr lang="en-DE" sz="800" dirty="0"/>
              <a:t> Identifikation fehlender Entkopplung, unklarer Datenverantwortung und Schatten-IT.</a:t>
            </a:r>
          </a:p>
          <a:p>
            <a:pPr lvl="2"/>
            <a:r>
              <a:rPr lang="en-DE" sz="800" i="1" dirty="0"/>
              <a:t>3. Roadmap &amp; Migrationspfade:</a:t>
            </a:r>
            <a:r>
              <a:rPr lang="en-DE" sz="800" dirty="0"/>
              <a:t> Ableitung priorisierter Initiativen für die Modernisierung.</a:t>
            </a:r>
          </a:p>
          <a:p>
            <a:endParaRPr lang="de-DE" sz="8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602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1159</Words>
  <Application>Microsoft Macintosh PowerPoint</Application>
  <PresentationFormat>Widescreen</PresentationFormat>
  <Paragraphs>148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Enterprise Landscape Model</vt:lpstr>
      <vt:lpstr>Davor</vt:lpstr>
      <vt:lpstr>Ausgangslage</vt:lpstr>
      <vt:lpstr>PowerPoint Presentation</vt:lpstr>
      <vt:lpstr>PowerPoint Presentation</vt:lpstr>
      <vt:lpstr>Danach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Senner, Julia</dc:creator>
  <cp:lastModifiedBy>Senner, Julia</cp:lastModifiedBy>
  <cp:revision>6</cp:revision>
  <dcterms:created xsi:type="dcterms:W3CDTF">2026-10-06T22:12:10Z</dcterms:created>
  <dcterms:modified xsi:type="dcterms:W3CDTF">2026-10-09T23:04:44Z</dcterms:modified>
</cp:coreProperties>
</file>