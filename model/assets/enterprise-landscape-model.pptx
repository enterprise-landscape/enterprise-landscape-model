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7"/>
    <p:restoredTop sz="94883"/>
  </p:normalViewPr>
  <p:slideViewPr>
    <p:cSldViewPr snapToGrid="0">
      <p:cViewPr>
        <p:scale>
          <a:sx n="59" d="100"/>
          <a:sy n="59" d="100"/>
        </p:scale>
        <p:origin x="1496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549EE-776E-BA4B-BBDC-8B29B959F6FA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B7BC8-77FD-874C-9FA0-3CFD3DBEDCD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99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B7BC8-77FD-874C-9FA0-3CFD3DBEDCD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04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50F4-ACD8-A3E0-6561-90F5DC60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FCB0F-393A-FDA5-3CA0-64FB69456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DBCE9-FF0D-1BFC-72C5-D5F30D7E8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F5D2B-50B8-7A7B-D241-8209160BB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B7BC8-77FD-874C-9FA0-3CFD3DBEDCD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7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FBDB-0F78-38D4-2572-87B884DF1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8D554-325C-E78E-F397-096E80A9B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C5BDA-B215-11D1-A644-9CFB9154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1AE7F-0DA4-FF5D-CA1A-BE0FF6B3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1A2CE-F6D3-59AB-D3C4-9C50B416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43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14A2-F5E7-B1EE-F12D-9F8E41ED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2A9A-7294-25C3-FD03-1E7D12062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CE7F-C5F8-461B-5BD7-CBD44E29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3C17D-4BCF-0444-3F7A-9BCEE700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0FAB9-1BE5-3BD0-A8EC-7D788C04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210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CC3A-6806-D250-30A6-9A6516BE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DABE7-D44B-3D83-7CDC-93F5B254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FBA59-E97C-9901-72AB-0E688C7B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FC256-A21E-5A54-06F0-E0AA5597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B4C28-A276-9BE3-C1D8-AA48EFD8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287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8D2D-E079-DB17-9341-64835CB4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5C76A-3DE6-F1FD-A248-2DD1A5C1E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48A7D-CA52-DBB3-C165-ACCCF840D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34ED8-DC77-8B05-6D77-0A656F1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F1571-41B9-CE7B-8A78-DBAF4E379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49BF1-43C0-AAA1-E268-0C4807C2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74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9CE8-A66E-98F3-3DEF-7701A3A0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C349B-1E0B-280B-CE24-F750C965A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EF796-4A6D-5E0B-8C25-200348EFD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43078-45B3-9576-D5D8-CA61A059E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7F12F-380E-D30E-73CD-53879D902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59C5E-9802-E49A-245A-7EC4AAE9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B196C-C1D5-B336-F4A3-EF509D32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C5ADC-F3C4-0E0A-76FF-998D563A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200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3DBA-C17D-C926-D2C0-CBD620B8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E2049-9E50-B37C-B713-5898CB2A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80256-BDF1-85DD-57DA-A93923B9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BE660-34E8-AD02-AB36-D89028B0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29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0E6E1-27FC-6459-0B86-1A9FE92D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7EAC8-2267-063A-F209-59C1349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CD199-294D-50AA-64DF-4DF32517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7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3DDA-1EEB-7421-31CD-76659246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3473-1F04-6A9D-7603-BF1F1CC8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474F4-8058-331B-F686-C8B797C4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08CC8-B8CE-80BA-8C05-73E4B5648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655E3-FAB1-5D48-4012-FD15B994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3605E-A994-6CDE-14F4-120FDEA7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12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DFF1-9D62-66B5-BE73-6EB1676A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C5431-670B-8753-F276-B0D089173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29699-4AF9-31F1-F8A7-9F7D06DD0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75BCA-5A2A-49AA-A5E3-4AE7C01A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9AC31-4434-3EB9-7367-B54323B3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991FD-8E09-D591-C0F4-5E397C04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26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50D2-3975-294C-832E-EC88DC22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F0F6-6933-068F-166B-7A1238820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F0EF-3485-EA12-8075-0723AE6E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2F920-E8BB-D810-4CB7-9F06FA1F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EA0E0-ACE0-F3EC-F739-B66FF3AC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9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524A5-C07E-63B5-B47A-5EECAAF2D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8142A-2ACD-70A7-7C1C-0C4CE9E8B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9D060-D0A0-4E3E-5F39-9FBE0F9A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B71EA-D30C-91AC-5050-0E0C3250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A3F91-98F8-F291-C4A6-B618998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1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BD678-75D4-D8E5-C7A3-841AD4AD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13644-E4EE-FBA0-00EB-83B24E980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9124-7C13-90AA-0BEF-55208A923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4BD98-D583-F44B-9086-A3B383D998D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F591F-C8AC-6135-C648-9B6C461A5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C4A39-5547-423D-17B4-8A6F995F2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A12DB-3DFD-4C44-95F7-0732D9DA08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69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6C5-91C8-787F-2F61-4CB85FD57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Enterprise Landscape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028C5-F0C4-08F7-8154-60EAA8DD7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pragmatic</a:t>
            </a:r>
            <a:r>
              <a:rPr lang="de-DE" dirty="0"/>
              <a:t> </a:t>
            </a:r>
            <a:r>
              <a:rPr lang="de-DE" dirty="0" err="1"/>
              <a:t>formalization</a:t>
            </a:r>
            <a:r>
              <a:rPr lang="de-DE" dirty="0"/>
              <a:t> of EA-Know How</a:t>
            </a:r>
          </a:p>
        </p:txBody>
      </p:sp>
    </p:spTree>
    <p:extLst>
      <p:ext uri="{BB962C8B-B14F-4D97-AF65-F5344CB8AC3E}">
        <p14:creationId xmlns:p14="http://schemas.microsoft.com/office/powerpoint/2010/main" val="140569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219DB3-DF6B-62BC-81DB-03F27C66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Davor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214294-D746-B6B0-6FF0-BFC13F0A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800" dirty="0"/>
              <a:t>Um aus einer einzelnen Modellgrafik eine überzeugende Management- und Architektur-Storyline zu formen, empfiehlt sich ein klassischer Dreiklang: </a:t>
            </a:r>
            <a:r>
              <a:rPr lang="en-DE" sz="800" b="1" dirty="0"/>
              <a:t>Kontext &amp; Notwendigkeit (Davor) → Das Big Picture (Die vorliegende Folie) → Interaktion, Vertiefung &amp; Umsetzung (Danach)</a:t>
            </a:r>
            <a:r>
              <a:rPr lang="en-DE" sz="800" dirty="0"/>
              <a:t>.</a:t>
            </a:r>
          </a:p>
          <a:p>
            <a:r>
              <a:rPr lang="en-DE" sz="800" b="1" dirty="0"/>
              <a:t>A. Folien VOR der Visualisierung (Kontext &amp; Herleitung)</a:t>
            </a:r>
          </a:p>
          <a:p>
            <a:pPr lvl="0"/>
            <a:r>
              <a:rPr lang="en-DE" sz="800" b="1" dirty="0"/>
              <a:t>Folie 1: Ausgangslage &amp; Schmerzpunkte (Der Handlungsdruck)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Wachsende Komplexität gewachsener Systemlandschaften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Schafft das gemeinsame Problembewusstsein.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Typische Reibungsverluste: Enge Kopplung, unklare Datenhoheit, organisatorische Silos (Conway's Law als Bremse), fehlende Transparenz über Abhängigkeiten und Integrationswildwuchs.</a:t>
            </a:r>
          </a:p>
          <a:p>
            <a:pPr lvl="0"/>
            <a:r>
              <a:rPr lang="en-DE" sz="800" b="1" dirty="0"/>
              <a:t>Folie 2: Zielsetzung &amp; Funktion des Referenzmodells (Die drei Funktionen)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Ein Ordnungsrahmen für fundierte Architekturentscheidungen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Erklärt den methodischen Anspruch (gemäß EAM-Prinzipien).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</a:t>
            </a:r>
          </a:p>
          <a:p>
            <a:pPr lvl="2"/>
            <a:r>
              <a:rPr lang="en-DE" sz="800" i="1" dirty="0"/>
              <a:t>Normativ:</a:t>
            </a:r>
            <a:r>
              <a:rPr lang="en-DE" sz="800" dirty="0"/>
              <a:t> Definierte Schichten, Gateways und Entkopplungsregeln für die Zielarchitektur.</a:t>
            </a:r>
          </a:p>
          <a:p>
            <a:pPr lvl="2"/>
            <a:r>
              <a:rPr lang="en-DE" sz="800" i="1" dirty="0"/>
              <a:t>Diagnostisch:</a:t>
            </a:r>
            <a:r>
              <a:rPr lang="en-DE" sz="800" dirty="0"/>
              <a:t> Prüfraster für Reviews, um strukturelle Brüche und Legacy-Risiken objektiv aufzudecken.</a:t>
            </a:r>
          </a:p>
          <a:p>
            <a:pPr lvl="2"/>
            <a:r>
              <a:rPr lang="en-DE" sz="800" i="1" dirty="0"/>
              <a:t>Kommunikativ:</a:t>
            </a:r>
            <a:r>
              <a:rPr lang="en-DE" sz="800" dirty="0"/>
              <a:t> Gemeinsame Sprache zwischen Fachbereich, Enterprise Architecture und Engineering.</a:t>
            </a:r>
          </a:p>
          <a:p>
            <a:pPr lvl="0"/>
            <a:r>
              <a:rPr lang="en-DE" sz="800" b="1" dirty="0"/>
              <a:t>Folie 3: Leitidee &amp; Paradigmenwechsel (Der konzeptionelle Shift)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Die drei Paradigmen einer evolvierbaren Unternehmenslandschaft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Bereitet das Gehirn der Zuhörer auf das Modell vor, bevor das Bild gezeigt wird.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</a:t>
            </a:r>
          </a:p>
          <a:p>
            <a:pPr lvl="2"/>
            <a:r>
              <a:rPr lang="en-DE" sz="800" i="1" dirty="0"/>
              <a:t>Capability-First:</a:t>
            </a:r>
            <a:r>
              <a:rPr lang="en-DE" sz="800" dirty="0"/>
              <a:t> Software folgt stabilen Fähigkeiten, nicht temporären Organigrammen.</a:t>
            </a:r>
          </a:p>
          <a:p>
            <a:pPr lvl="2"/>
            <a:r>
              <a:rPr lang="en-DE" sz="800" i="1" dirty="0"/>
              <a:t>Data as a Product:</a:t>
            </a:r>
            <a:r>
              <a:rPr lang="en-DE" sz="800" dirty="0"/>
              <a:t> Daten als eigenständiges Wirtschaftsgut mit klarem Ownership, nicht als Abfallprodukt von Applikationen.</a:t>
            </a:r>
          </a:p>
          <a:p>
            <a:pPr lvl="2"/>
            <a:r>
              <a:rPr lang="en-DE" sz="800" i="1" dirty="0"/>
              <a:t>Gateway-Entkopplung:</a:t>
            </a:r>
            <a:r>
              <a:rPr lang="en-DE" sz="800" dirty="0"/>
              <a:t> Klare Isolierung des operativen Kerns nach außen.</a:t>
            </a:r>
          </a:p>
          <a:p>
            <a:endParaRPr lang="de-DE" sz="800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682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CFC110-A1F7-DB66-1E61-36CD0CDA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59217" cy="671360"/>
          </a:xfrm>
        </p:spPr>
        <p:txBody>
          <a:bodyPr>
            <a:normAutofit/>
          </a:bodyPr>
          <a:lstStyle/>
          <a:p>
            <a:r>
              <a:rPr lang="de-DE" sz="3200" b="1" dirty="0"/>
              <a:t>Ausgangslage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81FE4E-25A5-74FE-F2DA-E13C9DAB8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3228"/>
            <a:ext cx="4790162" cy="49396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200" b="1" dirty="0"/>
              <a:t>Typische Reibungsverluste</a:t>
            </a:r>
          </a:p>
          <a:p>
            <a:pPr marL="0" indent="0">
              <a:buNone/>
            </a:pPr>
            <a:r>
              <a:rPr lang="de-DE" sz="1200" dirty="0"/>
              <a:t>Enge Kopplung, unklare Datenhoheit, organisatorische Silos (</a:t>
            </a:r>
            <a:r>
              <a:rPr lang="de-DE" sz="1200" dirty="0" err="1"/>
              <a:t>Conway's</a:t>
            </a:r>
            <a:r>
              <a:rPr lang="de-DE" sz="1200" dirty="0"/>
              <a:t> Law als Bremse), fehlende Transparenz über Abhängigkeiten und Integrationswildwuchs.</a:t>
            </a:r>
          </a:p>
          <a:p>
            <a:pPr marL="0" indent="0">
              <a:buNone/>
            </a:pP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Aktuelle Herausforderung</a:t>
            </a:r>
          </a:p>
          <a:p>
            <a:pPr marL="0" indent="0">
              <a:buNone/>
            </a:pPr>
            <a:r>
              <a:rPr lang="de-DE" sz="1200" dirty="0"/>
              <a:t>Schaffen eines gemeinsamen Problembewusstseins und Methoden für dessen Einordnung und Quantifizierung</a:t>
            </a:r>
          </a:p>
          <a:p>
            <a:pPr marL="0" indent="0">
              <a:buNone/>
            </a:pPr>
            <a:endParaRPr lang="de-DE" sz="1200" dirty="0"/>
          </a:p>
          <a:p>
            <a:pPr marL="0" indent="0">
              <a:buNone/>
            </a:pPr>
            <a:endParaRPr lang="de-DE" sz="1200" dirty="0"/>
          </a:p>
          <a:p>
            <a:pPr marL="0" indent="0">
              <a:buNone/>
            </a:pPr>
            <a:endParaRPr lang="de-DE" sz="1200" dirty="0"/>
          </a:p>
          <a:p>
            <a:pPr marL="0" indent="0">
              <a:buNone/>
            </a:pPr>
            <a:endParaRPr lang="de-DE" sz="1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F84EBA-1A67-8696-F2A8-CDF0A46F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3638" y="1553228"/>
            <a:ext cx="4790162" cy="49396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200" b="1" dirty="0"/>
              <a:t>Ein Ordnungsrahmen für fundierte Architekturentscheidungen</a:t>
            </a:r>
          </a:p>
          <a:p>
            <a:r>
              <a:rPr lang="de-DE" sz="1200" b="1" dirty="0"/>
              <a:t>Normativ: </a:t>
            </a:r>
            <a:r>
              <a:rPr lang="de-DE" sz="1200" dirty="0"/>
              <a:t>Definierte Schichten, Gateways und Entkopplungsregeln für die Zielarchitektur.</a:t>
            </a:r>
          </a:p>
          <a:p>
            <a:r>
              <a:rPr lang="de-DE" sz="1200" b="1" dirty="0"/>
              <a:t>Diagnostisch: </a:t>
            </a:r>
            <a:r>
              <a:rPr lang="de-DE" sz="1200" dirty="0"/>
              <a:t>Prüfraster für Reviews, um strukturelle Brüche und Legacy-Risiken objektiv aufzudecken.</a:t>
            </a:r>
          </a:p>
          <a:p>
            <a:r>
              <a:rPr lang="de-DE" sz="1200" b="1" dirty="0"/>
              <a:t>Kommunikativ: </a:t>
            </a:r>
            <a:r>
              <a:rPr lang="de-DE" sz="1200" dirty="0"/>
              <a:t>Gemeinsame Sprache zwischen Fachbereich, Enterprise Architecture und Engineering.</a:t>
            </a:r>
          </a:p>
          <a:p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Leitidee &amp; Paradigmenwechsel</a:t>
            </a:r>
          </a:p>
          <a:p>
            <a:r>
              <a:rPr lang="de-DE" sz="1200" b="1" dirty="0" err="1"/>
              <a:t>Capability</a:t>
            </a:r>
            <a:r>
              <a:rPr lang="de-DE" sz="1200" b="1" dirty="0"/>
              <a:t>-First:</a:t>
            </a:r>
            <a:r>
              <a:rPr lang="de-DE" sz="1200" dirty="0"/>
              <a:t> Software folgt stabilen Fähigkeiten, nicht temporären Organigrammen oder Prozessen</a:t>
            </a:r>
          </a:p>
          <a:p>
            <a:r>
              <a:rPr lang="de-DE" sz="1200" b="1" dirty="0"/>
              <a:t>Data as a </a:t>
            </a:r>
            <a:r>
              <a:rPr lang="de-DE" sz="1200" b="1" dirty="0" err="1"/>
              <a:t>Product</a:t>
            </a:r>
            <a:r>
              <a:rPr lang="de-DE" sz="1200" b="1" dirty="0"/>
              <a:t>:</a:t>
            </a:r>
            <a:r>
              <a:rPr lang="de-DE" sz="1200" dirty="0"/>
              <a:t> Daten als eigenständiges Wirtschaftsgut mit klarem Ownership, nicht als Abfallprodukt von Applikationen.</a:t>
            </a:r>
          </a:p>
          <a:p>
            <a:r>
              <a:rPr lang="de-DE" sz="1200" b="1" dirty="0"/>
              <a:t>Gateway-Enkopplung:</a:t>
            </a:r>
            <a:r>
              <a:rPr lang="de-DE" sz="1200" dirty="0"/>
              <a:t> Klare Isolierung des operativen Kerns nach außen.</a:t>
            </a:r>
            <a:endParaRPr lang="de-DE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31268-4C31-6AE3-146E-EBF4A4648BC8}"/>
              </a:ext>
            </a:extLst>
          </p:cNvPr>
          <p:cNvSpPr txBox="1"/>
          <p:nvPr/>
        </p:nvSpPr>
        <p:spPr>
          <a:xfrm>
            <a:off x="989556" y="3294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C4E3DB5-4871-CA4F-A43B-B34B3694B16C}"/>
              </a:ext>
            </a:extLst>
          </p:cNvPr>
          <p:cNvSpPr txBox="1">
            <a:spLocks/>
          </p:cNvSpPr>
          <p:nvPr/>
        </p:nvSpPr>
        <p:spPr>
          <a:xfrm>
            <a:off x="6694585" y="365126"/>
            <a:ext cx="4659217" cy="67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e-DE" sz="3200" b="1" dirty="0"/>
              <a:t>Referenzmodell</a:t>
            </a:r>
          </a:p>
        </p:txBody>
      </p:sp>
    </p:spTree>
    <p:extLst>
      <p:ext uri="{BB962C8B-B14F-4D97-AF65-F5344CB8AC3E}">
        <p14:creationId xmlns:p14="http://schemas.microsoft.com/office/powerpoint/2010/main" val="412134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F82B8761-1F10-C0F3-68CF-670E075D5EFE}"/>
              </a:ext>
            </a:extLst>
          </p:cNvPr>
          <p:cNvSpPr txBox="1">
            <a:spLocks/>
          </p:cNvSpPr>
          <p:nvPr/>
        </p:nvSpPr>
        <p:spPr>
          <a:xfrm>
            <a:off x="786117" y="380012"/>
            <a:ext cx="4659217" cy="671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/>
              <a:t>Reference Model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0690E24-0C27-3675-4850-5BFB6F0A3511}"/>
              </a:ext>
            </a:extLst>
          </p:cNvPr>
          <p:cNvSpPr txBox="1">
            <a:spLocks/>
          </p:cNvSpPr>
          <p:nvPr/>
        </p:nvSpPr>
        <p:spPr>
          <a:xfrm>
            <a:off x="838199" y="1553228"/>
            <a:ext cx="3921691" cy="4939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Das Referenzmodell verbindet Geschäftsstrategie, Wertschöpfung, Softwarelandschaft, Daten und Plattformbetrieb zu einem tragfähigen Gesamtsystem. Es dient als normatives Zielbild und diagnostisches Prüfraster für Reviews.</a:t>
            </a:r>
          </a:p>
          <a:p>
            <a:endParaRPr lang="de-DE" sz="1200" b="1" dirty="0"/>
          </a:p>
          <a:p>
            <a:pPr marL="228600" indent="-228600">
              <a:buAutoNum type="arabicPeriod"/>
            </a:pPr>
            <a:r>
              <a:rPr lang="de-DE" sz="1200" b="1" dirty="0"/>
              <a:t>Fach- und Systemausrichtung (Tier 2 &amp; 3)</a:t>
            </a:r>
            <a:br>
              <a:rPr lang="de-DE" sz="1200" b="1" dirty="0"/>
            </a:br>
            <a:r>
              <a:rPr lang="de-DE" sz="1200" dirty="0"/>
              <a:t>Stabile Business </a:t>
            </a:r>
            <a:r>
              <a:rPr lang="de-DE" sz="1200" dirty="0" err="1"/>
              <a:t>Capabilities</a:t>
            </a:r>
            <a:r>
              <a:rPr lang="de-DE" sz="1200" dirty="0"/>
              <a:t> und Geschäftsprozesse strukturieren modulare Services und kapseln gewachsene Bestandsmonolithen.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Domänenzentrierte Datenarchitektur (Tier 4)</a:t>
            </a:r>
            <a:br>
              <a:rPr lang="de-DE" sz="1200" b="1" dirty="0"/>
            </a:br>
            <a:r>
              <a:rPr lang="de-DE" sz="1200" dirty="0"/>
              <a:t>Klare </a:t>
            </a:r>
            <a:r>
              <a:rPr lang="de-DE" sz="1200" dirty="0" err="1"/>
              <a:t>Bounded</a:t>
            </a:r>
            <a:r>
              <a:rPr lang="de-DE" sz="1200" dirty="0"/>
              <a:t> </a:t>
            </a:r>
            <a:r>
              <a:rPr lang="de-DE" sz="1200" dirty="0" err="1"/>
              <a:t>Contexts</a:t>
            </a:r>
            <a:r>
              <a:rPr lang="de-DE" sz="1200" dirty="0"/>
              <a:t>, kontextbezogene Semantik und autonome Datenprodukte lösen intransparente Datenstrukturen auf.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Standardisiertes Plattformfundament (Tier 5)</a:t>
            </a:r>
            <a:br>
              <a:rPr lang="de-DE" sz="1200" b="1" dirty="0"/>
            </a:br>
            <a:r>
              <a:rPr lang="de-DE" sz="1200" dirty="0"/>
              <a:t>Einheitliche Basis für Betrieb, </a:t>
            </a:r>
            <a:r>
              <a:rPr lang="de-DE" sz="1200" dirty="0" err="1"/>
              <a:t>Observability</a:t>
            </a:r>
            <a:r>
              <a:rPr lang="de-DE" sz="1200" dirty="0"/>
              <a:t> und Zero Trust Security, organisiert als internes Plattformprodukt.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Entkopplungsgateways &amp; Leitplanken (Tier 1 &amp; Guiding </a:t>
            </a:r>
            <a:r>
              <a:rPr lang="de-DE" sz="1200" b="1" dirty="0" err="1"/>
              <a:t>Principles</a:t>
            </a:r>
            <a:r>
              <a:rPr lang="de-DE" sz="1200" b="1" dirty="0"/>
              <a:t>)</a:t>
            </a:r>
            <a:br>
              <a:rPr lang="de-DE" sz="1200" b="1" dirty="0"/>
            </a:br>
            <a:r>
              <a:rPr lang="de-DE" sz="1200" dirty="0"/>
              <a:t>Experience und Integration isolieren den operativen Kern von Kanal- und Partnerwechseln. Verbindliche Guiding </a:t>
            </a:r>
            <a:r>
              <a:rPr lang="de-DE" sz="1200" dirty="0" err="1"/>
              <a:t>Principles</a:t>
            </a:r>
            <a:r>
              <a:rPr lang="de-DE" sz="1200" dirty="0"/>
              <a:t> steuern Design und Sourcing.</a:t>
            </a:r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157" name="Title 5">
            <a:extLst>
              <a:ext uri="{FF2B5EF4-FFF2-40B4-BE49-F238E27FC236}">
                <a16:creationId xmlns:a16="http://schemas.microsoft.com/office/drawing/2014/main" id="{9F35A2CE-803D-F5B3-93EA-141748410599}"/>
              </a:ext>
            </a:extLst>
          </p:cNvPr>
          <p:cNvSpPr txBox="1">
            <a:spLocks/>
          </p:cNvSpPr>
          <p:nvPr/>
        </p:nvSpPr>
        <p:spPr>
          <a:xfrm>
            <a:off x="840035" y="1036486"/>
            <a:ext cx="3979626" cy="28751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/>
              <a:t>Enterprise Landscape Model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CB9A843-658A-98B5-F553-B2407D08A395}"/>
              </a:ext>
            </a:extLst>
          </p:cNvPr>
          <p:cNvGrpSpPr/>
          <p:nvPr/>
        </p:nvGrpSpPr>
        <p:grpSpPr>
          <a:xfrm>
            <a:off x="5150266" y="1036486"/>
            <a:ext cx="6762865" cy="5143944"/>
            <a:chOff x="5150266" y="1036486"/>
            <a:chExt cx="6762865" cy="514394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93E7C2C-B6C6-D3BF-4C67-AC502F4004BB}"/>
                </a:ext>
              </a:extLst>
            </p:cNvPr>
            <p:cNvGrpSpPr/>
            <p:nvPr/>
          </p:nvGrpSpPr>
          <p:grpSpPr>
            <a:xfrm>
              <a:off x="5150266" y="1036486"/>
              <a:ext cx="6762865" cy="5143944"/>
              <a:chOff x="5150266" y="1036486"/>
              <a:chExt cx="6762865" cy="514394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0395932-9330-A2B5-1E27-1F3B31BC9956}"/>
                  </a:ext>
                </a:extLst>
              </p:cNvPr>
              <p:cNvGrpSpPr/>
              <p:nvPr/>
            </p:nvGrpSpPr>
            <p:grpSpPr>
              <a:xfrm>
                <a:off x="5164618" y="1047077"/>
                <a:ext cx="5248650" cy="1128787"/>
                <a:chOff x="5953075" y="1293779"/>
                <a:chExt cx="5248650" cy="972767"/>
              </a:xfrm>
            </p:grpSpPr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84F8F51E-163F-0CB9-C24D-8E35B18B3DD3}"/>
                    </a:ext>
                  </a:extLst>
                </p:cNvPr>
                <p:cNvSpPr/>
                <p:nvPr/>
              </p:nvSpPr>
              <p:spPr>
                <a:xfrm>
                  <a:off x="5953075" y="1293780"/>
                  <a:ext cx="5248650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14" name="Round Same-side Corner of Rectangle 13">
                  <a:extLst>
                    <a:ext uri="{FF2B5EF4-FFF2-40B4-BE49-F238E27FC236}">
                      <a16:creationId xmlns:a16="http://schemas.microsoft.com/office/drawing/2014/main" id="{5371DA96-5413-7B1F-93CA-90E0D8A7125B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Guidance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95F6A48-2E1E-E0FB-EA6B-3E0399FECC04}"/>
                  </a:ext>
                </a:extLst>
              </p:cNvPr>
              <p:cNvGrpSpPr/>
              <p:nvPr/>
            </p:nvGrpSpPr>
            <p:grpSpPr>
              <a:xfrm>
                <a:off x="5164617" y="5051643"/>
                <a:ext cx="5248649" cy="1128787"/>
                <a:chOff x="5953074" y="1293779"/>
                <a:chExt cx="5248649" cy="972767"/>
              </a:xfrm>
            </p:grpSpPr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A5F5D80C-8091-5DE0-4844-D5515F734E67}"/>
                    </a:ext>
                  </a:extLst>
                </p:cNvPr>
                <p:cNvSpPr/>
                <p:nvPr/>
              </p:nvSpPr>
              <p:spPr>
                <a:xfrm>
                  <a:off x="5953074" y="1293780"/>
                  <a:ext cx="5248649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18" name="Round Same-side Corner of Rectangle 17">
                  <a:extLst>
                    <a:ext uri="{FF2B5EF4-FFF2-40B4-BE49-F238E27FC236}">
                      <a16:creationId xmlns:a16="http://schemas.microsoft.com/office/drawing/2014/main" id="{26A4CD1F-BF02-824A-5D24-C7F96FC2A31E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Foundation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E92B517-DBD6-4789-C3FB-45936E105B51}"/>
                  </a:ext>
                </a:extLst>
              </p:cNvPr>
              <p:cNvGrpSpPr/>
              <p:nvPr/>
            </p:nvGrpSpPr>
            <p:grpSpPr>
              <a:xfrm>
                <a:off x="10547593" y="1036486"/>
                <a:ext cx="1365538" cy="5133352"/>
                <a:chOff x="8916768" y="2942618"/>
                <a:chExt cx="1365538" cy="5133352"/>
              </a:xfrm>
            </p:grpSpPr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D687D6D7-585A-962B-8DE7-C32DD07DEE47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5133352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21" name="Round Same-side Corner of Rectangle 20">
                  <a:extLst>
                    <a:ext uri="{FF2B5EF4-FFF2-40B4-BE49-F238E27FC236}">
                      <a16:creationId xmlns:a16="http://schemas.microsoft.com/office/drawing/2014/main" id="{F1C5A1BD-1C70-04C7-DCA4-98804612C2E5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Guiding Principles</a:t>
                  </a:r>
                </a:p>
              </p:txBody>
            </p:sp>
          </p:grpSp>
          <p:sp>
            <p:nvSpPr>
              <p:cNvPr id="23" name="Round Same-side Corner of Rectangle 22">
                <a:extLst>
                  <a:ext uri="{FF2B5EF4-FFF2-40B4-BE49-F238E27FC236}">
                    <a16:creationId xmlns:a16="http://schemas.microsoft.com/office/drawing/2014/main" id="{3C8A0E7C-94DC-C04D-A79B-DD6783B8AA20}"/>
                  </a:ext>
                </a:extLst>
              </p:cNvPr>
              <p:cNvSpPr/>
              <p:nvPr/>
            </p:nvSpPr>
            <p:spPr>
              <a:xfrm rot="16200000">
                <a:off x="4697433" y="4139144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System Layer</a:t>
                </a:r>
              </a:p>
            </p:txBody>
          </p:sp>
          <p:sp>
            <p:nvSpPr>
              <p:cNvPr id="24" name="Round Same-side Corner of Rectangle 23">
                <a:extLst>
                  <a:ext uri="{FF2B5EF4-FFF2-40B4-BE49-F238E27FC236}">
                    <a16:creationId xmlns:a16="http://schemas.microsoft.com/office/drawing/2014/main" id="{FC3F35A8-2C1C-D3C3-1904-7D67C869D028}"/>
                  </a:ext>
                </a:extLst>
              </p:cNvPr>
              <p:cNvSpPr/>
              <p:nvPr/>
            </p:nvSpPr>
            <p:spPr>
              <a:xfrm rot="16200000">
                <a:off x="4697433" y="2773811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Business Layer</a:t>
                </a:r>
              </a:p>
            </p:txBody>
          </p:sp>
          <p:sp>
            <p:nvSpPr>
              <p:cNvPr id="25" name="Round Same-side Corner of Rectangle 24">
                <a:extLst>
                  <a:ext uri="{FF2B5EF4-FFF2-40B4-BE49-F238E27FC236}">
                    <a16:creationId xmlns:a16="http://schemas.microsoft.com/office/drawing/2014/main" id="{4F041631-1CF8-72A2-76BA-523CFF1C5310}"/>
                  </a:ext>
                </a:extLst>
              </p:cNvPr>
              <p:cNvSpPr/>
              <p:nvPr/>
            </p:nvSpPr>
            <p:spPr>
              <a:xfrm rot="5400000">
                <a:off x="8963214" y="3453507"/>
                <a:ext cx="2585554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Data Layer</a:t>
                </a:r>
              </a:p>
            </p:txBody>
          </p:sp>
          <p:pic>
            <p:nvPicPr>
              <p:cNvPr id="41" name="Graphic 40" descr="Continuous Improvement with solid fill">
                <a:extLst>
                  <a:ext uri="{FF2B5EF4-FFF2-40B4-BE49-F238E27FC236}">
                    <a16:creationId xmlns:a16="http://schemas.microsoft.com/office/drawing/2014/main" id="{E2483313-B686-AC7A-6B5B-75DC06465E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484760" y="342717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45" name="Graphic 44" descr="Handshake with solid fill">
                <a:extLst>
                  <a:ext uri="{FF2B5EF4-FFF2-40B4-BE49-F238E27FC236}">
                    <a16:creationId xmlns:a16="http://schemas.microsoft.com/office/drawing/2014/main" id="{83C2852B-995C-7A44-6194-70AE66B120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65740" y="4119087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49" name="Graphic 48" descr="Atom with solid fill">
                <a:extLst>
                  <a:ext uri="{FF2B5EF4-FFF2-40B4-BE49-F238E27FC236}">
                    <a16:creationId xmlns:a16="http://schemas.microsoft.com/office/drawing/2014/main" id="{1E96AADF-5477-E2FA-464D-0E722B17C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23575" y="5267767"/>
                <a:ext cx="403582" cy="403582"/>
              </a:xfrm>
              <a:prstGeom prst="rect">
                <a:avLst/>
              </a:prstGeom>
            </p:spPr>
          </p:pic>
          <p:pic>
            <p:nvPicPr>
              <p:cNvPr id="55" name="Graphic 54" descr="Binoculars with solid fill">
                <a:extLst>
                  <a:ext uri="{FF2B5EF4-FFF2-40B4-BE49-F238E27FC236}">
                    <a16:creationId xmlns:a16="http://schemas.microsoft.com/office/drawing/2014/main" id="{05BA0FC6-8E21-F718-BF7A-899898483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928300" y="5267767"/>
                <a:ext cx="403581" cy="403581"/>
              </a:xfrm>
              <a:prstGeom prst="rect">
                <a:avLst/>
              </a:prstGeom>
            </p:spPr>
          </p:pic>
          <p:pic>
            <p:nvPicPr>
              <p:cNvPr id="57" name="Graphic 56" descr="Blockchain with solid fill">
                <a:extLst>
                  <a:ext uri="{FF2B5EF4-FFF2-40B4-BE49-F238E27FC236}">
                    <a16:creationId xmlns:a16="http://schemas.microsoft.com/office/drawing/2014/main" id="{57C03082-6DC6-F3AF-ED62-26CEB9FE87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80817" y="4288997"/>
                <a:ext cx="398978" cy="398978"/>
              </a:xfrm>
              <a:prstGeom prst="rect">
                <a:avLst/>
              </a:prstGeom>
            </p:spPr>
          </p:pic>
          <p:pic>
            <p:nvPicPr>
              <p:cNvPr id="69" name="Graphic 68" descr="Building Brick Wall with solid fill">
                <a:extLst>
                  <a:ext uri="{FF2B5EF4-FFF2-40B4-BE49-F238E27FC236}">
                    <a16:creationId xmlns:a16="http://schemas.microsoft.com/office/drawing/2014/main" id="{409798E8-3FA7-B356-217D-DE63EA5FE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775470" y="527264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71" name="Graphic 70" descr="Bullseye with solid fill">
                <a:extLst>
                  <a:ext uri="{FF2B5EF4-FFF2-40B4-BE49-F238E27FC236}">
                    <a16:creationId xmlns:a16="http://schemas.microsoft.com/office/drawing/2014/main" id="{1FE56B71-D369-4F7C-52D7-4C8615359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863170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83" name="Graphic 82" descr="City with solid fill">
                <a:extLst>
                  <a:ext uri="{FF2B5EF4-FFF2-40B4-BE49-F238E27FC236}">
                    <a16:creationId xmlns:a16="http://schemas.microsoft.com/office/drawing/2014/main" id="{ACE30DF2-FCE8-FB5F-6A2D-57B0ED0F5B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917859" y="2489977"/>
                <a:ext cx="625009" cy="625009"/>
              </a:xfrm>
              <a:prstGeom prst="rect">
                <a:avLst/>
              </a:prstGeom>
            </p:spPr>
          </p:pic>
          <p:pic>
            <p:nvPicPr>
              <p:cNvPr id="85" name="Graphic 84" descr="Clipboard Badge with solid fill">
                <a:extLst>
                  <a:ext uri="{FF2B5EF4-FFF2-40B4-BE49-F238E27FC236}">
                    <a16:creationId xmlns:a16="http://schemas.microsoft.com/office/drawing/2014/main" id="{501F57E3-50DB-3D86-AEBF-4435D0FE64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631675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87" name="Graphic 86" descr="Clipboard All Crosses with solid fill">
                <a:extLst>
                  <a:ext uri="{FF2B5EF4-FFF2-40B4-BE49-F238E27FC236}">
                    <a16:creationId xmlns:a16="http://schemas.microsoft.com/office/drawing/2014/main" id="{795B9D2F-B548-C15B-CD52-AAFBB46DD7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409502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91" name="Graphic 90" descr="Cloud Computing with solid fill">
                <a:extLst>
                  <a:ext uri="{FF2B5EF4-FFF2-40B4-BE49-F238E27FC236}">
                    <a16:creationId xmlns:a16="http://schemas.microsoft.com/office/drawing/2014/main" id="{3A6775BC-FA25-8580-089C-0DA2A05F6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773687" y="5268401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93" name="Graphic 92" descr="Connections with solid fill">
                <a:extLst>
                  <a:ext uri="{FF2B5EF4-FFF2-40B4-BE49-F238E27FC236}">
                    <a16:creationId xmlns:a16="http://schemas.microsoft.com/office/drawing/2014/main" id="{5F24333B-00BD-0C94-7022-E6F04A67B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074299" y="130602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95" name="Graphic 94" descr="Cube with solid fill">
                <a:extLst>
                  <a:ext uri="{FF2B5EF4-FFF2-40B4-BE49-F238E27FC236}">
                    <a16:creationId xmlns:a16="http://schemas.microsoft.com/office/drawing/2014/main" id="{36247CFE-4ACA-4D7C-A0B5-F88A89126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625630" y="3425139"/>
                <a:ext cx="398412" cy="398412"/>
              </a:xfrm>
              <a:prstGeom prst="rect">
                <a:avLst/>
              </a:prstGeom>
            </p:spPr>
          </p:pic>
          <p:pic>
            <p:nvPicPr>
              <p:cNvPr id="99" name="Graphic 98" descr="Database with solid fill">
                <a:extLst>
                  <a:ext uri="{FF2B5EF4-FFF2-40B4-BE49-F238E27FC236}">
                    <a16:creationId xmlns:a16="http://schemas.microsoft.com/office/drawing/2014/main" id="{62F1049E-E8B9-6C79-110B-A5BEC87362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724020" y="5268400"/>
                <a:ext cx="398413" cy="398413"/>
              </a:xfrm>
              <a:prstGeom prst="rect">
                <a:avLst/>
              </a:prstGeom>
            </p:spPr>
          </p:pic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6258B62-9464-6A58-4990-81A9ADA5027B}"/>
                  </a:ext>
                </a:extLst>
              </p:cNvPr>
              <p:cNvSpPr txBox="1"/>
              <p:nvPr/>
            </p:nvSpPr>
            <p:spPr>
              <a:xfrm>
                <a:off x="7521326" y="3738865"/>
                <a:ext cx="6030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Domains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CCF129-B04E-5E05-78CD-42F9D56821EE}"/>
                  </a:ext>
                </a:extLst>
              </p:cNvPr>
              <p:cNvSpPr txBox="1"/>
              <p:nvPr/>
            </p:nvSpPr>
            <p:spPr>
              <a:xfrm>
                <a:off x="8266029" y="3738865"/>
                <a:ext cx="8306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Dataproducts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48C042E-F354-3B25-0E21-9E6A1C0B07D7}"/>
                  </a:ext>
                </a:extLst>
              </p:cNvPr>
              <p:cNvSpPr txBox="1"/>
              <p:nvPr/>
            </p:nvSpPr>
            <p:spPr>
              <a:xfrm>
                <a:off x="9326496" y="3027907"/>
                <a:ext cx="63030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Semantic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9A3F3CD-791F-DB0A-989D-415C73F688E0}"/>
                  </a:ext>
                </a:extLst>
              </p:cNvPr>
              <p:cNvSpPr txBox="1"/>
              <p:nvPr/>
            </p:nvSpPr>
            <p:spPr>
              <a:xfrm>
                <a:off x="5579428" y="1767301"/>
                <a:ext cx="965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/>
                  <a:t>Vision &amp; Strategy</a:t>
                </a:r>
                <a:endParaRPr lang="en-US" sz="800" b="1" noProof="0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879DB1D-D5A3-EFFD-D294-E7574CBD4CA6}"/>
                  </a:ext>
                </a:extLst>
              </p:cNvPr>
              <p:cNvSpPr txBox="1"/>
              <p:nvPr/>
            </p:nvSpPr>
            <p:spPr>
              <a:xfrm>
                <a:off x="6790289" y="1763164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People, Culture &amp; Organization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0BB4F13-E35D-7986-6EC8-C6B1AA2B4B71}"/>
                  </a:ext>
                </a:extLst>
              </p:cNvPr>
              <p:cNvSpPr txBox="1"/>
              <p:nvPr/>
            </p:nvSpPr>
            <p:spPr>
              <a:xfrm>
                <a:off x="8046740" y="1769398"/>
                <a:ext cx="11218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Policies, Guardrails &amp; Blueprints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05B4537-E1D3-6A76-C422-A9E2414CC5C6}"/>
                  </a:ext>
                </a:extLst>
              </p:cNvPr>
              <p:cNvSpPr txBox="1"/>
              <p:nvPr/>
            </p:nvSpPr>
            <p:spPr>
              <a:xfrm>
                <a:off x="9347934" y="1764189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Trust, Risk &amp; Compliance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9EC7207-3F30-B73F-FFB4-C8F231D650FB}"/>
                  </a:ext>
                </a:extLst>
              </p:cNvPr>
              <p:cNvSpPr txBox="1"/>
              <p:nvPr/>
            </p:nvSpPr>
            <p:spPr>
              <a:xfrm>
                <a:off x="5574376" y="5765431"/>
                <a:ext cx="8386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Infrastructure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5F3AA2B-30C4-60CE-3A46-ABE6C954DE26}"/>
                  </a:ext>
                </a:extLst>
              </p:cNvPr>
              <p:cNvSpPr txBox="1"/>
              <p:nvPr/>
            </p:nvSpPr>
            <p:spPr>
              <a:xfrm>
                <a:off x="6483844" y="5758131"/>
                <a:ext cx="8787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Data Storage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 Management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5F4D898-300E-CBB5-9D50-1165CA726053}"/>
                  </a:ext>
                </a:extLst>
              </p:cNvPr>
              <p:cNvSpPr txBox="1"/>
              <p:nvPr/>
            </p:nvSpPr>
            <p:spPr>
              <a:xfrm>
                <a:off x="7433388" y="5758131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Analytics 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Tooling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DD02FCC-6281-398C-2F6B-AFF1B0F1E995}"/>
                  </a:ext>
                </a:extLst>
              </p:cNvPr>
              <p:cNvSpPr txBox="1"/>
              <p:nvPr/>
            </p:nvSpPr>
            <p:spPr>
              <a:xfrm>
                <a:off x="8679487" y="5758131"/>
                <a:ext cx="9012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Observability &amp;</a:t>
                </a:r>
                <a:br>
                  <a:rPr lang="en-US" sz="800" b="1" noProof="0" dirty="0"/>
                </a:br>
                <a:r>
                  <a:rPr lang="en-US" sz="800" b="1" noProof="0" dirty="0" err="1"/>
                  <a:t>Resilienz</a:t>
                </a:r>
                <a:endParaRPr lang="en-US" sz="800" b="1" noProof="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F78112D-8F4D-3B3B-5B77-FD073704B029}"/>
                  </a:ext>
                </a:extLst>
              </p:cNvPr>
              <p:cNvSpPr txBox="1"/>
              <p:nvPr/>
            </p:nvSpPr>
            <p:spPr>
              <a:xfrm>
                <a:off x="9651470" y="5765431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Security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Identity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E732C9A-DCDB-23CD-FD31-685AC06334BB}"/>
                  </a:ext>
                </a:extLst>
              </p:cNvPr>
              <p:cNvSpPr txBox="1"/>
              <p:nvPr/>
            </p:nvSpPr>
            <p:spPr>
              <a:xfrm>
                <a:off x="8148802" y="2430229"/>
                <a:ext cx="71045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Experience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95C93DE-A6D5-A0B0-8D79-6BB588B2C440}"/>
                  </a:ext>
                </a:extLst>
              </p:cNvPr>
              <p:cNvSpPr txBox="1"/>
              <p:nvPr/>
            </p:nvSpPr>
            <p:spPr>
              <a:xfrm>
                <a:off x="6188459" y="3502668"/>
                <a:ext cx="7088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Realization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9B256D5-15CF-FDED-43A8-DE8001B8240A}"/>
                  </a:ext>
                </a:extLst>
              </p:cNvPr>
              <p:cNvSpPr txBox="1"/>
              <p:nvPr/>
            </p:nvSpPr>
            <p:spPr>
              <a:xfrm>
                <a:off x="5854008" y="4715691"/>
                <a:ext cx="12891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Services &amp; Applications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960E0DAB-305E-03EC-3D5A-032F2161231E}"/>
                  </a:ext>
                </a:extLst>
              </p:cNvPr>
              <p:cNvSpPr txBox="1"/>
              <p:nvPr/>
            </p:nvSpPr>
            <p:spPr>
              <a:xfrm>
                <a:off x="5768766" y="3741893"/>
                <a:ext cx="14526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Workflows &amp; Orchestration</a:t>
                </a:r>
              </a:p>
            </p:txBody>
          </p:sp>
          <p:sp>
            <p:nvSpPr>
              <p:cNvPr id="120" name="Pentagon 119">
                <a:extLst>
                  <a:ext uri="{FF2B5EF4-FFF2-40B4-BE49-F238E27FC236}">
                    <a16:creationId xmlns:a16="http://schemas.microsoft.com/office/drawing/2014/main" id="{F8481DE3-A650-3FA5-DD50-26CA77A42656}"/>
                  </a:ext>
                </a:extLst>
              </p:cNvPr>
              <p:cNvSpPr/>
              <p:nvPr/>
            </p:nvSpPr>
            <p:spPr>
              <a:xfrm>
                <a:off x="5781807" y="2430978"/>
                <a:ext cx="285243" cy="26319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" name="Chevron 120">
                <a:extLst>
                  <a:ext uri="{FF2B5EF4-FFF2-40B4-BE49-F238E27FC236}">
                    <a16:creationId xmlns:a16="http://schemas.microsoft.com/office/drawing/2014/main" id="{15AD59C4-E074-9066-757D-BB14D46757B8}"/>
                  </a:ext>
                </a:extLst>
              </p:cNvPr>
              <p:cNvSpPr/>
              <p:nvPr/>
            </p:nvSpPr>
            <p:spPr>
              <a:xfrm>
                <a:off x="5980022" y="2426944"/>
                <a:ext cx="387353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Chevron 121">
                <a:extLst>
                  <a:ext uri="{FF2B5EF4-FFF2-40B4-BE49-F238E27FC236}">
                    <a16:creationId xmlns:a16="http://schemas.microsoft.com/office/drawing/2014/main" id="{C442AD5C-79F4-DC0D-F378-1DB28783B5EE}"/>
                  </a:ext>
                </a:extLst>
              </p:cNvPr>
              <p:cNvSpPr/>
              <p:nvPr/>
            </p:nvSpPr>
            <p:spPr>
              <a:xfrm>
                <a:off x="6881674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Chevron 122">
                <a:extLst>
                  <a:ext uri="{FF2B5EF4-FFF2-40B4-BE49-F238E27FC236}">
                    <a16:creationId xmlns:a16="http://schemas.microsoft.com/office/drawing/2014/main" id="{2362ABD3-3224-137D-0727-2FB620045C95}"/>
                  </a:ext>
                </a:extLst>
              </p:cNvPr>
              <p:cNvSpPr/>
              <p:nvPr/>
            </p:nvSpPr>
            <p:spPr>
              <a:xfrm>
                <a:off x="6280180" y="2426880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6B76B04A-B290-F1B7-2D07-4A37A19EF2D9}"/>
                  </a:ext>
                </a:extLst>
              </p:cNvPr>
              <p:cNvSpPr/>
              <p:nvPr/>
            </p:nvSpPr>
            <p:spPr>
              <a:xfrm>
                <a:off x="5781004" y="2722603"/>
                <a:ext cx="265792" cy="4778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C374419-3453-5C79-D1B4-F57772009763}"/>
                  </a:ext>
                </a:extLst>
              </p:cNvPr>
              <p:cNvSpPr/>
              <p:nvPr/>
            </p:nvSpPr>
            <p:spPr>
              <a:xfrm>
                <a:off x="6084668" y="2727531"/>
                <a:ext cx="839098" cy="1500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7" name="Chevron 126">
                <a:extLst>
                  <a:ext uri="{FF2B5EF4-FFF2-40B4-BE49-F238E27FC236}">
                    <a16:creationId xmlns:a16="http://schemas.microsoft.com/office/drawing/2014/main" id="{5A7C34C6-DB45-90E5-A89A-373847C8AF43}"/>
                  </a:ext>
                </a:extLst>
              </p:cNvPr>
              <p:cNvSpPr/>
              <p:nvPr/>
            </p:nvSpPr>
            <p:spPr>
              <a:xfrm>
                <a:off x="6580927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B1323C09-96C4-4802-3FF2-98A50285CDDF}"/>
                  </a:ext>
                </a:extLst>
              </p:cNvPr>
              <p:cNvSpPr/>
              <p:nvPr/>
            </p:nvSpPr>
            <p:spPr>
              <a:xfrm>
                <a:off x="6964625" y="2726355"/>
                <a:ext cx="258535" cy="7204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154438F-C3AC-1D4E-C7FB-CDB494907E08}"/>
                  </a:ext>
                </a:extLst>
              </p:cNvPr>
              <p:cNvSpPr/>
              <p:nvPr/>
            </p:nvSpPr>
            <p:spPr>
              <a:xfrm>
                <a:off x="6083664" y="2901571"/>
                <a:ext cx="254453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423AC33-E7FC-B654-CA40-F2214A2BC144}"/>
                  </a:ext>
                </a:extLst>
              </p:cNvPr>
              <p:cNvSpPr/>
              <p:nvPr/>
            </p:nvSpPr>
            <p:spPr>
              <a:xfrm>
                <a:off x="6374987" y="2901572"/>
                <a:ext cx="271506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E16F486-E588-5086-664A-548595FF7848}"/>
                  </a:ext>
                </a:extLst>
              </p:cNvPr>
              <p:cNvSpPr/>
              <p:nvPr/>
            </p:nvSpPr>
            <p:spPr>
              <a:xfrm>
                <a:off x="6689804" y="2901573"/>
                <a:ext cx="231510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38DE357-1028-77CF-D429-01AAD62AA79B}"/>
                  </a:ext>
                </a:extLst>
              </p:cNvPr>
              <p:cNvSpPr/>
              <p:nvPr/>
            </p:nvSpPr>
            <p:spPr>
              <a:xfrm>
                <a:off x="5781807" y="3235980"/>
                <a:ext cx="1140956" cy="2131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502281A-C2B7-200D-1CB7-78A8E1C791E2}"/>
                  </a:ext>
                </a:extLst>
              </p:cNvPr>
              <p:cNvSpPr txBox="1"/>
              <p:nvPr/>
            </p:nvSpPr>
            <p:spPr>
              <a:xfrm>
                <a:off x="5948346" y="2842169"/>
                <a:ext cx="1085801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Business Capabilities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E1923F3-C05B-5190-511A-DD5D21315FB9}"/>
                  </a:ext>
                </a:extLst>
              </p:cNvPr>
              <p:cNvSpPr txBox="1"/>
              <p:nvPr/>
            </p:nvSpPr>
            <p:spPr>
              <a:xfrm>
                <a:off x="5883892" y="3134341"/>
                <a:ext cx="1201145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Processes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74DB06A-E0E0-D536-D032-70F40038FAAE}"/>
                  </a:ext>
                </a:extLst>
              </p:cNvPr>
              <p:cNvSpPr txBox="1"/>
              <p:nvPr/>
            </p:nvSpPr>
            <p:spPr>
              <a:xfrm>
                <a:off x="6131180" y="2465963"/>
                <a:ext cx="701080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en-US" sz="800" b="1" noProof="0" dirty="0"/>
                  <a:t>Value Stream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FC6E0C6-D1DE-5B0B-9574-79014B8F7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1337" y="3172832"/>
                <a:ext cx="166009" cy="92052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ED62823E-F641-7E06-AFE5-A278A7590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0111" y="3167693"/>
                <a:ext cx="231909" cy="120858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90558680-0C0D-1B00-A91E-BA5EC7B86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50393" y="3166009"/>
                <a:ext cx="129511" cy="5005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B8D9F98-8533-49CF-E998-23E6A07AFA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8720" y="3241291"/>
                <a:ext cx="121917" cy="4718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0" name="Graphic 149" descr="Internet Of Things with solid fill">
                <a:extLst>
                  <a:ext uri="{FF2B5EF4-FFF2-40B4-BE49-F238E27FC236}">
                    <a16:creationId xmlns:a16="http://schemas.microsoft.com/office/drawing/2014/main" id="{3A5C2937-2B8F-3F48-5621-8DDFF1E054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917859" y="4283577"/>
                <a:ext cx="625008" cy="625008"/>
              </a:xfrm>
              <a:prstGeom prst="rect">
                <a:avLst/>
              </a:prstGeom>
            </p:spPr>
          </p:pic>
          <p:pic>
            <p:nvPicPr>
              <p:cNvPr id="152" name="Graphic 151" descr="Branching diagram with solid fill">
                <a:extLst>
                  <a:ext uri="{FF2B5EF4-FFF2-40B4-BE49-F238E27FC236}">
                    <a16:creationId xmlns:a16="http://schemas.microsoft.com/office/drawing/2014/main" id="{DF3F08BC-7C46-E77B-6A5E-789D30847B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283278" y="3954719"/>
                <a:ext cx="396518" cy="396518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9A27AF17-4580-7A65-D414-16BFFAE54D66}"/>
                  </a:ext>
                </a:extLst>
              </p:cNvPr>
              <p:cNvSpPr txBox="1"/>
              <p:nvPr/>
            </p:nvSpPr>
            <p:spPr>
              <a:xfrm>
                <a:off x="10933647" y="5262047"/>
                <a:ext cx="593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Security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FA878567-29DE-A96A-C619-6924D4ECD019}"/>
                  </a:ext>
                </a:extLst>
              </p:cNvPr>
              <p:cNvSpPr txBox="1"/>
              <p:nvPr/>
            </p:nvSpPr>
            <p:spPr>
              <a:xfrm>
                <a:off x="10868725" y="3468449"/>
                <a:ext cx="723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Application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Data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8AA9E5E9-F6D6-A09F-16BB-479DA016D905}"/>
                  </a:ext>
                </a:extLst>
              </p:cNvPr>
              <p:cNvSpPr txBox="1"/>
              <p:nvPr/>
            </p:nvSpPr>
            <p:spPr>
              <a:xfrm>
                <a:off x="10839870" y="1674849"/>
                <a:ext cx="7809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Business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Organization</a:t>
                </a:r>
              </a:p>
            </p:txBody>
          </p:sp>
          <p:pic>
            <p:nvPicPr>
              <p:cNvPr id="77" name="Graphic 76" descr="Care with solid fill">
                <a:extLst>
                  <a:ext uri="{FF2B5EF4-FFF2-40B4-BE49-F238E27FC236}">
                    <a16:creationId xmlns:a16="http://schemas.microsoft.com/office/drawing/2014/main" id="{8ECC8315-2177-4632-7A82-2FB8F8A3F8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665170" y="2614825"/>
                <a:ext cx="403691" cy="403691"/>
              </a:xfrm>
              <a:prstGeom prst="rect">
                <a:avLst/>
              </a:prstGeom>
            </p:spPr>
          </p:pic>
          <p:pic>
            <p:nvPicPr>
              <p:cNvPr id="81" name="Graphic 80" descr="Circles with arrows with solid fill">
                <a:extLst>
                  <a:ext uri="{FF2B5EF4-FFF2-40B4-BE49-F238E27FC236}">
                    <a16:creationId xmlns:a16="http://schemas.microsoft.com/office/drawing/2014/main" id="{CA477AE0-5507-513A-E0D9-066995D62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8668108" y="424448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34" name="Graphic 33" descr="Scientific Thought with solid fill">
                <a:extLst>
                  <a:ext uri="{FF2B5EF4-FFF2-40B4-BE49-F238E27FC236}">
                    <a16:creationId xmlns:a16="http://schemas.microsoft.com/office/drawing/2014/main" id="{2D51237D-02DE-5EE8-63B6-15A895D352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471603" y="2683144"/>
                <a:ext cx="398413" cy="398413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5E3325-6700-92A2-4905-88CA6BD03B4C}"/>
                  </a:ext>
                </a:extLst>
              </p:cNvPr>
              <p:cNvSpPr txBox="1"/>
              <p:nvPr/>
            </p:nvSpPr>
            <p:spPr>
              <a:xfrm>
                <a:off x="9375012" y="3964178"/>
                <a:ext cx="6527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Contracts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8FDD3EE-3157-E2FD-B83F-68DD96573739}"/>
                  </a:ext>
                </a:extLst>
              </p:cNvPr>
              <p:cNvSpPr txBox="1"/>
              <p:nvPr/>
            </p:nvSpPr>
            <p:spPr>
              <a:xfrm>
                <a:off x="8145151" y="4607969"/>
                <a:ext cx="6992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Integration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BE83A79-4836-7281-6B0C-93AC2230F6F6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103663" y="3004682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DF9CC10-C9F4-1A76-C226-1631ECF14D12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9113104" y="2277189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7443E69-361C-F4ED-56BC-22D0945D9463}"/>
                  </a:ext>
                </a:extLst>
              </p:cNvPr>
              <p:cNvGrpSpPr/>
              <p:nvPr/>
            </p:nvGrpSpPr>
            <p:grpSpPr>
              <a:xfrm flipV="1">
                <a:off x="8104566" y="3890538"/>
                <a:ext cx="1513440" cy="1090466"/>
                <a:chOff x="8256063" y="2429589"/>
                <a:chExt cx="1513440" cy="1090466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0C709DA-199D-C8AE-BBCC-05E8182EB9C7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8256063" y="3157082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8416AA9-59F2-DDBB-341E-9280734F7554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9265504" y="2429589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8C3BB03-3CAE-38B3-1A2A-642329A65DF8}"/>
                </a:ext>
              </a:extLst>
            </p:cNvPr>
            <p:cNvCxnSpPr>
              <a:cxnSpLocks/>
            </p:cNvCxnSpPr>
            <p:nvPr/>
          </p:nvCxnSpPr>
          <p:spPr>
            <a:xfrm>
              <a:off x="5556000" y="3606535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F785D48-23C7-59E0-5F74-B89E5F9F9C5B}"/>
                </a:ext>
              </a:extLst>
            </p:cNvPr>
            <p:cNvCxnSpPr>
              <a:cxnSpLocks/>
            </p:cNvCxnSpPr>
            <p:nvPr/>
          </p:nvCxnSpPr>
          <p:spPr>
            <a:xfrm>
              <a:off x="6950801" y="3605939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465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A0C4-F6D4-1483-B814-43F18CCD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1692FA22-C63F-D3C1-0D30-2B7AA0F2D3C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4659217" cy="671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/>
              <a:t>Reference Model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3C0A3B3-B042-08C3-F537-BF72FDBB1403}"/>
              </a:ext>
            </a:extLst>
          </p:cNvPr>
          <p:cNvSpPr txBox="1">
            <a:spLocks/>
          </p:cNvSpPr>
          <p:nvPr/>
        </p:nvSpPr>
        <p:spPr>
          <a:xfrm>
            <a:off x="838199" y="1553228"/>
            <a:ext cx="3921691" cy="49396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Das Referenzmodell verbindet Geschäftsstrategie, Wertschöpfung, Softwarelandschaft, Daten und Plattformbetrieb zu einem tragfähigen Gesamtsystem. Es dient als normatives Zielbild und diagnostisches Prüfraster für Reviews.</a:t>
            </a:r>
            <a:endParaRPr lang="de-DE" sz="1200" b="1" dirty="0"/>
          </a:p>
          <a:p>
            <a:pPr marL="228600" indent="-228600">
              <a:buAutoNum type="arabicPeriod"/>
            </a:pPr>
            <a:r>
              <a:rPr lang="de-DE" sz="1200" b="1" dirty="0"/>
              <a:t>Vertikale Kohärenz (Alignment)</a:t>
            </a:r>
            <a:br>
              <a:rPr lang="de-DE" sz="1200" b="1" dirty="0"/>
            </a:br>
            <a:r>
              <a:rPr lang="de-DE" sz="1200" dirty="0"/>
              <a:t>Fachliche Wertströme und </a:t>
            </a:r>
            <a:r>
              <a:rPr lang="de-DE" sz="1200" dirty="0" err="1"/>
              <a:t>Capabilities</a:t>
            </a:r>
            <a:r>
              <a:rPr lang="de-DE" sz="1200" dirty="0"/>
              <a:t> steuern technische Workflows und definieren den modularen Schnitt von Eigenentwicklungen wie auch COTS-Systemen.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Horizontale Verankerung (Data Layer)</a:t>
            </a:r>
            <a:br>
              <a:rPr lang="de-DE" sz="1200" b="1" dirty="0"/>
            </a:br>
            <a:r>
              <a:rPr lang="de-DE" sz="1200" dirty="0"/>
              <a:t>Verlagerung der Datenhoheit in fachliche Domänen (DDD). Fachlichkeit und IT interagieren über verbindliche Schnittstellenverträge (API- und </a:t>
            </a:r>
            <a:r>
              <a:rPr lang="de-DE" sz="1200" dirty="0" err="1"/>
              <a:t>Contract</a:t>
            </a:r>
            <a:r>
              <a:rPr lang="de-DE" sz="1200" dirty="0"/>
              <a:t>-First).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Technologische Souveränität (</a:t>
            </a:r>
            <a:r>
              <a:rPr lang="de-DE" sz="1200" b="1" dirty="0" err="1"/>
              <a:t>Foundation</a:t>
            </a:r>
            <a:r>
              <a:rPr lang="de-DE" sz="1200" b="1" dirty="0"/>
              <a:t>)</a:t>
            </a:r>
            <a:br>
              <a:rPr lang="de-DE" sz="1200" b="1" dirty="0"/>
            </a:br>
            <a:r>
              <a:rPr lang="de-DE" sz="1200" dirty="0"/>
              <a:t>Vollständige Entlastung der Fachteams durch automatisierte Plattformfähigkeiten für Hosting, </a:t>
            </a:r>
            <a:r>
              <a:rPr lang="de-DE" sz="1200" dirty="0" err="1"/>
              <a:t>Observability</a:t>
            </a:r>
            <a:r>
              <a:rPr lang="de-DE" sz="1200" dirty="0"/>
              <a:t>, Datenhaltung und Identitätsmanagement.</a:t>
            </a:r>
          </a:p>
          <a:p>
            <a:pPr marL="228600" indent="-228600">
              <a:buAutoNum type="arabicPeriod"/>
            </a:pPr>
            <a:r>
              <a:rPr lang="de-DE" sz="1200" b="1" dirty="0"/>
              <a:t>Gekapselte Interaktion &amp; </a:t>
            </a:r>
            <a:r>
              <a:rPr lang="de-DE" sz="1200" b="1" dirty="0" err="1"/>
              <a:t>Governance</a:t>
            </a:r>
            <a:r>
              <a:rPr lang="de-DE" sz="1200" b="1" dirty="0"/>
              <a:t> (Gateways &amp; </a:t>
            </a:r>
            <a:r>
              <a:rPr lang="de-DE" sz="1200" b="1" dirty="0" err="1"/>
              <a:t>Principles</a:t>
            </a:r>
            <a:r>
              <a:rPr lang="de-DE" sz="1200" b="1" dirty="0"/>
              <a:t>)</a:t>
            </a:r>
            <a:br>
              <a:rPr lang="de-DE" sz="1200" b="1" dirty="0"/>
            </a:br>
            <a:r>
              <a:rPr lang="de-DE" sz="1200" dirty="0"/>
              <a:t>Entkopplung von Nutzerschnittstellen (Experience) und Drittsystemen (Integration). Entscheidungsleitplanken sichern die Balance aus Agilität und Standardisierung.</a:t>
            </a:r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157" name="Title 5">
            <a:extLst>
              <a:ext uri="{FF2B5EF4-FFF2-40B4-BE49-F238E27FC236}">
                <a16:creationId xmlns:a16="http://schemas.microsoft.com/office/drawing/2014/main" id="{44F6EA95-2F71-0C84-99F1-E715CCF3A842}"/>
              </a:ext>
            </a:extLst>
          </p:cNvPr>
          <p:cNvSpPr txBox="1">
            <a:spLocks/>
          </p:cNvSpPr>
          <p:nvPr/>
        </p:nvSpPr>
        <p:spPr>
          <a:xfrm>
            <a:off x="840035" y="1036486"/>
            <a:ext cx="3979626" cy="28751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/>
              <a:t>Enterprise Landscape Model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FACFDB-B84A-A0E0-E215-D7535B05A94A}"/>
              </a:ext>
            </a:extLst>
          </p:cNvPr>
          <p:cNvGrpSpPr/>
          <p:nvPr/>
        </p:nvGrpSpPr>
        <p:grpSpPr>
          <a:xfrm>
            <a:off x="5150266" y="1036486"/>
            <a:ext cx="6762865" cy="5143944"/>
            <a:chOff x="5150266" y="1036486"/>
            <a:chExt cx="6762865" cy="51439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FABA033-6B31-A2FA-CA7A-617DDA9EA940}"/>
                </a:ext>
              </a:extLst>
            </p:cNvPr>
            <p:cNvGrpSpPr/>
            <p:nvPr/>
          </p:nvGrpSpPr>
          <p:grpSpPr>
            <a:xfrm>
              <a:off x="5150266" y="1036486"/>
              <a:ext cx="6762865" cy="5143944"/>
              <a:chOff x="5150266" y="1036486"/>
              <a:chExt cx="6762865" cy="514394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FFC993D-40F7-5866-FEBA-9092A22C0B2F}"/>
                  </a:ext>
                </a:extLst>
              </p:cNvPr>
              <p:cNvGrpSpPr/>
              <p:nvPr/>
            </p:nvGrpSpPr>
            <p:grpSpPr>
              <a:xfrm>
                <a:off x="5164618" y="1047077"/>
                <a:ext cx="5248650" cy="1128787"/>
                <a:chOff x="5953075" y="1293779"/>
                <a:chExt cx="5248650" cy="972767"/>
              </a:xfrm>
            </p:grpSpPr>
            <p:sp>
              <p:nvSpPr>
                <p:cNvPr id="146" name="Rounded Rectangle 145">
                  <a:extLst>
                    <a:ext uri="{FF2B5EF4-FFF2-40B4-BE49-F238E27FC236}">
                      <a16:creationId xmlns:a16="http://schemas.microsoft.com/office/drawing/2014/main" id="{CFF1D59F-C0C1-C647-7F7A-7E7B3F0DBC4C}"/>
                    </a:ext>
                  </a:extLst>
                </p:cNvPr>
                <p:cNvSpPr/>
                <p:nvPr/>
              </p:nvSpPr>
              <p:spPr>
                <a:xfrm>
                  <a:off x="5953075" y="1293780"/>
                  <a:ext cx="5248650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147" name="Round Same-side Corner of Rectangle 146">
                  <a:extLst>
                    <a:ext uri="{FF2B5EF4-FFF2-40B4-BE49-F238E27FC236}">
                      <a16:creationId xmlns:a16="http://schemas.microsoft.com/office/drawing/2014/main" id="{4A38E2AA-AD9F-EEEF-81B4-ADD1B088C7BB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Guidance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1155ED-407F-49B7-FFE7-373F72793A27}"/>
                  </a:ext>
                </a:extLst>
              </p:cNvPr>
              <p:cNvGrpSpPr/>
              <p:nvPr/>
            </p:nvGrpSpPr>
            <p:grpSpPr>
              <a:xfrm>
                <a:off x="5164617" y="5051643"/>
                <a:ext cx="5248649" cy="1128787"/>
                <a:chOff x="5953074" y="1293779"/>
                <a:chExt cx="5248649" cy="972767"/>
              </a:xfrm>
            </p:grpSpPr>
            <p:sp>
              <p:nvSpPr>
                <p:cNvPr id="144" name="Rounded Rectangle 143">
                  <a:extLst>
                    <a:ext uri="{FF2B5EF4-FFF2-40B4-BE49-F238E27FC236}">
                      <a16:creationId xmlns:a16="http://schemas.microsoft.com/office/drawing/2014/main" id="{32B4D01D-602F-45C0-FC00-40153330387A}"/>
                    </a:ext>
                  </a:extLst>
                </p:cNvPr>
                <p:cNvSpPr/>
                <p:nvPr/>
              </p:nvSpPr>
              <p:spPr>
                <a:xfrm>
                  <a:off x="5953074" y="1293780"/>
                  <a:ext cx="5248649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145" name="Round Same-side Corner of Rectangle 144">
                  <a:extLst>
                    <a:ext uri="{FF2B5EF4-FFF2-40B4-BE49-F238E27FC236}">
                      <a16:creationId xmlns:a16="http://schemas.microsoft.com/office/drawing/2014/main" id="{0CC1091B-A837-69BA-18EF-A104F343A088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Foundation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A1DFCDE-540B-7F24-1E58-61346E3868C0}"/>
                  </a:ext>
                </a:extLst>
              </p:cNvPr>
              <p:cNvGrpSpPr/>
              <p:nvPr/>
            </p:nvGrpSpPr>
            <p:grpSpPr>
              <a:xfrm>
                <a:off x="10547593" y="1036486"/>
                <a:ext cx="1365538" cy="5133352"/>
                <a:chOff x="8916768" y="2942618"/>
                <a:chExt cx="1365538" cy="5133352"/>
              </a:xfrm>
            </p:grpSpPr>
            <p:sp>
              <p:nvSpPr>
                <p:cNvPr id="142" name="Rounded Rectangle 141">
                  <a:extLst>
                    <a:ext uri="{FF2B5EF4-FFF2-40B4-BE49-F238E27FC236}">
                      <a16:creationId xmlns:a16="http://schemas.microsoft.com/office/drawing/2014/main" id="{666CC1F4-4878-DDFF-857A-2059F2AD59AC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5133352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143" name="Round Same-side Corner of Rectangle 142">
                  <a:extLst>
                    <a:ext uri="{FF2B5EF4-FFF2-40B4-BE49-F238E27FC236}">
                      <a16:creationId xmlns:a16="http://schemas.microsoft.com/office/drawing/2014/main" id="{28FC9D55-C768-9063-7AD3-C1975C24B32A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Guiding Principles</a:t>
                  </a:r>
                </a:p>
              </p:txBody>
            </p:sp>
          </p:grpSp>
          <p:sp>
            <p:nvSpPr>
              <p:cNvPr id="9" name="Round Same-side Corner of Rectangle 8">
                <a:extLst>
                  <a:ext uri="{FF2B5EF4-FFF2-40B4-BE49-F238E27FC236}">
                    <a16:creationId xmlns:a16="http://schemas.microsoft.com/office/drawing/2014/main" id="{09BA7601-7F94-7FF1-418E-CEA2AF28ACBD}"/>
                  </a:ext>
                </a:extLst>
              </p:cNvPr>
              <p:cNvSpPr/>
              <p:nvPr/>
            </p:nvSpPr>
            <p:spPr>
              <a:xfrm rot="16200000">
                <a:off x="4697433" y="4139144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System Layer</a:t>
                </a:r>
              </a:p>
            </p:txBody>
          </p:sp>
          <p:sp>
            <p:nvSpPr>
              <p:cNvPr id="12" name="Round Same-side Corner of Rectangle 11">
                <a:extLst>
                  <a:ext uri="{FF2B5EF4-FFF2-40B4-BE49-F238E27FC236}">
                    <a16:creationId xmlns:a16="http://schemas.microsoft.com/office/drawing/2014/main" id="{8A7D1139-8BE7-69D9-F035-7093B9DF47CC}"/>
                  </a:ext>
                </a:extLst>
              </p:cNvPr>
              <p:cNvSpPr/>
              <p:nvPr/>
            </p:nvSpPr>
            <p:spPr>
              <a:xfrm rot="16200000">
                <a:off x="4697433" y="2773811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Business Layer</a:t>
                </a:r>
              </a:p>
            </p:txBody>
          </p:sp>
          <p:sp>
            <p:nvSpPr>
              <p:cNvPr id="13" name="Round Same-side Corner of Rectangle 12">
                <a:extLst>
                  <a:ext uri="{FF2B5EF4-FFF2-40B4-BE49-F238E27FC236}">
                    <a16:creationId xmlns:a16="http://schemas.microsoft.com/office/drawing/2014/main" id="{9164725D-A2BB-6647-66CD-D63A5D02D642}"/>
                  </a:ext>
                </a:extLst>
              </p:cNvPr>
              <p:cNvSpPr/>
              <p:nvPr/>
            </p:nvSpPr>
            <p:spPr>
              <a:xfrm rot="5400000">
                <a:off x="8963214" y="3453507"/>
                <a:ext cx="2585554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Data Layer</a:t>
                </a:r>
              </a:p>
            </p:txBody>
          </p:sp>
          <p:pic>
            <p:nvPicPr>
              <p:cNvPr id="14" name="Graphic 13" descr="Continuous Improvement with solid fill">
                <a:extLst>
                  <a:ext uri="{FF2B5EF4-FFF2-40B4-BE49-F238E27FC236}">
                    <a16:creationId xmlns:a16="http://schemas.microsoft.com/office/drawing/2014/main" id="{4A29E705-8E17-0B24-3052-77698018BE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484760" y="342717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15" name="Graphic 14" descr="Handshake with solid fill">
                <a:extLst>
                  <a:ext uri="{FF2B5EF4-FFF2-40B4-BE49-F238E27FC236}">
                    <a16:creationId xmlns:a16="http://schemas.microsoft.com/office/drawing/2014/main" id="{C81A5F59-CA1E-E6C9-3CB3-B259C15B0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65740" y="4119087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16" name="Graphic 15" descr="Atom with solid fill">
                <a:extLst>
                  <a:ext uri="{FF2B5EF4-FFF2-40B4-BE49-F238E27FC236}">
                    <a16:creationId xmlns:a16="http://schemas.microsoft.com/office/drawing/2014/main" id="{42406BF0-678A-4B21-57D9-C39F52859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23575" y="5267767"/>
                <a:ext cx="403582" cy="403582"/>
              </a:xfrm>
              <a:prstGeom prst="rect">
                <a:avLst/>
              </a:prstGeom>
            </p:spPr>
          </p:pic>
          <p:pic>
            <p:nvPicPr>
              <p:cNvPr id="17" name="Graphic 16" descr="Binoculars with solid fill">
                <a:extLst>
                  <a:ext uri="{FF2B5EF4-FFF2-40B4-BE49-F238E27FC236}">
                    <a16:creationId xmlns:a16="http://schemas.microsoft.com/office/drawing/2014/main" id="{4B851E87-ADCA-B6C5-987F-99A0CA4D4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928300" y="5267767"/>
                <a:ext cx="403581" cy="403581"/>
              </a:xfrm>
              <a:prstGeom prst="rect">
                <a:avLst/>
              </a:prstGeom>
            </p:spPr>
          </p:pic>
          <p:pic>
            <p:nvPicPr>
              <p:cNvPr id="18" name="Graphic 17" descr="Blockchain with solid fill">
                <a:extLst>
                  <a:ext uri="{FF2B5EF4-FFF2-40B4-BE49-F238E27FC236}">
                    <a16:creationId xmlns:a16="http://schemas.microsoft.com/office/drawing/2014/main" id="{3AA93754-F515-D851-BB88-AB9305ADF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80817" y="4288997"/>
                <a:ext cx="398978" cy="398978"/>
              </a:xfrm>
              <a:prstGeom prst="rect">
                <a:avLst/>
              </a:prstGeom>
            </p:spPr>
          </p:pic>
          <p:pic>
            <p:nvPicPr>
              <p:cNvPr id="19" name="Graphic 18" descr="Building Brick Wall with solid fill">
                <a:extLst>
                  <a:ext uri="{FF2B5EF4-FFF2-40B4-BE49-F238E27FC236}">
                    <a16:creationId xmlns:a16="http://schemas.microsoft.com/office/drawing/2014/main" id="{59111AE7-2B94-E8A9-8AE7-52D90FA5F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775470" y="527264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0" name="Graphic 19" descr="Bullseye with solid fill">
                <a:extLst>
                  <a:ext uri="{FF2B5EF4-FFF2-40B4-BE49-F238E27FC236}">
                    <a16:creationId xmlns:a16="http://schemas.microsoft.com/office/drawing/2014/main" id="{2E605EE0-6E92-F83A-02A6-D7E98BBA65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863170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1" name="Graphic 20" descr="City with solid fill">
                <a:extLst>
                  <a:ext uri="{FF2B5EF4-FFF2-40B4-BE49-F238E27FC236}">
                    <a16:creationId xmlns:a16="http://schemas.microsoft.com/office/drawing/2014/main" id="{C6AB30F5-6AB0-48E5-9810-7D4D9B51B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917859" y="2489977"/>
                <a:ext cx="625009" cy="625009"/>
              </a:xfrm>
              <a:prstGeom prst="rect">
                <a:avLst/>
              </a:prstGeom>
            </p:spPr>
          </p:pic>
          <p:pic>
            <p:nvPicPr>
              <p:cNvPr id="22" name="Graphic 21" descr="Clipboard Badge with solid fill">
                <a:extLst>
                  <a:ext uri="{FF2B5EF4-FFF2-40B4-BE49-F238E27FC236}">
                    <a16:creationId xmlns:a16="http://schemas.microsoft.com/office/drawing/2014/main" id="{4D8F5F8C-411E-D506-BDBB-74D25DDAD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631675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3" name="Graphic 22" descr="Clipboard All Crosses with solid fill">
                <a:extLst>
                  <a:ext uri="{FF2B5EF4-FFF2-40B4-BE49-F238E27FC236}">
                    <a16:creationId xmlns:a16="http://schemas.microsoft.com/office/drawing/2014/main" id="{9F1B3688-1C43-12F7-B941-386D086DC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409502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4" name="Graphic 23" descr="Cloud Computing with solid fill">
                <a:extLst>
                  <a:ext uri="{FF2B5EF4-FFF2-40B4-BE49-F238E27FC236}">
                    <a16:creationId xmlns:a16="http://schemas.microsoft.com/office/drawing/2014/main" id="{401429FA-8D68-83E6-2A49-C969ACAE3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773687" y="5268401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" name="Graphic 24" descr="Connections with solid fill">
                <a:extLst>
                  <a:ext uri="{FF2B5EF4-FFF2-40B4-BE49-F238E27FC236}">
                    <a16:creationId xmlns:a16="http://schemas.microsoft.com/office/drawing/2014/main" id="{74CE8B9F-AB75-423E-F075-120B390EC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074299" y="130602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6" name="Graphic 25" descr="Cube with solid fill">
                <a:extLst>
                  <a:ext uri="{FF2B5EF4-FFF2-40B4-BE49-F238E27FC236}">
                    <a16:creationId xmlns:a16="http://schemas.microsoft.com/office/drawing/2014/main" id="{DD6B91A4-0997-C631-D06B-64A0467618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625630" y="3425139"/>
                <a:ext cx="398412" cy="398412"/>
              </a:xfrm>
              <a:prstGeom prst="rect">
                <a:avLst/>
              </a:prstGeom>
            </p:spPr>
          </p:pic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25BBDD6-FE5C-6691-47E7-1B050D911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724020" y="5268400"/>
                <a:ext cx="398413" cy="398413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761EC4-6E03-BF6B-378D-3ED2D3ABF8EA}"/>
                  </a:ext>
                </a:extLst>
              </p:cNvPr>
              <p:cNvSpPr txBox="1"/>
              <p:nvPr/>
            </p:nvSpPr>
            <p:spPr>
              <a:xfrm>
                <a:off x="7521326" y="3738865"/>
                <a:ext cx="6030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Domains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742A17-4939-CBC8-7C35-702235662429}"/>
                  </a:ext>
                </a:extLst>
              </p:cNvPr>
              <p:cNvSpPr txBox="1"/>
              <p:nvPr/>
            </p:nvSpPr>
            <p:spPr>
              <a:xfrm>
                <a:off x="8266029" y="3738865"/>
                <a:ext cx="8306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Dataproducts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31A2E8-8F73-5CB7-4AA5-A7EC00F6CE6C}"/>
                  </a:ext>
                </a:extLst>
              </p:cNvPr>
              <p:cNvSpPr txBox="1"/>
              <p:nvPr/>
            </p:nvSpPr>
            <p:spPr>
              <a:xfrm>
                <a:off x="9326496" y="3027907"/>
                <a:ext cx="63030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Semantic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402DB3-9ED5-F9CB-8ED0-85B5BA1300BE}"/>
                  </a:ext>
                </a:extLst>
              </p:cNvPr>
              <p:cNvSpPr txBox="1"/>
              <p:nvPr/>
            </p:nvSpPr>
            <p:spPr>
              <a:xfrm>
                <a:off x="5579428" y="1767301"/>
                <a:ext cx="965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/>
                  <a:t>Vision &amp; Strategy</a:t>
                </a:r>
                <a:endParaRPr lang="en-US" sz="800" b="1" noProof="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EADCE8-30CC-7ED3-8558-42A0EEE56DA0}"/>
                  </a:ext>
                </a:extLst>
              </p:cNvPr>
              <p:cNvSpPr txBox="1"/>
              <p:nvPr/>
            </p:nvSpPr>
            <p:spPr>
              <a:xfrm>
                <a:off x="6790289" y="1763164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People, Culture &amp; Organization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883903-EBD0-D32E-CEF6-9B445B16753F}"/>
                  </a:ext>
                </a:extLst>
              </p:cNvPr>
              <p:cNvSpPr txBox="1"/>
              <p:nvPr/>
            </p:nvSpPr>
            <p:spPr>
              <a:xfrm>
                <a:off x="8046740" y="1769398"/>
                <a:ext cx="11218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Policies, Guardrails &amp; Blueprints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F1B1776-00BA-3CB4-91FC-E5652C04E161}"/>
                  </a:ext>
                </a:extLst>
              </p:cNvPr>
              <p:cNvSpPr txBox="1"/>
              <p:nvPr/>
            </p:nvSpPr>
            <p:spPr>
              <a:xfrm>
                <a:off x="9347934" y="1764189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Trust, Risk &amp; Compliance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F75201-6F74-D3EB-406D-79FC6AA03A12}"/>
                  </a:ext>
                </a:extLst>
              </p:cNvPr>
              <p:cNvSpPr txBox="1"/>
              <p:nvPr/>
            </p:nvSpPr>
            <p:spPr>
              <a:xfrm>
                <a:off x="5574376" y="5765431"/>
                <a:ext cx="8386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Infrastructure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56F923-62F8-DAB3-E7BC-06E6961DB070}"/>
                  </a:ext>
                </a:extLst>
              </p:cNvPr>
              <p:cNvSpPr txBox="1"/>
              <p:nvPr/>
            </p:nvSpPr>
            <p:spPr>
              <a:xfrm>
                <a:off x="6483844" y="5758131"/>
                <a:ext cx="8787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Data Storage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 Management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94AE69-CED2-F7CB-0BB1-1F701BD74565}"/>
                  </a:ext>
                </a:extLst>
              </p:cNvPr>
              <p:cNvSpPr txBox="1"/>
              <p:nvPr/>
            </p:nvSpPr>
            <p:spPr>
              <a:xfrm>
                <a:off x="7433388" y="5758131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Analytics 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Tooling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D75C23-2B13-2E93-F827-447EB1B3C25E}"/>
                  </a:ext>
                </a:extLst>
              </p:cNvPr>
              <p:cNvSpPr txBox="1"/>
              <p:nvPr/>
            </p:nvSpPr>
            <p:spPr>
              <a:xfrm>
                <a:off x="8679487" y="5758131"/>
                <a:ext cx="9012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Observability &amp;</a:t>
                </a:r>
                <a:br>
                  <a:rPr lang="en-US" sz="800" b="1" noProof="0" dirty="0"/>
                </a:br>
                <a:r>
                  <a:rPr lang="en-US" sz="800" b="1" noProof="0" dirty="0" err="1"/>
                  <a:t>Resilienz</a:t>
                </a:r>
                <a:endParaRPr lang="en-US" sz="800" b="1" noProof="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E5A944-1722-1DAC-9312-A6A3CF4EEAC8}"/>
                  </a:ext>
                </a:extLst>
              </p:cNvPr>
              <p:cNvSpPr txBox="1"/>
              <p:nvPr/>
            </p:nvSpPr>
            <p:spPr>
              <a:xfrm>
                <a:off x="9651470" y="5765431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Security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Identity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554FDBB-5100-2FAB-0FF5-7071066C741E}"/>
                  </a:ext>
                </a:extLst>
              </p:cNvPr>
              <p:cNvSpPr txBox="1"/>
              <p:nvPr/>
            </p:nvSpPr>
            <p:spPr>
              <a:xfrm>
                <a:off x="8148802" y="2430229"/>
                <a:ext cx="71045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Experience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A18D62-5FB6-CA6D-5265-5A674758D3FA}"/>
                  </a:ext>
                </a:extLst>
              </p:cNvPr>
              <p:cNvSpPr txBox="1"/>
              <p:nvPr/>
            </p:nvSpPr>
            <p:spPr>
              <a:xfrm>
                <a:off x="6188459" y="3502668"/>
                <a:ext cx="7088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Realization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55E4BE-54F6-5914-4DDF-762C41E2D9D2}"/>
                  </a:ext>
                </a:extLst>
              </p:cNvPr>
              <p:cNvSpPr txBox="1"/>
              <p:nvPr/>
            </p:nvSpPr>
            <p:spPr>
              <a:xfrm>
                <a:off x="5854008" y="4715691"/>
                <a:ext cx="12891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Services &amp; Applications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342578B-240D-5F85-64D3-D79377F8CFDF}"/>
                  </a:ext>
                </a:extLst>
              </p:cNvPr>
              <p:cNvSpPr txBox="1"/>
              <p:nvPr/>
            </p:nvSpPr>
            <p:spPr>
              <a:xfrm>
                <a:off x="5768766" y="3741893"/>
                <a:ext cx="14526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Workflows &amp; Orchestration</a:t>
                </a:r>
              </a:p>
            </p:txBody>
          </p:sp>
          <p:sp>
            <p:nvSpPr>
              <p:cNvPr id="44" name="Pentagon 43">
                <a:extLst>
                  <a:ext uri="{FF2B5EF4-FFF2-40B4-BE49-F238E27FC236}">
                    <a16:creationId xmlns:a16="http://schemas.microsoft.com/office/drawing/2014/main" id="{2B4AD5B0-B371-BECD-614F-2BC9AFA6504B}"/>
                  </a:ext>
                </a:extLst>
              </p:cNvPr>
              <p:cNvSpPr/>
              <p:nvPr/>
            </p:nvSpPr>
            <p:spPr>
              <a:xfrm>
                <a:off x="5781807" y="2430978"/>
                <a:ext cx="285243" cy="26319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Chevron 44">
                <a:extLst>
                  <a:ext uri="{FF2B5EF4-FFF2-40B4-BE49-F238E27FC236}">
                    <a16:creationId xmlns:a16="http://schemas.microsoft.com/office/drawing/2014/main" id="{D5BB24A4-A66D-368D-7A94-A4E1C313B031}"/>
                  </a:ext>
                </a:extLst>
              </p:cNvPr>
              <p:cNvSpPr/>
              <p:nvPr/>
            </p:nvSpPr>
            <p:spPr>
              <a:xfrm>
                <a:off x="5980022" y="2426944"/>
                <a:ext cx="387353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Chevron 45">
                <a:extLst>
                  <a:ext uri="{FF2B5EF4-FFF2-40B4-BE49-F238E27FC236}">
                    <a16:creationId xmlns:a16="http://schemas.microsoft.com/office/drawing/2014/main" id="{FC9F0ED0-7613-91E7-9729-01C187887DF1}"/>
                  </a:ext>
                </a:extLst>
              </p:cNvPr>
              <p:cNvSpPr/>
              <p:nvPr/>
            </p:nvSpPr>
            <p:spPr>
              <a:xfrm>
                <a:off x="6881674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Chevron 46">
                <a:extLst>
                  <a:ext uri="{FF2B5EF4-FFF2-40B4-BE49-F238E27FC236}">
                    <a16:creationId xmlns:a16="http://schemas.microsoft.com/office/drawing/2014/main" id="{3C2FC39B-5DB2-8530-DC0B-076724700391}"/>
                  </a:ext>
                </a:extLst>
              </p:cNvPr>
              <p:cNvSpPr/>
              <p:nvPr/>
            </p:nvSpPr>
            <p:spPr>
              <a:xfrm>
                <a:off x="6280180" y="2426880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8858CA3-A67E-50E2-A94F-5661233D8160}"/>
                  </a:ext>
                </a:extLst>
              </p:cNvPr>
              <p:cNvSpPr/>
              <p:nvPr/>
            </p:nvSpPr>
            <p:spPr>
              <a:xfrm>
                <a:off x="5781004" y="2722603"/>
                <a:ext cx="265792" cy="4778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3EAC408-74CD-0F29-BC6E-0B30255DB625}"/>
                  </a:ext>
                </a:extLst>
              </p:cNvPr>
              <p:cNvSpPr/>
              <p:nvPr/>
            </p:nvSpPr>
            <p:spPr>
              <a:xfrm>
                <a:off x="6084668" y="2727531"/>
                <a:ext cx="839098" cy="1500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Chevron 49">
                <a:extLst>
                  <a:ext uri="{FF2B5EF4-FFF2-40B4-BE49-F238E27FC236}">
                    <a16:creationId xmlns:a16="http://schemas.microsoft.com/office/drawing/2014/main" id="{9B4A556D-24DC-5568-FD31-5AB807D8972B}"/>
                  </a:ext>
                </a:extLst>
              </p:cNvPr>
              <p:cNvSpPr/>
              <p:nvPr/>
            </p:nvSpPr>
            <p:spPr>
              <a:xfrm>
                <a:off x="6580927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D0F140F-DC81-ED47-FCC4-E2BB3987A5D9}"/>
                  </a:ext>
                </a:extLst>
              </p:cNvPr>
              <p:cNvSpPr/>
              <p:nvPr/>
            </p:nvSpPr>
            <p:spPr>
              <a:xfrm>
                <a:off x="6964625" y="2726355"/>
                <a:ext cx="258535" cy="7204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F96807C-B1F7-9FF5-389E-2AA7701874ED}"/>
                  </a:ext>
                </a:extLst>
              </p:cNvPr>
              <p:cNvSpPr/>
              <p:nvPr/>
            </p:nvSpPr>
            <p:spPr>
              <a:xfrm>
                <a:off x="6083664" y="2901571"/>
                <a:ext cx="254453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8D1B5AB-3946-9AE3-0513-5AE443D11B05}"/>
                  </a:ext>
                </a:extLst>
              </p:cNvPr>
              <p:cNvSpPr/>
              <p:nvPr/>
            </p:nvSpPr>
            <p:spPr>
              <a:xfrm>
                <a:off x="6374987" y="2901572"/>
                <a:ext cx="271506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B5C7606-A5BF-2FAD-1603-B94B3ED979DC}"/>
                  </a:ext>
                </a:extLst>
              </p:cNvPr>
              <p:cNvSpPr/>
              <p:nvPr/>
            </p:nvSpPr>
            <p:spPr>
              <a:xfrm>
                <a:off x="6689804" y="2901573"/>
                <a:ext cx="231510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330C4D9-3AA3-DAAC-5BB1-58A237BD48AE}"/>
                  </a:ext>
                </a:extLst>
              </p:cNvPr>
              <p:cNvSpPr/>
              <p:nvPr/>
            </p:nvSpPr>
            <p:spPr>
              <a:xfrm>
                <a:off x="5781807" y="3235980"/>
                <a:ext cx="1140956" cy="2131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35476AE-FA3B-BE44-0750-50541E438C4B}"/>
                  </a:ext>
                </a:extLst>
              </p:cNvPr>
              <p:cNvSpPr txBox="1"/>
              <p:nvPr/>
            </p:nvSpPr>
            <p:spPr>
              <a:xfrm>
                <a:off x="5948346" y="2842169"/>
                <a:ext cx="1085801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Business Capabilities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C5FC87-E52E-C186-13A4-E436BE01CAEE}"/>
                  </a:ext>
                </a:extLst>
              </p:cNvPr>
              <p:cNvSpPr txBox="1"/>
              <p:nvPr/>
            </p:nvSpPr>
            <p:spPr>
              <a:xfrm>
                <a:off x="5883892" y="3134341"/>
                <a:ext cx="1201145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Processes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294624-3AD6-0407-33E6-D29A03C96728}"/>
                  </a:ext>
                </a:extLst>
              </p:cNvPr>
              <p:cNvSpPr txBox="1"/>
              <p:nvPr/>
            </p:nvSpPr>
            <p:spPr>
              <a:xfrm>
                <a:off x="6131180" y="2465963"/>
                <a:ext cx="701080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en-US" sz="800" b="1" noProof="0" dirty="0"/>
                  <a:t>Value Stream</a:t>
                </a: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5B6D99D-9C66-225E-14E2-53573B561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1337" y="3172832"/>
                <a:ext cx="166009" cy="92052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F49CC6D-C3DE-4744-1B29-C7238CC74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0111" y="3167693"/>
                <a:ext cx="231909" cy="120858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C4541CF-6030-F3BE-D80D-0D125F1AE0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50393" y="3166009"/>
                <a:ext cx="129511" cy="5005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F0E6B61-9507-8691-C3D6-1518ED5D3E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8720" y="3241291"/>
                <a:ext cx="121917" cy="4718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3" name="Graphic 62" descr="Internet Of Things with solid fill">
                <a:extLst>
                  <a:ext uri="{FF2B5EF4-FFF2-40B4-BE49-F238E27FC236}">
                    <a16:creationId xmlns:a16="http://schemas.microsoft.com/office/drawing/2014/main" id="{9E5FB2EE-D39C-49F7-5559-29550CA2B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917859" y="4283577"/>
                <a:ext cx="625008" cy="625008"/>
              </a:xfrm>
              <a:prstGeom prst="rect">
                <a:avLst/>
              </a:prstGeom>
            </p:spPr>
          </p:pic>
          <p:pic>
            <p:nvPicPr>
              <p:cNvPr id="128" name="Graphic 127" descr="Branching diagram with solid fill">
                <a:extLst>
                  <a:ext uri="{FF2B5EF4-FFF2-40B4-BE49-F238E27FC236}">
                    <a16:creationId xmlns:a16="http://schemas.microsoft.com/office/drawing/2014/main" id="{84D77E9A-D550-8D30-D2C3-24FA5308E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283278" y="3954719"/>
                <a:ext cx="396518" cy="396518"/>
              </a:xfrm>
              <a:prstGeom prst="rect">
                <a:avLst/>
              </a:prstGeom>
            </p:spPr>
          </p:pic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5F33C63-571C-179B-8C9C-DE3935660FA5}"/>
                  </a:ext>
                </a:extLst>
              </p:cNvPr>
              <p:cNvSpPr txBox="1"/>
              <p:nvPr/>
            </p:nvSpPr>
            <p:spPr>
              <a:xfrm>
                <a:off x="10933647" y="5262047"/>
                <a:ext cx="593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Security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07C8523-6A39-D45B-B388-EB4C2280244B}"/>
                  </a:ext>
                </a:extLst>
              </p:cNvPr>
              <p:cNvSpPr txBox="1"/>
              <p:nvPr/>
            </p:nvSpPr>
            <p:spPr>
              <a:xfrm>
                <a:off x="10868725" y="3468449"/>
                <a:ext cx="723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Application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Data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676AC81-6727-B151-14AA-B0FCE2190C3B}"/>
                  </a:ext>
                </a:extLst>
              </p:cNvPr>
              <p:cNvSpPr txBox="1"/>
              <p:nvPr/>
            </p:nvSpPr>
            <p:spPr>
              <a:xfrm>
                <a:off x="10839870" y="1674849"/>
                <a:ext cx="7809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Business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Organization</a:t>
                </a:r>
              </a:p>
            </p:txBody>
          </p:sp>
          <p:pic>
            <p:nvPicPr>
              <p:cNvPr id="132" name="Graphic 131" descr="Care with solid fill">
                <a:extLst>
                  <a:ext uri="{FF2B5EF4-FFF2-40B4-BE49-F238E27FC236}">
                    <a16:creationId xmlns:a16="http://schemas.microsoft.com/office/drawing/2014/main" id="{0F2079D8-FCF2-D313-7FE7-7719A9F66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665170" y="2614825"/>
                <a:ext cx="403691" cy="403691"/>
              </a:xfrm>
              <a:prstGeom prst="rect">
                <a:avLst/>
              </a:prstGeom>
            </p:spPr>
          </p:pic>
          <p:pic>
            <p:nvPicPr>
              <p:cNvPr id="133" name="Graphic 132" descr="Circles with arrows with solid fill">
                <a:extLst>
                  <a:ext uri="{FF2B5EF4-FFF2-40B4-BE49-F238E27FC236}">
                    <a16:creationId xmlns:a16="http://schemas.microsoft.com/office/drawing/2014/main" id="{AC0C1735-8F1C-71B4-F7F6-0D5B2CE64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8668108" y="424448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134" name="Graphic 133" descr="Scientific Thought with solid fill">
                <a:extLst>
                  <a:ext uri="{FF2B5EF4-FFF2-40B4-BE49-F238E27FC236}">
                    <a16:creationId xmlns:a16="http://schemas.microsoft.com/office/drawing/2014/main" id="{296EB087-73DD-CC51-54F9-476C411CD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471603" y="2683144"/>
                <a:ext cx="398413" cy="398413"/>
              </a:xfrm>
              <a:prstGeom prst="rect">
                <a:avLst/>
              </a:prstGeom>
            </p:spPr>
          </p:pic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5FD9264-4D85-0815-66CC-E668B0D05079}"/>
                  </a:ext>
                </a:extLst>
              </p:cNvPr>
              <p:cNvSpPr txBox="1"/>
              <p:nvPr/>
            </p:nvSpPr>
            <p:spPr>
              <a:xfrm>
                <a:off x="9375012" y="3964178"/>
                <a:ext cx="6527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Contracts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E245721-9F75-1108-BFF7-A7BAAC9B4C00}"/>
                  </a:ext>
                </a:extLst>
              </p:cNvPr>
              <p:cNvSpPr txBox="1"/>
              <p:nvPr/>
            </p:nvSpPr>
            <p:spPr>
              <a:xfrm>
                <a:off x="8145151" y="4607969"/>
                <a:ext cx="6992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Integration</a:t>
                </a:r>
              </a:p>
            </p:txBody>
          </p: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EF234C76-5A6C-7906-4EAB-AE7F78A1957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103663" y="3004682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08459A75-811D-6BAF-4847-2FC77B153799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9113104" y="2277189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CACED7C9-2572-E64B-750E-D526AACA5EB8}"/>
                  </a:ext>
                </a:extLst>
              </p:cNvPr>
              <p:cNvGrpSpPr/>
              <p:nvPr/>
            </p:nvGrpSpPr>
            <p:grpSpPr>
              <a:xfrm flipV="1">
                <a:off x="8104566" y="3890538"/>
                <a:ext cx="1513440" cy="1090466"/>
                <a:chOff x="8256063" y="2429589"/>
                <a:chExt cx="1513440" cy="1090466"/>
              </a:xfrm>
            </p:grpSpPr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598B7FB5-F2B3-F5D9-7DF6-B39F70F96758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8256063" y="3157082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3929146F-6C78-433C-BC30-E2CF49495EF2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9265504" y="2429589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DB1315-E12B-A2B5-0EE9-F131355EA373}"/>
                </a:ext>
              </a:extLst>
            </p:cNvPr>
            <p:cNvCxnSpPr>
              <a:cxnSpLocks/>
            </p:cNvCxnSpPr>
            <p:nvPr/>
          </p:nvCxnSpPr>
          <p:spPr>
            <a:xfrm>
              <a:off x="5556000" y="3606535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632C3FD-98A1-2F2F-AE55-43B6902467BA}"/>
                </a:ext>
              </a:extLst>
            </p:cNvPr>
            <p:cNvCxnSpPr>
              <a:cxnSpLocks/>
            </p:cNvCxnSpPr>
            <p:nvPr/>
          </p:nvCxnSpPr>
          <p:spPr>
            <a:xfrm>
              <a:off x="6950801" y="3605939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520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2EBC57-5906-7ED5-0357-C0F6C648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Danach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195258-FE69-F4F4-AF6E-8E027110F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E" sz="800" b="1" dirty="0"/>
              <a:t>C. Folien NACH der Visualisierung (Interaktionsmodell, Vertiefung &amp; Anwendung)</a:t>
            </a:r>
          </a:p>
          <a:p>
            <a:pPr lvl="0"/>
            <a:r>
              <a:rPr lang="en-DE" sz="800" b="1" dirty="0"/>
              <a:t>Folie 5: Die Interaktionsmechanik (Zweidimensionales Alignment &amp; Feedback-Schleifen)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Zusammenspiel der Schichten: Wie Fachlichkeit, Software und Daten ineinandergreifen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Löst die statische Schichten-Optik in ein dynamisches Zusammenspiel auf (gemäß Metamodell Kap. 4).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</a:t>
            </a:r>
          </a:p>
          <a:p>
            <a:pPr lvl="2"/>
            <a:r>
              <a:rPr lang="en-DE" sz="800" dirty="0"/>
              <a:t>Vertikaler Durchgriff: Value Stream steuert Workflows; Capabilities schneiden Services.</a:t>
            </a:r>
          </a:p>
          <a:p>
            <a:pPr lvl="2"/>
            <a:r>
              <a:rPr lang="en-DE" sz="800" dirty="0"/>
              <a:t>Horizontale Bindung: Services publizieren Datenprodukte; Schnittstellen basieren auf Semantik und Verträgen.</a:t>
            </a:r>
          </a:p>
          <a:p>
            <a:pPr lvl="2"/>
            <a:r>
              <a:rPr lang="en-DE" sz="800" dirty="0"/>
              <a:t>Operative Rückkopplung: Analytische Datenprodukte und Telemetriewerte fließen zurück in Prozesse und Workflows zur kontinuierlichen Optimierung.</a:t>
            </a:r>
          </a:p>
          <a:p>
            <a:pPr lvl="0"/>
            <a:r>
              <a:rPr lang="en-DE" sz="800" b="1" dirty="0"/>
              <a:t>Folie 6: Die Guiding Principles im Detail (Der normative Kompass)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Guiding Principles: Leitplanken für Design- und Sourcing-Entscheidungen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Vertieft die rechte Spalte der Hauptfolie.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Gegenüberstellung der Leitsätze und ihrer praktischen Konsequenzen: </a:t>
            </a:r>
          </a:p>
          <a:p>
            <a:pPr lvl="2"/>
            <a:r>
              <a:rPr lang="en-DE" sz="800" i="1" dirty="0"/>
              <a:t>Business &amp; Organization:</a:t>
            </a:r>
            <a:r>
              <a:rPr lang="en-DE" sz="800" dirty="0"/>
              <a:t> Wo bauen wir selbst (Core), wo kaufen wir Standard (Generic)?</a:t>
            </a:r>
          </a:p>
          <a:p>
            <a:pPr lvl="2"/>
            <a:r>
              <a:rPr lang="en-DE" sz="800" i="1" dirty="0"/>
              <a:t>Application &amp; Data:</a:t>
            </a:r>
            <a:r>
              <a:rPr lang="en-DE" sz="800" dirty="0"/>
              <a:t> Warum API-First und Contract-First Pflicht sind; Anti-Corruption-Layer bei Drittsystemen.</a:t>
            </a:r>
          </a:p>
          <a:p>
            <a:pPr lvl="2"/>
            <a:r>
              <a:rPr lang="en-DE" sz="800" i="1" dirty="0"/>
              <a:t>Platform &amp; Security:</a:t>
            </a:r>
            <a:r>
              <a:rPr lang="en-DE" sz="800" dirty="0"/>
              <a:t> Zero Trust, Everything as Code und Resilienz als Standardvorgaben.</a:t>
            </a:r>
          </a:p>
          <a:p>
            <a:pPr lvl="0"/>
            <a:r>
              <a:rPr lang="en-DE" sz="800" b="1" dirty="0"/>
              <a:t>Folie 7: Vertiefungsmöglichkeiten (Segment-Architekturen &amp; Overlays)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Modularität des Modells: Zoom-ins und Querschnitts-Projektionen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Zeigt auf, wie das Modell im Detail angewendet wird (Modularer Baukasten).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</a:t>
            </a:r>
          </a:p>
          <a:p>
            <a:pPr lvl="2"/>
            <a:r>
              <a:rPr lang="en-DE" sz="800" i="1" dirty="0"/>
              <a:t>Segment-Architekturen:</a:t>
            </a:r>
            <a:r>
              <a:rPr lang="en-DE" sz="800" dirty="0"/>
              <a:t> Vertikale Schnitte, z. B. detailliertes Capability Mapping im Business Layer.</a:t>
            </a:r>
          </a:p>
          <a:p>
            <a:pPr lvl="2"/>
            <a:r>
              <a:rPr lang="en-DE" sz="800" i="1" dirty="0"/>
              <a:t>Thematische Overlays:</a:t>
            </a:r>
            <a:r>
              <a:rPr lang="en-DE" sz="800" dirty="0"/>
              <a:t> Wie projiziert man Spezialthemen über alle Schichten? (z. B. das AI-Readiness Overlay oder Cloud-Transformation).</a:t>
            </a:r>
          </a:p>
          <a:p>
            <a:pPr lvl="0"/>
            <a:r>
              <a:rPr lang="en-DE" sz="800" b="1" dirty="0"/>
              <a:t>Folie 8: Operative Anwendung &amp; Vorgehen (Vom Modell zur Transformation)</a:t>
            </a:r>
            <a:r>
              <a:rPr lang="en-DE" sz="800" dirty="0"/>
              <a:t> </a:t>
            </a:r>
          </a:p>
          <a:p>
            <a:pPr lvl="1"/>
            <a:r>
              <a:rPr lang="en-DE" sz="800" i="1" dirty="0"/>
              <a:t>Titel:</a:t>
            </a:r>
            <a:r>
              <a:rPr lang="en-DE" sz="800" dirty="0"/>
              <a:t> Einsatz im Transformations- und Review-Prozess</a:t>
            </a:r>
          </a:p>
          <a:p>
            <a:pPr lvl="1"/>
            <a:r>
              <a:rPr lang="en-DE" sz="800" i="1" dirty="0"/>
              <a:t>Zweck:</a:t>
            </a:r>
            <a:r>
              <a:rPr lang="en-DE" sz="800" dirty="0"/>
              <a:t> Zeigt den konkreten Nutzen für das Projekt oder den Kunden auf.</a:t>
            </a:r>
          </a:p>
          <a:p>
            <a:pPr lvl="1"/>
            <a:r>
              <a:rPr lang="en-DE" sz="800" i="1" dirty="0"/>
              <a:t>Inhalte:</a:t>
            </a:r>
            <a:r>
              <a:rPr lang="en-DE" sz="800" dirty="0"/>
              <a:t> </a:t>
            </a:r>
          </a:p>
          <a:p>
            <a:pPr lvl="2"/>
            <a:r>
              <a:rPr lang="en-DE" sz="800" i="1" dirty="0"/>
              <a:t>1. Diagnose &amp; Ist-Aufnahme:</a:t>
            </a:r>
            <a:r>
              <a:rPr lang="en-DE" sz="800" dirty="0"/>
              <a:t> Erfassung der bestehenden Systeme entlang des Rasters (Review Canvas).</a:t>
            </a:r>
          </a:p>
          <a:p>
            <a:pPr lvl="2"/>
            <a:r>
              <a:rPr lang="en-DE" sz="800" i="1" dirty="0"/>
              <a:t>2. Gap-Analyse &amp; Soll-Bebauung:</a:t>
            </a:r>
            <a:r>
              <a:rPr lang="en-DE" sz="800" dirty="0"/>
              <a:t> Identifikation fehlender Entkopplung, unklarer Datenverantwortung und Schatten-IT.</a:t>
            </a:r>
          </a:p>
          <a:p>
            <a:pPr lvl="2"/>
            <a:r>
              <a:rPr lang="en-DE" sz="800" i="1" dirty="0"/>
              <a:t>3. Roadmap &amp; Migrationspfade:</a:t>
            </a:r>
            <a:r>
              <a:rPr lang="en-DE" sz="800" dirty="0"/>
              <a:t> Ableitung priorisierter Initiativen für die Modernisierung.</a:t>
            </a:r>
          </a:p>
          <a:p>
            <a:endParaRPr lang="de-DE" sz="8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602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1171</Words>
  <Application>Microsoft Macintosh PowerPoint</Application>
  <PresentationFormat>Widescreen</PresentationFormat>
  <Paragraphs>148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Enterprise Landscape Model</vt:lpstr>
      <vt:lpstr>Davor</vt:lpstr>
      <vt:lpstr>Ausgangslage</vt:lpstr>
      <vt:lpstr>PowerPoint Presentation</vt:lpstr>
      <vt:lpstr>PowerPoint Presentation</vt:lpstr>
      <vt:lpstr>Danach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Senner, Julia</dc:creator>
  <cp:lastModifiedBy>Senner, Julia</cp:lastModifiedBy>
  <cp:revision>7</cp:revision>
  <dcterms:created xsi:type="dcterms:W3CDTF">2026-10-06T22:12:10Z</dcterms:created>
  <dcterms:modified xsi:type="dcterms:W3CDTF">2026-10-23T01:04:58Z</dcterms:modified>
</cp:coreProperties>
</file>